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jpg" ContentType="image/jpg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700" b="0" i="0">
                <a:solidFill>
                  <a:srgbClr val="2A2A2A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2A2A2A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00" b="0" i="0">
                <a:solidFill>
                  <a:srgbClr val="2A2A2A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2A2A2A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00" b="0" i="0">
                <a:solidFill>
                  <a:srgbClr val="2A2A2A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00" b="0" i="0">
                <a:solidFill>
                  <a:srgbClr val="2A2A2A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B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12700" y="276859"/>
            <a:ext cx="18313400" cy="15554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700" b="0" i="0">
                <a:solidFill>
                  <a:srgbClr val="2A2A2A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9335" y="2314892"/>
            <a:ext cx="16504919" cy="5669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2A2A2A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2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14.png"/><Relationship Id="rId4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jpg"/><Relationship Id="rId5" Type="http://schemas.openxmlformats.org/officeDocument/2006/relationships/image" Target="../media/image32.jpg"/><Relationship Id="rId6" Type="http://schemas.openxmlformats.org/officeDocument/2006/relationships/image" Target="../media/image33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Relationship Id="rId4" Type="http://schemas.openxmlformats.org/officeDocument/2006/relationships/image" Target="../media/image36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26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6.png"/><Relationship Id="rId4" Type="http://schemas.openxmlformats.org/officeDocument/2006/relationships/image" Target="../media/image44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5.png"/><Relationship Id="rId3" Type="http://schemas.openxmlformats.org/officeDocument/2006/relationships/image" Target="../media/image46.jpg"/><Relationship Id="rId4" Type="http://schemas.openxmlformats.org/officeDocument/2006/relationships/image" Target="../media/image47.jpg"/><Relationship Id="rId5" Type="http://schemas.openxmlformats.org/officeDocument/2006/relationships/image" Target="../media/image48.jpg"/><Relationship Id="rId6" Type="http://schemas.openxmlformats.org/officeDocument/2006/relationships/image" Target="../media/image49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.png"/><Relationship Id="rId3" Type="http://schemas.openxmlformats.org/officeDocument/2006/relationships/image" Target="../media/image51.jpg"/><Relationship Id="rId4" Type="http://schemas.openxmlformats.org/officeDocument/2006/relationships/image" Target="../media/image52.jpg"/><Relationship Id="rId5" Type="http://schemas.openxmlformats.org/officeDocument/2006/relationships/image" Target="../media/image53.jpg"/><Relationship Id="rId6" Type="http://schemas.openxmlformats.org/officeDocument/2006/relationships/image" Target="../media/image54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7.png"/><Relationship Id="rId4" Type="http://schemas.openxmlformats.org/officeDocument/2006/relationships/image" Target="../media/image55.png"/><Relationship Id="rId5" Type="http://schemas.openxmlformats.org/officeDocument/2006/relationships/hyperlink" Target="https://www.geeksforgeeks.org/deep-learning/long-short-term-memory-networks-using-pytorch/" TargetMode="External"/><Relationship Id="rId6" Type="http://schemas.openxmlformats.org/officeDocument/2006/relationships/hyperlink" Target="https://www.tensorflow.org/guide/keras" TargetMode="External"/><Relationship Id="rId7" Type="http://schemas.openxmlformats.org/officeDocument/2006/relationships/hyperlink" Target="https://scikit-learn.org/stable/modules/preprocessing.html" TargetMode="External"/><Relationship Id="rId8" Type="http://schemas.openxmlformats.org/officeDocument/2006/relationships/hyperlink" Target="https://matplotlib.org/stable/contents.html" TargetMode="External"/><Relationship Id="rId9" Type="http://schemas.openxmlformats.org/officeDocument/2006/relationships/hyperlink" Target="https://seaborn.pydata.org/" TargetMode="External"/><Relationship Id="rId10" Type="http://schemas.openxmlformats.org/officeDocument/2006/relationships/hyperlink" Target="https://numpy.org/doc/" TargetMode="External"/><Relationship Id="rId11" Type="http://schemas.openxmlformats.org/officeDocument/2006/relationships/hyperlink" Target="https://docs.streamlit.io/" TargetMode="Externa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3301" y="0"/>
            <a:ext cx="11954697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7782" y="3976812"/>
            <a:ext cx="15552419" cy="1723389"/>
          </a:xfrm>
          <a:prstGeom prst="rect"/>
        </p:spPr>
        <p:txBody>
          <a:bodyPr wrap="square" lIns="0" tIns="102235" rIns="0" bIns="0" rtlCol="0" vert="horz">
            <a:spAutoFit/>
          </a:bodyPr>
          <a:lstStyle/>
          <a:p>
            <a:pPr marL="984250" marR="5080" indent="-972185">
              <a:lnSpc>
                <a:spcPts val="6380"/>
              </a:lnSpc>
              <a:spcBef>
                <a:spcPts val="805"/>
              </a:spcBef>
            </a:pPr>
            <a:r>
              <a:rPr dirty="0" sz="5800"/>
              <a:t>PrognosAI:</a:t>
            </a:r>
            <a:r>
              <a:rPr dirty="0" sz="5800" spc="45"/>
              <a:t> </a:t>
            </a:r>
            <a:r>
              <a:rPr dirty="0" sz="5800" spc="110"/>
              <a:t>AI-</a:t>
            </a:r>
            <a:r>
              <a:rPr dirty="0" sz="5800" spc="100"/>
              <a:t>Driven</a:t>
            </a:r>
            <a:r>
              <a:rPr dirty="0" sz="5800" spc="45"/>
              <a:t> </a:t>
            </a:r>
            <a:r>
              <a:rPr dirty="0" sz="5800" spc="204"/>
              <a:t>Predictive</a:t>
            </a:r>
            <a:r>
              <a:rPr dirty="0" sz="5800" spc="45"/>
              <a:t> </a:t>
            </a:r>
            <a:r>
              <a:rPr dirty="0" sz="5800" spc="175"/>
              <a:t>Maintenance </a:t>
            </a:r>
            <a:r>
              <a:rPr dirty="0" sz="5800" spc="200"/>
              <a:t>System</a:t>
            </a:r>
            <a:r>
              <a:rPr dirty="0" sz="5800" spc="-25"/>
              <a:t> </a:t>
            </a:r>
            <a:r>
              <a:rPr dirty="0" sz="5800"/>
              <a:t>Using</a:t>
            </a:r>
            <a:r>
              <a:rPr dirty="0" sz="5800" spc="-20"/>
              <a:t> </a:t>
            </a:r>
            <a:r>
              <a:rPr dirty="0" sz="5800" spc="145"/>
              <a:t>Time-</a:t>
            </a:r>
            <a:r>
              <a:rPr dirty="0" sz="5800"/>
              <a:t>Series</a:t>
            </a:r>
            <a:r>
              <a:rPr dirty="0" sz="5800" spc="-25"/>
              <a:t> </a:t>
            </a:r>
            <a:r>
              <a:rPr dirty="0" sz="5800" spc="90"/>
              <a:t>Sensor</a:t>
            </a:r>
            <a:r>
              <a:rPr dirty="0" sz="5800" spc="-20"/>
              <a:t> </a:t>
            </a:r>
            <a:r>
              <a:rPr dirty="0" sz="5800" spc="355"/>
              <a:t>Data</a:t>
            </a:r>
            <a:endParaRPr sz="5800"/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0"/>
            <a:ext cx="7425690" cy="5290820"/>
            <a:chOff x="0" y="0"/>
            <a:chExt cx="7425690" cy="529082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7425348" cy="133804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4001445" cy="52902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E3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75933" rIns="0" bIns="0" rtlCol="0" vert="horz">
            <a:spAutoFit/>
          </a:bodyPr>
          <a:lstStyle/>
          <a:p>
            <a:pPr marL="817244">
              <a:lnSpc>
                <a:spcPct val="100000"/>
              </a:lnSpc>
              <a:spcBef>
                <a:spcPts val="100"/>
              </a:spcBef>
            </a:pPr>
            <a:r>
              <a:rPr dirty="0" sz="7000"/>
              <a:t>Table</a:t>
            </a:r>
            <a:r>
              <a:rPr dirty="0" sz="7000" spc="25"/>
              <a:t> </a:t>
            </a:r>
            <a:r>
              <a:rPr dirty="0" sz="7000" spc="715"/>
              <a:t>of</a:t>
            </a:r>
            <a:r>
              <a:rPr dirty="0" sz="7000" spc="30"/>
              <a:t> </a:t>
            </a:r>
            <a:r>
              <a:rPr dirty="0" sz="7000" spc="355"/>
              <a:t>Contents</a:t>
            </a:r>
            <a:endParaRPr sz="7000"/>
          </a:p>
        </p:txBody>
      </p:sp>
      <p:sp>
        <p:nvSpPr>
          <p:cNvPr id="4" name="object 4" descr=""/>
          <p:cNvSpPr/>
          <p:nvPr/>
        </p:nvSpPr>
        <p:spPr>
          <a:xfrm>
            <a:off x="7500743" y="2847654"/>
            <a:ext cx="824230" cy="856615"/>
          </a:xfrm>
          <a:custGeom>
            <a:avLst/>
            <a:gdLst/>
            <a:ahLst/>
            <a:cxnLst/>
            <a:rect l="l" t="t" r="r" b="b"/>
            <a:pathLst>
              <a:path w="824229" h="856614">
                <a:moveTo>
                  <a:pt x="418531" y="856084"/>
                </a:moveTo>
                <a:lnTo>
                  <a:pt x="371325" y="850439"/>
                </a:lnTo>
                <a:lnTo>
                  <a:pt x="325955" y="837790"/>
                </a:lnTo>
                <a:lnTo>
                  <a:pt x="283590" y="817842"/>
                </a:lnTo>
                <a:lnTo>
                  <a:pt x="243820" y="791844"/>
                </a:lnTo>
                <a:lnTo>
                  <a:pt x="206304" y="760973"/>
                </a:lnTo>
                <a:lnTo>
                  <a:pt x="170698" y="726404"/>
                </a:lnTo>
                <a:lnTo>
                  <a:pt x="136660" y="689313"/>
                </a:lnTo>
                <a:lnTo>
                  <a:pt x="104054" y="651004"/>
                </a:lnTo>
                <a:lnTo>
                  <a:pt x="73824" y="611227"/>
                </a:lnTo>
                <a:lnTo>
                  <a:pt x="47243" y="569735"/>
                </a:lnTo>
                <a:lnTo>
                  <a:pt x="25584" y="526284"/>
                </a:lnTo>
                <a:lnTo>
                  <a:pt x="10122" y="480628"/>
                </a:lnTo>
                <a:lnTo>
                  <a:pt x="1510" y="432744"/>
                </a:lnTo>
                <a:lnTo>
                  <a:pt x="0" y="383489"/>
                </a:lnTo>
                <a:lnTo>
                  <a:pt x="5347" y="333939"/>
                </a:lnTo>
                <a:lnTo>
                  <a:pt x="17307" y="285173"/>
                </a:lnTo>
                <a:lnTo>
                  <a:pt x="35634" y="238269"/>
                </a:lnTo>
                <a:lnTo>
                  <a:pt x="60011" y="194226"/>
                </a:lnTo>
                <a:lnTo>
                  <a:pt x="89825" y="153734"/>
                </a:lnTo>
                <a:lnTo>
                  <a:pt x="124390" y="117406"/>
                </a:lnTo>
                <a:lnTo>
                  <a:pt x="163020" y="85853"/>
                </a:lnTo>
                <a:lnTo>
                  <a:pt x="205030" y="59688"/>
                </a:lnTo>
                <a:lnTo>
                  <a:pt x="249535" y="39291"/>
                </a:lnTo>
                <a:lnTo>
                  <a:pt x="296439" y="24111"/>
                </a:lnTo>
                <a:lnTo>
                  <a:pt x="345327" y="13363"/>
                </a:lnTo>
                <a:lnTo>
                  <a:pt x="395783" y="6265"/>
                </a:lnTo>
                <a:lnTo>
                  <a:pt x="447390" y="2032"/>
                </a:lnTo>
                <a:lnTo>
                  <a:pt x="499576" y="0"/>
                </a:lnTo>
                <a:lnTo>
                  <a:pt x="551150" y="1567"/>
                </a:lnTo>
                <a:lnTo>
                  <a:pt x="600765" y="8131"/>
                </a:lnTo>
                <a:lnTo>
                  <a:pt x="647074" y="21086"/>
                </a:lnTo>
                <a:lnTo>
                  <a:pt x="688729" y="41830"/>
                </a:lnTo>
                <a:lnTo>
                  <a:pt x="724584" y="71571"/>
                </a:lnTo>
                <a:lnTo>
                  <a:pt x="754536" y="108683"/>
                </a:lnTo>
                <a:lnTo>
                  <a:pt x="778807" y="151232"/>
                </a:lnTo>
                <a:lnTo>
                  <a:pt x="797616" y="197283"/>
                </a:lnTo>
                <a:lnTo>
                  <a:pt x="811184" y="244902"/>
                </a:lnTo>
                <a:lnTo>
                  <a:pt x="819785" y="292161"/>
                </a:lnTo>
                <a:lnTo>
                  <a:pt x="823903" y="339005"/>
                </a:lnTo>
                <a:lnTo>
                  <a:pt x="824079" y="385383"/>
                </a:lnTo>
                <a:lnTo>
                  <a:pt x="820850" y="431246"/>
                </a:lnTo>
                <a:lnTo>
                  <a:pt x="814756" y="476547"/>
                </a:lnTo>
                <a:lnTo>
                  <a:pt x="804041" y="532592"/>
                </a:lnTo>
                <a:lnTo>
                  <a:pt x="788734" y="587011"/>
                </a:lnTo>
                <a:lnTo>
                  <a:pt x="767687" y="639135"/>
                </a:lnTo>
                <a:lnTo>
                  <a:pt x="739752" y="688292"/>
                </a:lnTo>
                <a:lnTo>
                  <a:pt x="711963" y="724963"/>
                </a:lnTo>
                <a:lnTo>
                  <a:pt x="679692" y="758549"/>
                </a:lnTo>
                <a:lnTo>
                  <a:pt x="643355" y="788289"/>
                </a:lnTo>
                <a:lnTo>
                  <a:pt x="603369" y="813425"/>
                </a:lnTo>
                <a:lnTo>
                  <a:pt x="560151" y="833198"/>
                </a:lnTo>
                <a:lnTo>
                  <a:pt x="514046" y="847243"/>
                </a:lnTo>
                <a:lnTo>
                  <a:pt x="466473" y="854946"/>
                </a:lnTo>
                <a:lnTo>
                  <a:pt x="418531" y="856084"/>
                </a:lnTo>
                <a:close/>
              </a:path>
            </a:pathLst>
          </a:custGeom>
          <a:solidFill>
            <a:srgbClr val="FFFB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8701854" y="2975177"/>
            <a:ext cx="20193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60">
                <a:solidFill>
                  <a:srgbClr val="2A2A2A"/>
                </a:solidFill>
                <a:latin typeface="Arial MT"/>
                <a:cs typeface="Arial MT"/>
              </a:rPr>
              <a:t>Milestone</a:t>
            </a:r>
            <a:r>
              <a:rPr dirty="0" sz="3000" spc="-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000" spc="-105">
                <a:solidFill>
                  <a:srgbClr val="2A2A2A"/>
                </a:solidFill>
                <a:latin typeface="Arial MT"/>
                <a:cs typeface="Arial MT"/>
              </a:rPr>
              <a:t>1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850328" y="3125958"/>
            <a:ext cx="120014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2A2A2A"/>
                </a:solidFill>
                <a:latin typeface="Trebuchet MS"/>
                <a:cs typeface="Trebuchet MS"/>
              </a:rPr>
              <a:t>1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701854" y="4406162"/>
            <a:ext cx="205549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60">
                <a:solidFill>
                  <a:srgbClr val="2A2A2A"/>
                </a:solidFill>
                <a:latin typeface="Arial MT"/>
                <a:cs typeface="Arial MT"/>
              </a:rPr>
              <a:t>Milestone</a:t>
            </a:r>
            <a:r>
              <a:rPr dirty="0" sz="3000" spc="-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000" spc="-50">
                <a:solidFill>
                  <a:srgbClr val="2A2A2A"/>
                </a:solidFill>
                <a:latin typeface="Arial MT"/>
                <a:cs typeface="Arial MT"/>
              </a:rPr>
              <a:t>2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7500743" y="4278639"/>
            <a:ext cx="824230" cy="856615"/>
          </a:xfrm>
          <a:custGeom>
            <a:avLst/>
            <a:gdLst/>
            <a:ahLst/>
            <a:cxnLst/>
            <a:rect l="l" t="t" r="r" b="b"/>
            <a:pathLst>
              <a:path w="824229" h="856614">
                <a:moveTo>
                  <a:pt x="418531" y="856084"/>
                </a:moveTo>
                <a:lnTo>
                  <a:pt x="371325" y="850439"/>
                </a:lnTo>
                <a:lnTo>
                  <a:pt x="325955" y="837790"/>
                </a:lnTo>
                <a:lnTo>
                  <a:pt x="283590" y="817842"/>
                </a:lnTo>
                <a:lnTo>
                  <a:pt x="243820" y="791844"/>
                </a:lnTo>
                <a:lnTo>
                  <a:pt x="206304" y="760973"/>
                </a:lnTo>
                <a:lnTo>
                  <a:pt x="170698" y="726404"/>
                </a:lnTo>
                <a:lnTo>
                  <a:pt x="136660" y="689313"/>
                </a:lnTo>
                <a:lnTo>
                  <a:pt x="104054" y="651004"/>
                </a:lnTo>
                <a:lnTo>
                  <a:pt x="73824" y="611227"/>
                </a:lnTo>
                <a:lnTo>
                  <a:pt x="47243" y="569735"/>
                </a:lnTo>
                <a:lnTo>
                  <a:pt x="25584" y="526284"/>
                </a:lnTo>
                <a:lnTo>
                  <a:pt x="10122" y="480628"/>
                </a:lnTo>
                <a:lnTo>
                  <a:pt x="1510" y="432744"/>
                </a:lnTo>
                <a:lnTo>
                  <a:pt x="0" y="383489"/>
                </a:lnTo>
                <a:lnTo>
                  <a:pt x="5347" y="333939"/>
                </a:lnTo>
                <a:lnTo>
                  <a:pt x="17307" y="285173"/>
                </a:lnTo>
                <a:lnTo>
                  <a:pt x="35634" y="238269"/>
                </a:lnTo>
                <a:lnTo>
                  <a:pt x="60011" y="194226"/>
                </a:lnTo>
                <a:lnTo>
                  <a:pt x="89825" y="153734"/>
                </a:lnTo>
                <a:lnTo>
                  <a:pt x="124390" y="117406"/>
                </a:lnTo>
                <a:lnTo>
                  <a:pt x="163020" y="85853"/>
                </a:lnTo>
                <a:lnTo>
                  <a:pt x="205030" y="59688"/>
                </a:lnTo>
                <a:lnTo>
                  <a:pt x="249535" y="39291"/>
                </a:lnTo>
                <a:lnTo>
                  <a:pt x="296439" y="24111"/>
                </a:lnTo>
                <a:lnTo>
                  <a:pt x="345327" y="13363"/>
                </a:lnTo>
                <a:lnTo>
                  <a:pt x="395783" y="6265"/>
                </a:lnTo>
                <a:lnTo>
                  <a:pt x="447390" y="2032"/>
                </a:lnTo>
                <a:lnTo>
                  <a:pt x="499576" y="0"/>
                </a:lnTo>
                <a:lnTo>
                  <a:pt x="551150" y="1567"/>
                </a:lnTo>
                <a:lnTo>
                  <a:pt x="600765" y="8131"/>
                </a:lnTo>
                <a:lnTo>
                  <a:pt x="647074" y="21086"/>
                </a:lnTo>
                <a:lnTo>
                  <a:pt x="688729" y="41830"/>
                </a:lnTo>
                <a:lnTo>
                  <a:pt x="724584" y="71571"/>
                </a:lnTo>
                <a:lnTo>
                  <a:pt x="754536" y="108683"/>
                </a:lnTo>
                <a:lnTo>
                  <a:pt x="778807" y="151232"/>
                </a:lnTo>
                <a:lnTo>
                  <a:pt x="797616" y="197283"/>
                </a:lnTo>
                <a:lnTo>
                  <a:pt x="811184" y="244902"/>
                </a:lnTo>
                <a:lnTo>
                  <a:pt x="819785" y="292161"/>
                </a:lnTo>
                <a:lnTo>
                  <a:pt x="823903" y="339005"/>
                </a:lnTo>
                <a:lnTo>
                  <a:pt x="824079" y="385383"/>
                </a:lnTo>
                <a:lnTo>
                  <a:pt x="820850" y="431246"/>
                </a:lnTo>
                <a:lnTo>
                  <a:pt x="814756" y="476547"/>
                </a:lnTo>
                <a:lnTo>
                  <a:pt x="804041" y="532592"/>
                </a:lnTo>
                <a:lnTo>
                  <a:pt x="788734" y="587011"/>
                </a:lnTo>
                <a:lnTo>
                  <a:pt x="767687" y="639135"/>
                </a:lnTo>
                <a:lnTo>
                  <a:pt x="739752" y="688292"/>
                </a:lnTo>
                <a:lnTo>
                  <a:pt x="711963" y="724963"/>
                </a:lnTo>
                <a:lnTo>
                  <a:pt x="679692" y="758549"/>
                </a:lnTo>
                <a:lnTo>
                  <a:pt x="643355" y="788289"/>
                </a:lnTo>
                <a:lnTo>
                  <a:pt x="603369" y="813425"/>
                </a:lnTo>
                <a:lnTo>
                  <a:pt x="560151" y="833198"/>
                </a:lnTo>
                <a:lnTo>
                  <a:pt x="514046" y="847243"/>
                </a:lnTo>
                <a:lnTo>
                  <a:pt x="466473" y="854946"/>
                </a:lnTo>
                <a:lnTo>
                  <a:pt x="418531" y="856084"/>
                </a:lnTo>
                <a:close/>
              </a:path>
            </a:pathLst>
          </a:custGeom>
          <a:solidFill>
            <a:srgbClr val="FFFB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7842589" y="4556943"/>
            <a:ext cx="1358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2A2A2A"/>
                </a:solidFill>
                <a:latin typeface="Trebuchet MS"/>
                <a:cs typeface="Trebuchet MS"/>
              </a:rPr>
              <a:t>2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701854" y="5836577"/>
            <a:ext cx="206628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60">
                <a:solidFill>
                  <a:srgbClr val="2A2A2A"/>
                </a:solidFill>
                <a:latin typeface="Arial MT"/>
                <a:cs typeface="Arial MT"/>
              </a:rPr>
              <a:t>Milestone</a:t>
            </a:r>
            <a:r>
              <a:rPr dirty="0" sz="3000" spc="-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000" spc="65">
                <a:solidFill>
                  <a:srgbClr val="2A2A2A"/>
                </a:solidFill>
                <a:latin typeface="Arial MT"/>
                <a:cs typeface="Arial MT"/>
              </a:rPr>
              <a:t>3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7500743" y="5709054"/>
            <a:ext cx="824230" cy="856615"/>
          </a:xfrm>
          <a:custGeom>
            <a:avLst/>
            <a:gdLst/>
            <a:ahLst/>
            <a:cxnLst/>
            <a:rect l="l" t="t" r="r" b="b"/>
            <a:pathLst>
              <a:path w="824229" h="856615">
                <a:moveTo>
                  <a:pt x="418531" y="856084"/>
                </a:moveTo>
                <a:lnTo>
                  <a:pt x="371325" y="850439"/>
                </a:lnTo>
                <a:lnTo>
                  <a:pt x="325955" y="837790"/>
                </a:lnTo>
                <a:lnTo>
                  <a:pt x="283590" y="817842"/>
                </a:lnTo>
                <a:lnTo>
                  <a:pt x="243820" y="791844"/>
                </a:lnTo>
                <a:lnTo>
                  <a:pt x="206304" y="760973"/>
                </a:lnTo>
                <a:lnTo>
                  <a:pt x="170698" y="726404"/>
                </a:lnTo>
                <a:lnTo>
                  <a:pt x="136660" y="689313"/>
                </a:lnTo>
                <a:lnTo>
                  <a:pt x="104054" y="651004"/>
                </a:lnTo>
                <a:lnTo>
                  <a:pt x="73824" y="611227"/>
                </a:lnTo>
                <a:lnTo>
                  <a:pt x="47243" y="569735"/>
                </a:lnTo>
                <a:lnTo>
                  <a:pt x="25584" y="526284"/>
                </a:lnTo>
                <a:lnTo>
                  <a:pt x="10122" y="480628"/>
                </a:lnTo>
                <a:lnTo>
                  <a:pt x="1510" y="432744"/>
                </a:lnTo>
                <a:lnTo>
                  <a:pt x="0" y="383489"/>
                </a:lnTo>
                <a:lnTo>
                  <a:pt x="5347" y="333939"/>
                </a:lnTo>
                <a:lnTo>
                  <a:pt x="17307" y="285173"/>
                </a:lnTo>
                <a:lnTo>
                  <a:pt x="35634" y="238269"/>
                </a:lnTo>
                <a:lnTo>
                  <a:pt x="60011" y="194226"/>
                </a:lnTo>
                <a:lnTo>
                  <a:pt x="89825" y="153734"/>
                </a:lnTo>
                <a:lnTo>
                  <a:pt x="124390" y="117406"/>
                </a:lnTo>
                <a:lnTo>
                  <a:pt x="163020" y="85853"/>
                </a:lnTo>
                <a:lnTo>
                  <a:pt x="205030" y="59688"/>
                </a:lnTo>
                <a:lnTo>
                  <a:pt x="249535" y="39291"/>
                </a:lnTo>
                <a:lnTo>
                  <a:pt x="296439" y="24111"/>
                </a:lnTo>
                <a:lnTo>
                  <a:pt x="345327" y="13363"/>
                </a:lnTo>
                <a:lnTo>
                  <a:pt x="395783" y="6265"/>
                </a:lnTo>
                <a:lnTo>
                  <a:pt x="447390" y="2032"/>
                </a:lnTo>
                <a:lnTo>
                  <a:pt x="499576" y="0"/>
                </a:lnTo>
                <a:lnTo>
                  <a:pt x="551150" y="1567"/>
                </a:lnTo>
                <a:lnTo>
                  <a:pt x="600765" y="8131"/>
                </a:lnTo>
                <a:lnTo>
                  <a:pt x="647074" y="21086"/>
                </a:lnTo>
                <a:lnTo>
                  <a:pt x="688729" y="41830"/>
                </a:lnTo>
                <a:lnTo>
                  <a:pt x="724584" y="71571"/>
                </a:lnTo>
                <a:lnTo>
                  <a:pt x="754536" y="108683"/>
                </a:lnTo>
                <a:lnTo>
                  <a:pt x="778807" y="151232"/>
                </a:lnTo>
                <a:lnTo>
                  <a:pt x="797616" y="197283"/>
                </a:lnTo>
                <a:lnTo>
                  <a:pt x="811184" y="244902"/>
                </a:lnTo>
                <a:lnTo>
                  <a:pt x="819785" y="292161"/>
                </a:lnTo>
                <a:lnTo>
                  <a:pt x="823903" y="339005"/>
                </a:lnTo>
                <a:lnTo>
                  <a:pt x="824079" y="385383"/>
                </a:lnTo>
                <a:lnTo>
                  <a:pt x="820850" y="431246"/>
                </a:lnTo>
                <a:lnTo>
                  <a:pt x="814756" y="476547"/>
                </a:lnTo>
                <a:lnTo>
                  <a:pt x="804041" y="532592"/>
                </a:lnTo>
                <a:lnTo>
                  <a:pt x="788734" y="587011"/>
                </a:lnTo>
                <a:lnTo>
                  <a:pt x="767687" y="639135"/>
                </a:lnTo>
                <a:lnTo>
                  <a:pt x="739752" y="688292"/>
                </a:lnTo>
                <a:lnTo>
                  <a:pt x="711963" y="724963"/>
                </a:lnTo>
                <a:lnTo>
                  <a:pt x="679692" y="758549"/>
                </a:lnTo>
                <a:lnTo>
                  <a:pt x="643355" y="788289"/>
                </a:lnTo>
                <a:lnTo>
                  <a:pt x="603369" y="813425"/>
                </a:lnTo>
                <a:lnTo>
                  <a:pt x="560151" y="833198"/>
                </a:lnTo>
                <a:lnTo>
                  <a:pt x="514046" y="847243"/>
                </a:lnTo>
                <a:lnTo>
                  <a:pt x="466473" y="854946"/>
                </a:lnTo>
                <a:lnTo>
                  <a:pt x="418531" y="856084"/>
                </a:lnTo>
                <a:close/>
              </a:path>
            </a:pathLst>
          </a:custGeom>
          <a:solidFill>
            <a:srgbClr val="FFFB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7841547" y="5987357"/>
            <a:ext cx="1377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2A2A2A"/>
                </a:solidFill>
                <a:latin typeface="Trebuchet MS"/>
                <a:cs typeface="Trebuchet MS"/>
              </a:rPr>
              <a:t>3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701854" y="7125349"/>
            <a:ext cx="205613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60">
                <a:solidFill>
                  <a:srgbClr val="2A2A2A"/>
                </a:solidFill>
                <a:latin typeface="Arial MT"/>
                <a:cs typeface="Arial MT"/>
              </a:rPr>
              <a:t>Milestone</a:t>
            </a:r>
            <a:r>
              <a:rPr dirty="0" sz="3000" spc="-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000" spc="-50">
                <a:solidFill>
                  <a:srgbClr val="2A2A2A"/>
                </a:solidFill>
                <a:latin typeface="Arial MT"/>
                <a:cs typeface="Arial MT"/>
              </a:rPr>
              <a:t>4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7500743" y="6997827"/>
            <a:ext cx="824230" cy="856615"/>
          </a:xfrm>
          <a:custGeom>
            <a:avLst/>
            <a:gdLst/>
            <a:ahLst/>
            <a:cxnLst/>
            <a:rect l="l" t="t" r="r" b="b"/>
            <a:pathLst>
              <a:path w="824229" h="856615">
                <a:moveTo>
                  <a:pt x="418531" y="856084"/>
                </a:moveTo>
                <a:lnTo>
                  <a:pt x="371325" y="850439"/>
                </a:lnTo>
                <a:lnTo>
                  <a:pt x="325955" y="837790"/>
                </a:lnTo>
                <a:lnTo>
                  <a:pt x="283590" y="817842"/>
                </a:lnTo>
                <a:lnTo>
                  <a:pt x="243820" y="791844"/>
                </a:lnTo>
                <a:lnTo>
                  <a:pt x="206304" y="760973"/>
                </a:lnTo>
                <a:lnTo>
                  <a:pt x="170698" y="726404"/>
                </a:lnTo>
                <a:lnTo>
                  <a:pt x="136660" y="689313"/>
                </a:lnTo>
                <a:lnTo>
                  <a:pt x="104054" y="651004"/>
                </a:lnTo>
                <a:lnTo>
                  <a:pt x="73824" y="611227"/>
                </a:lnTo>
                <a:lnTo>
                  <a:pt x="47243" y="569735"/>
                </a:lnTo>
                <a:lnTo>
                  <a:pt x="25584" y="526284"/>
                </a:lnTo>
                <a:lnTo>
                  <a:pt x="10122" y="480628"/>
                </a:lnTo>
                <a:lnTo>
                  <a:pt x="1510" y="432744"/>
                </a:lnTo>
                <a:lnTo>
                  <a:pt x="0" y="383489"/>
                </a:lnTo>
                <a:lnTo>
                  <a:pt x="5347" y="333939"/>
                </a:lnTo>
                <a:lnTo>
                  <a:pt x="17307" y="285173"/>
                </a:lnTo>
                <a:lnTo>
                  <a:pt x="35634" y="238269"/>
                </a:lnTo>
                <a:lnTo>
                  <a:pt x="60011" y="194226"/>
                </a:lnTo>
                <a:lnTo>
                  <a:pt x="89825" y="153734"/>
                </a:lnTo>
                <a:lnTo>
                  <a:pt x="124390" y="117406"/>
                </a:lnTo>
                <a:lnTo>
                  <a:pt x="163020" y="85853"/>
                </a:lnTo>
                <a:lnTo>
                  <a:pt x="205030" y="59688"/>
                </a:lnTo>
                <a:lnTo>
                  <a:pt x="249535" y="39291"/>
                </a:lnTo>
                <a:lnTo>
                  <a:pt x="296439" y="24111"/>
                </a:lnTo>
                <a:lnTo>
                  <a:pt x="345327" y="13363"/>
                </a:lnTo>
                <a:lnTo>
                  <a:pt x="395783" y="6265"/>
                </a:lnTo>
                <a:lnTo>
                  <a:pt x="447390" y="2032"/>
                </a:lnTo>
                <a:lnTo>
                  <a:pt x="499576" y="0"/>
                </a:lnTo>
                <a:lnTo>
                  <a:pt x="551150" y="1567"/>
                </a:lnTo>
                <a:lnTo>
                  <a:pt x="600765" y="8131"/>
                </a:lnTo>
                <a:lnTo>
                  <a:pt x="647074" y="21086"/>
                </a:lnTo>
                <a:lnTo>
                  <a:pt x="688729" y="41830"/>
                </a:lnTo>
                <a:lnTo>
                  <a:pt x="724584" y="71571"/>
                </a:lnTo>
                <a:lnTo>
                  <a:pt x="754536" y="108683"/>
                </a:lnTo>
                <a:lnTo>
                  <a:pt x="778807" y="151232"/>
                </a:lnTo>
                <a:lnTo>
                  <a:pt x="797616" y="197283"/>
                </a:lnTo>
                <a:lnTo>
                  <a:pt x="811184" y="244902"/>
                </a:lnTo>
                <a:lnTo>
                  <a:pt x="819785" y="292161"/>
                </a:lnTo>
                <a:lnTo>
                  <a:pt x="823903" y="339005"/>
                </a:lnTo>
                <a:lnTo>
                  <a:pt x="824079" y="385383"/>
                </a:lnTo>
                <a:lnTo>
                  <a:pt x="820850" y="431246"/>
                </a:lnTo>
                <a:lnTo>
                  <a:pt x="814756" y="476547"/>
                </a:lnTo>
                <a:lnTo>
                  <a:pt x="804041" y="532592"/>
                </a:lnTo>
                <a:lnTo>
                  <a:pt x="788734" y="587011"/>
                </a:lnTo>
                <a:lnTo>
                  <a:pt x="767687" y="639135"/>
                </a:lnTo>
                <a:lnTo>
                  <a:pt x="739752" y="688292"/>
                </a:lnTo>
                <a:lnTo>
                  <a:pt x="711963" y="724963"/>
                </a:lnTo>
                <a:lnTo>
                  <a:pt x="679692" y="758549"/>
                </a:lnTo>
                <a:lnTo>
                  <a:pt x="643355" y="788289"/>
                </a:lnTo>
                <a:lnTo>
                  <a:pt x="603369" y="813425"/>
                </a:lnTo>
                <a:lnTo>
                  <a:pt x="560151" y="833198"/>
                </a:lnTo>
                <a:lnTo>
                  <a:pt x="514046" y="847243"/>
                </a:lnTo>
                <a:lnTo>
                  <a:pt x="466473" y="854946"/>
                </a:lnTo>
                <a:lnTo>
                  <a:pt x="418531" y="856084"/>
                </a:lnTo>
                <a:close/>
              </a:path>
            </a:pathLst>
          </a:custGeom>
          <a:solidFill>
            <a:srgbClr val="FFFB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7840803" y="7276130"/>
            <a:ext cx="1390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5" b="1">
                <a:solidFill>
                  <a:srgbClr val="2A2A2A"/>
                </a:solidFill>
                <a:latin typeface="Trebuchet MS"/>
                <a:cs typeface="Trebuchet MS"/>
              </a:rPr>
              <a:t>4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701854" y="8414122"/>
            <a:ext cx="205486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60">
                <a:solidFill>
                  <a:srgbClr val="2A2A2A"/>
                </a:solidFill>
                <a:latin typeface="Arial MT"/>
                <a:cs typeface="Arial MT"/>
              </a:rPr>
              <a:t>Milestone</a:t>
            </a:r>
            <a:r>
              <a:rPr dirty="0" sz="3000" spc="-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000" spc="-50">
                <a:solidFill>
                  <a:srgbClr val="2A2A2A"/>
                </a:solidFill>
                <a:latin typeface="Arial MT"/>
                <a:cs typeface="Arial MT"/>
              </a:rPr>
              <a:t>5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7500743" y="8286599"/>
            <a:ext cx="824230" cy="856615"/>
          </a:xfrm>
          <a:custGeom>
            <a:avLst/>
            <a:gdLst/>
            <a:ahLst/>
            <a:cxnLst/>
            <a:rect l="l" t="t" r="r" b="b"/>
            <a:pathLst>
              <a:path w="824229" h="856615">
                <a:moveTo>
                  <a:pt x="418531" y="856084"/>
                </a:moveTo>
                <a:lnTo>
                  <a:pt x="371325" y="850439"/>
                </a:lnTo>
                <a:lnTo>
                  <a:pt x="325955" y="837790"/>
                </a:lnTo>
                <a:lnTo>
                  <a:pt x="283590" y="817842"/>
                </a:lnTo>
                <a:lnTo>
                  <a:pt x="243820" y="791844"/>
                </a:lnTo>
                <a:lnTo>
                  <a:pt x="206304" y="760973"/>
                </a:lnTo>
                <a:lnTo>
                  <a:pt x="170698" y="726404"/>
                </a:lnTo>
                <a:lnTo>
                  <a:pt x="136660" y="689313"/>
                </a:lnTo>
                <a:lnTo>
                  <a:pt x="104054" y="651004"/>
                </a:lnTo>
                <a:lnTo>
                  <a:pt x="73824" y="611227"/>
                </a:lnTo>
                <a:lnTo>
                  <a:pt x="47243" y="569735"/>
                </a:lnTo>
                <a:lnTo>
                  <a:pt x="25584" y="526284"/>
                </a:lnTo>
                <a:lnTo>
                  <a:pt x="10122" y="480628"/>
                </a:lnTo>
                <a:lnTo>
                  <a:pt x="1510" y="432744"/>
                </a:lnTo>
                <a:lnTo>
                  <a:pt x="0" y="383489"/>
                </a:lnTo>
                <a:lnTo>
                  <a:pt x="5347" y="333939"/>
                </a:lnTo>
                <a:lnTo>
                  <a:pt x="17307" y="285173"/>
                </a:lnTo>
                <a:lnTo>
                  <a:pt x="35634" y="238269"/>
                </a:lnTo>
                <a:lnTo>
                  <a:pt x="60011" y="194226"/>
                </a:lnTo>
                <a:lnTo>
                  <a:pt x="89825" y="153734"/>
                </a:lnTo>
                <a:lnTo>
                  <a:pt x="124390" y="117406"/>
                </a:lnTo>
                <a:lnTo>
                  <a:pt x="163020" y="85853"/>
                </a:lnTo>
                <a:lnTo>
                  <a:pt x="205030" y="59688"/>
                </a:lnTo>
                <a:lnTo>
                  <a:pt x="249535" y="39291"/>
                </a:lnTo>
                <a:lnTo>
                  <a:pt x="296439" y="24111"/>
                </a:lnTo>
                <a:lnTo>
                  <a:pt x="345327" y="13363"/>
                </a:lnTo>
                <a:lnTo>
                  <a:pt x="395783" y="6265"/>
                </a:lnTo>
                <a:lnTo>
                  <a:pt x="447390" y="2032"/>
                </a:lnTo>
                <a:lnTo>
                  <a:pt x="499576" y="0"/>
                </a:lnTo>
                <a:lnTo>
                  <a:pt x="551150" y="1567"/>
                </a:lnTo>
                <a:lnTo>
                  <a:pt x="600765" y="8131"/>
                </a:lnTo>
                <a:lnTo>
                  <a:pt x="647074" y="21086"/>
                </a:lnTo>
                <a:lnTo>
                  <a:pt x="688729" y="41830"/>
                </a:lnTo>
                <a:lnTo>
                  <a:pt x="724584" y="71571"/>
                </a:lnTo>
                <a:lnTo>
                  <a:pt x="754536" y="108683"/>
                </a:lnTo>
                <a:lnTo>
                  <a:pt x="778807" y="151232"/>
                </a:lnTo>
                <a:lnTo>
                  <a:pt x="797616" y="197283"/>
                </a:lnTo>
                <a:lnTo>
                  <a:pt x="811184" y="244902"/>
                </a:lnTo>
                <a:lnTo>
                  <a:pt x="819785" y="292161"/>
                </a:lnTo>
                <a:lnTo>
                  <a:pt x="823903" y="339005"/>
                </a:lnTo>
                <a:lnTo>
                  <a:pt x="824079" y="385383"/>
                </a:lnTo>
                <a:lnTo>
                  <a:pt x="820850" y="431246"/>
                </a:lnTo>
                <a:lnTo>
                  <a:pt x="814756" y="476547"/>
                </a:lnTo>
                <a:lnTo>
                  <a:pt x="804041" y="532592"/>
                </a:lnTo>
                <a:lnTo>
                  <a:pt x="788734" y="587011"/>
                </a:lnTo>
                <a:lnTo>
                  <a:pt x="767687" y="639135"/>
                </a:lnTo>
                <a:lnTo>
                  <a:pt x="739752" y="688292"/>
                </a:lnTo>
                <a:lnTo>
                  <a:pt x="711963" y="724963"/>
                </a:lnTo>
                <a:lnTo>
                  <a:pt x="679692" y="758549"/>
                </a:lnTo>
                <a:lnTo>
                  <a:pt x="643355" y="788289"/>
                </a:lnTo>
                <a:lnTo>
                  <a:pt x="603369" y="813425"/>
                </a:lnTo>
                <a:lnTo>
                  <a:pt x="560151" y="833198"/>
                </a:lnTo>
                <a:lnTo>
                  <a:pt x="514046" y="847243"/>
                </a:lnTo>
                <a:lnTo>
                  <a:pt x="466473" y="854946"/>
                </a:lnTo>
                <a:lnTo>
                  <a:pt x="418531" y="856084"/>
                </a:lnTo>
                <a:close/>
              </a:path>
            </a:pathLst>
          </a:custGeom>
          <a:solidFill>
            <a:srgbClr val="FFFB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7840803" y="8564902"/>
            <a:ext cx="1390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5" b="1">
                <a:solidFill>
                  <a:srgbClr val="2A2A2A"/>
                </a:solidFill>
                <a:latin typeface="Trebuchet MS"/>
                <a:cs typeface="Trebuchet MS"/>
              </a:rPr>
              <a:t>4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E3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057274" y="3404973"/>
            <a:ext cx="16181069" cy="5853430"/>
          </a:xfrm>
          <a:custGeom>
            <a:avLst/>
            <a:gdLst/>
            <a:ahLst/>
            <a:cxnLst/>
            <a:rect l="l" t="t" r="r" b="b"/>
            <a:pathLst>
              <a:path w="16181069" h="5853430">
                <a:moveTo>
                  <a:pt x="15598707" y="5853326"/>
                </a:moveTo>
                <a:lnTo>
                  <a:pt x="581905" y="5853326"/>
                </a:lnTo>
                <a:lnTo>
                  <a:pt x="534279" y="5851392"/>
                </a:lnTo>
                <a:lnTo>
                  <a:pt x="487696" y="5845690"/>
                </a:lnTo>
                <a:lnTo>
                  <a:pt x="442306" y="5836372"/>
                </a:lnTo>
                <a:lnTo>
                  <a:pt x="398260" y="5823589"/>
                </a:lnTo>
                <a:lnTo>
                  <a:pt x="355711" y="5807493"/>
                </a:lnTo>
                <a:lnTo>
                  <a:pt x="314810" y="5788236"/>
                </a:lnTo>
                <a:lnTo>
                  <a:pt x="275708" y="5765967"/>
                </a:lnTo>
                <a:lnTo>
                  <a:pt x="238557" y="5740840"/>
                </a:lnTo>
                <a:lnTo>
                  <a:pt x="203508" y="5713005"/>
                </a:lnTo>
                <a:lnTo>
                  <a:pt x="170712" y="5682614"/>
                </a:lnTo>
                <a:lnTo>
                  <a:pt x="140320" y="5649818"/>
                </a:lnTo>
                <a:lnTo>
                  <a:pt x="112485" y="5614769"/>
                </a:lnTo>
                <a:lnTo>
                  <a:pt x="87358" y="5577617"/>
                </a:lnTo>
                <a:lnTo>
                  <a:pt x="65090" y="5538515"/>
                </a:lnTo>
                <a:lnTo>
                  <a:pt x="45832" y="5497614"/>
                </a:lnTo>
                <a:lnTo>
                  <a:pt x="29736" y="5455066"/>
                </a:lnTo>
                <a:lnTo>
                  <a:pt x="16953" y="5411020"/>
                </a:lnTo>
                <a:lnTo>
                  <a:pt x="7636" y="5365630"/>
                </a:lnTo>
                <a:lnTo>
                  <a:pt x="1934" y="5319047"/>
                </a:lnTo>
                <a:lnTo>
                  <a:pt x="0" y="5271421"/>
                </a:lnTo>
                <a:lnTo>
                  <a:pt x="0" y="581905"/>
                </a:lnTo>
                <a:lnTo>
                  <a:pt x="1934" y="534279"/>
                </a:lnTo>
                <a:lnTo>
                  <a:pt x="7636" y="487696"/>
                </a:lnTo>
                <a:lnTo>
                  <a:pt x="16953" y="442305"/>
                </a:lnTo>
                <a:lnTo>
                  <a:pt x="29736" y="398260"/>
                </a:lnTo>
                <a:lnTo>
                  <a:pt x="45832" y="355711"/>
                </a:lnTo>
                <a:lnTo>
                  <a:pt x="65090" y="314810"/>
                </a:lnTo>
                <a:lnTo>
                  <a:pt x="87358" y="275708"/>
                </a:lnTo>
                <a:lnTo>
                  <a:pt x="112485" y="238557"/>
                </a:lnTo>
                <a:lnTo>
                  <a:pt x="140320" y="203508"/>
                </a:lnTo>
                <a:lnTo>
                  <a:pt x="170712" y="170712"/>
                </a:lnTo>
                <a:lnTo>
                  <a:pt x="203508" y="140320"/>
                </a:lnTo>
                <a:lnTo>
                  <a:pt x="238557" y="112485"/>
                </a:lnTo>
                <a:lnTo>
                  <a:pt x="275708" y="87358"/>
                </a:lnTo>
                <a:lnTo>
                  <a:pt x="314810" y="65090"/>
                </a:lnTo>
                <a:lnTo>
                  <a:pt x="355711" y="45832"/>
                </a:lnTo>
                <a:lnTo>
                  <a:pt x="398260" y="29736"/>
                </a:lnTo>
                <a:lnTo>
                  <a:pt x="442306" y="16953"/>
                </a:lnTo>
                <a:lnTo>
                  <a:pt x="487696" y="7636"/>
                </a:lnTo>
                <a:lnTo>
                  <a:pt x="534279" y="1934"/>
                </a:lnTo>
                <a:lnTo>
                  <a:pt x="581905" y="0"/>
                </a:lnTo>
                <a:lnTo>
                  <a:pt x="15598707" y="0"/>
                </a:lnTo>
                <a:lnTo>
                  <a:pt x="15646332" y="1934"/>
                </a:lnTo>
                <a:lnTo>
                  <a:pt x="15692916" y="7636"/>
                </a:lnTo>
                <a:lnTo>
                  <a:pt x="15738306" y="16953"/>
                </a:lnTo>
                <a:lnTo>
                  <a:pt x="15782351" y="29736"/>
                </a:lnTo>
                <a:lnTo>
                  <a:pt x="15824900" y="45832"/>
                </a:lnTo>
                <a:lnTo>
                  <a:pt x="15865801" y="65090"/>
                </a:lnTo>
                <a:lnTo>
                  <a:pt x="15904903" y="87358"/>
                </a:lnTo>
                <a:lnTo>
                  <a:pt x="15942055" y="112485"/>
                </a:lnTo>
                <a:lnTo>
                  <a:pt x="15977104" y="140320"/>
                </a:lnTo>
                <a:lnTo>
                  <a:pt x="16009900" y="170712"/>
                </a:lnTo>
                <a:lnTo>
                  <a:pt x="16040292" y="203508"/>
                </a:lnTo>
                <a:lnTo>
                  <a:pt x="16068127" y="238557"/>
                </a:lnTo>
                <a:lnTo>
                  <a:pt x="16093254" y="275708"/>
                </a:lnTo>
                <a:lnTo>
                  <a:pt x="16115522" y="314810"/>
                </a:lnTo>
                <a:lnTo>
                  <a:pt x="16134780" y="355711"/>
                </a:lnTo>
                <a:lnTo>
                  <a:pt x="16150876" y="398260"/>
                </a:lnTo>
                <a:lnTo>
                  <a:pt x="16163659" y="442305"/>
                </a:lnTo>
                <a:lnTo>
                  <a:pt x="16172977" y="487696"/>
                </a:lnTo>
                <a:lnTo>
                  <a:pt x="16178679" y="534279"/>
                </a:lnTo>
                <a:lnTo>
                  <a:pt x="16180613" y="581905"/>
                </a:lnTo>
                <a:lnTo>
                  <a:pt x="16180613" y="5271421"/>
                </a:lnTo>
                <a:lnTo>
                  <a:pt x="16178679" y="5319047"/>
                </a:lnTo>
                <a:lnTo>
                  <a:pt x="16172977" y="5365630"/>
                </a:lnTo>
                <a:lnTo>
                  <a:pt x="16163659" y="5411020"/>
                </a:lnTo>
                <a:lnTo>
                  <a:pt x="16150876" y="5455066"/>
                </a:lnTo>
                <a:lnTo>
                  <a:pt x="16134780" y="5497614"/>
                </a:lnTo>
                <a:lnTo>
                  <a:pt x="16115522" y="5538515"/>
                </a:lnTo>
                <a:lnTo>
                  <a:pt x="16093254" y="5577617"/>
                </a:lnTo>
                <a:lnTo>
                  <a:pt x="16068127" y="5614769"/>
                </a:lnTo>
                <a:lnTo>
                  <a:pt x="16040292" y="5649818"/>
                </a:lnTo>
                <a:lnTo>
                  <a:pt x="16009900" y="5682614"/>
                </a:lnTo>
                <a:lnTo>
                  <a:pt x="15977104" y="5713005"/>
                </a:lnTo>
                <a:lnTo>
                  <a:pt x="15942055" y="5740840"/>
                </a:lnTo>
                <a:lnTo>
                  <a:pt x="15904903" y="5765967"/>
                </a:lnTo>
                <a:lnTo>
                  <a:pt x="15865801" y="5788236"/>
                </a:lnTo>
                <a:lnTo>
                  <a:pt x="15824900" y="5807493"/>
                </a:lnTo>
                <a:lnTo>
                  <a:pt x="15782351" y="5823589"/>
                </a:lnTo>
                <a:lnTo>
                  <a:pt x="15738306" y="5836372"/>
                </a:lnTo>
                <a:lnTo>
                  <a:pt x="15692916" y="5845690"/>
                </a:lnTo>
                <a:lnTo>
                  <a:pt x="15646332" y="5851392"/>
                </a:lnTo>
                <a:lnTo>
                  <a:pt x="15598707" y="5853326"/>
                </a:lnTo>
                <a:close/>
              </a:path>
            </a:pathLst>
          </a:custGeom>
          <a:solidFill>
            <a:srgbClr val="FFFB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368817" y="3788960"/>
            <a:ext cx="15429865" cy="4840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3400"/>
              </a:lnSpc>
              <a:spcBef>
                <a:spcPts val="95"/>
              </a:spcBef>
            </a:pPr>
            <a:r>
              <a:rPr dirty="0" sz="3200">
                <a:solidFill>
                  <a:srgbClr val="2A2A2A"/>
                </a:solidFill>
                <a:latin typeface="Arial MT"/>
                <a:cs typeface="Arial MT"/>
              </a:rPr>
              <a:t>The</a:t>
            </a:r>
            <a:r>
              <a:rPr dirty="0" sz="3200" spc="3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200">
                <a:solidFill>
                  <a:srgbClr val="2A2A2A"/>
                </a:solidFill>
                <a:latin typeface="Arial MT"/>
                <a:cs typeface="Arial MT"/>
              </a:rPr>
              <a:t>project</a:t>
            </a:r>
            <a:r>
              <a:rPr dirty="0" sz="3200" spc="3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130">
                <a:solidFill>
                  <a:srgbClr val="2A2A2A"/>
                </a:solidFill>
                <a:latin typeface="Arial MT"/>
                <a:cs typeface="Arial MT"/>
              </a:rPr>
              <a:t>focuses</a:t>
            </a:r>
            <a:r>
              <a:rPr dirty="0" sz="3200" spc="3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65">
                <a:solidFill>
                  <a:srgbClr val="2A2A2A"/>
                </a:solidFill>
                <a:latin typeface="Arial MT"/>
                <a:cs typeface="Arial MT"/>
              </a:rPr>
              <a:t>on</a:t>
            </a:r>
            <a:r>
              <a:rPr dirty="0" sz="3200" spc="3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150">
                <a:solidFill>
                  <a:srgbClr val="2A2A2A"/>
                </a:solidFill>
                <a:latin typeface="Arial MT"/>
                <a:cs typeface="Arial MT"/>
              </a:rPr>
              <a:t>predicting</a:t>
            </a:r>
            <a:r>
              <a:rPr dirty="0" sz="3200" spc="3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204">
                <a:solidFill>
                  <a:srgbClr val="2A2A2A"/>
                </a:solidFill>
                <a:latin typeface="Arial MT"/>
                <a:cs typeface="Arial MT"/>
              </a:rPr>
              <a:t>the</a:t>
            </a:r>
            <a:r>
              <a:rPr dirty="0" sz="3200" spc="3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2A2A2A"/>
                </a:solidFill>
                <a:latin typeface="Arial MT"/>
                <a:cs typeface="Arial MT"/>
              </a:rPr>
              <a:t>Remaining</a:t>
            </a:r>
            <a:r>
              <a:rPr dirty="0" sz="3200" spc="3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2A2A2A"/>
                </a:solidFill>
                <a:latin typeface="Arial MT"/>
                <a:cs typeface="Arial MT"/>
              </a:rPr>
              <a:t>Useful</a:t>
            </a:r>
            <a:r>
              <a:rPr dirty="0" sz="3200" spc="3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95">
                <a:solidFill>
                  <a:srgbClr val="2A2A2A"/>
                </a:solidFill>
                <a:latin typeface="Arial MT"/>
                <a:cs typeface="Arial MT"/>
              </a:rPr>
              <a:t>Life</a:t>
            </a:r>
            <a:r>
              <a:rPr dirty="0" sz="3200" spc="3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-220">
                <a:solidFill>
                  <a:srgbClr val="2A2A2A"/>
                </a:solidFill>
                <a:latin typeface="Arial MT"/>
                <a:cs typeface="Arial MT"/>
              </a:rPr>
              <a:t>(RUL)</a:t>
            </a:r>
            <a:r>
              <a:rPr dirty="0" sz="3200" spc="3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340">
                <a:solidFill>
                  <a:srgbClr val="2A2A2A"/>
                </a:solidFill>
                <a:latin typeface="Arial MT"/>
                <a:cs typeface="Arial MT"/>
              </a:rPr>
              <a:t>of</a:t>
            </a:r>
            <a:r>
              <a:rPr dirty="0" sz="3200" spc="3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70">
                <a:solidFill>
                  <a:srgbClr val="2A2A2A"/>
                </a:solidFill>
                <a:latin typeface="Arial MT"/>
                <a:cs typeface="Arial MT"/>
              </a:rPr>
              <a:t>industrial </a:t>
            </a:r>
            <a:r>
              <a:rPr dirty="0" sz="3200" spc="110">
                <a:solidFill>
                  <a:srgbClr val="2A2A2A"/>
                </a:solidFill>
                <a:latin typeface="Arial MT"/>
                <a:cs typeface="Arial MT"/>
              </a:rPr>
              <a:t>machinery</a:t>
            </a:r>
            <a:r>
              <a:rPr dirty="0" sz="3200" spc="-1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-45">
                <a:solidFill>
                  <a:srgbClr val="2A2A2A"/>
                </a:solidFill>
                <a:latin typeface="Arial MT"/>
                <a:cs typeface="Arial MT"/>
              </a:rPr>
              <a:t>like</a:t>
            </a:r>
            <a:r>
              <a:rPr dirty="0" sz="3200" spc="-1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125">
                <a:solidFill>
                  <a:srgbClr val="2A2A2A"/>
                </a:solidFill>
                <a:latin typeface="Arial MT"/>
                <a:cs typeface="Arial MT"/>
              </a:rPr>
              <a:t>turbines</a:t>
            </a:r>
            <a:r>
              <a:rPr dirty="0" sz="3200" spc="-1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100">
                <a:solidFill>
                  <a:srgbClr val="2A2A2A"/>
                </a:solidFill>
                <a:latin typeface="Arial MT"/>
                <a:cs typeface="Arial MT"/>
              </a:rPr>
              <a:t>and</a:t>
            </a:r>
            <a:r>
              <a:rPr dirty="0" sz="3200" spc="-1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90">
                <a:solidFill>
                  <a:srgbClr val="2A2A2A"/>
                </a:solidFill>
                <a:latin typeface="Arial MT"/>
                <a:cs typeface="Arial MT"/>
              </a:rPr>
              <a:t>pumps</a:t>
            </a:r>
            <a:r>
              <a:rPr dirty="0" sz="3200" spc="-1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2A2A2A"/>
                </a:solidFill>
                <a:latin typeface="Arial MT"/>
                <a:cs typeface="Arial MT"/>
              </a:rPr>
              <a:t>using</a:t>
            </a:r>
            <a:r>
              <a:rPr dirty="0" sz="3200" spc="-1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135">
                <a:solidFill>
                  <a:srgbClr val="2A2A2A"/>
                </a:solidFill>
                <a:latin typeface="Arial MT"/>
                <a:cs typeface="Arial MT"/>
              </a:rPr>
              <a:t>multivariate</a:t>
            </a:r>
            <a:r>
              <a:rPr dirty="0" sz="3200" spc="-1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215">
                <a:solidFill>
                  <a:srgbClr val="2A2A2A"/>
                </a:solidFill>
                <a:latin typeface="Arial MT"/>
                <a:cs typeface="Arial MT"/>
              </a:rPr>
              <a:t>time-</a:t>
            </a:r>
            <a:r>
              <a:rPr dirty="0" sz="3200" spc="55">
                <a:solidFill>
                  <a:srgbClr val="2A2A2A"/>
                </a:solidFill>
                <a:latin typeface="Arial MT"/>
                <a:cs typeface="Arial MT"/>
              </a:rPr>
              <a:t>series</a:t>
            </a:r>
            <a:r>
              <a:rPr dirty="0" sz="3200" spc="-1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85">
                <a:solidFill>
                  <a:srgbClr val="2A2A2A"/>
                </a:solidFill>
                <a:latin typeface="Arial MT"/>
                <a:cs typeface="Arial MT"/>
              </a:rPr>
              <a:t>sensor</a:t>
            </a:r>
            <a:r>
              <a:rPr dirty="0" sz="3200" spc="-1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229">
                <a:solidFill>
                  <a:srgbClr val="2A2A2A"/>
                </a:solidFill>
                <a:latin typeface="Arial MT"/>
                <a:cs typeface="Arial MT"/>
              </a:rPr>
              <a:t>data </a:t>
            </a:r>
            <a:r>
              <a:rPr dirty="0" sz="3200" spc="100">
                <a:solidFill>
                  <a:srgbClr val="2A2A2A"/>
                </a:solidFill>
                <a:latin typeface="Arial MT"/>
                <a:cs typeface="Arial MT"/>
              </a:rPr>
              <a:t>and</a:t>
            </a:r>
            <a:r>
              <a:rPr dirty="0" sz="3200" spc="-1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-45">
                <a:solidFill>
                  <a:srgbClr val="2A2A2A"/>
                </a:solidFill>
                <a:latin typeface="Arial MT"/>
                <a:cs typeface="Arial MT"/>
              </a:rPr>
              <a:t>LSTM</a:t>
            </a:r>
            <a:r>
              <a:rPr dirty="0" sz="3200" spc="-1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120">
                <a:solidFill>
                  <a:srgbClr val="2A2A2A"/>
                </a:solidFill>
                <a:latin typeface="Arial MT"/>
                <a:cs typeface="Arial MT"/>
              </a:rPr>
              <a:t>deep</a:t>
            </a:r>
            <a:r>
              <a:rPr dirty="0" sz="3200" spc="-1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55">
                <a:solidFill>
                  <a:srgbClr val="2A2A2A"/>
                </a:solidFill>
                <a:latin typeface="Arial MT"/>
                <a:cs typeface="Arial MT"/>
              </a:rPr>
              <a:t>learning</a:t>
            </a:r>
            <a:r>
              <a:rPr dirty="0" sz="3200" spc="-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2A2A2A"/>
                </a:solidFill>
                <a:latin typeface="Arial MT"/>
                <a:cs typeface="Arial MT"/>
              </a:rPr>
              <a:t>models.</a:t>
            </a:r>
            <a:r>
              <a:rPr dirty="0" sz="3200" spc="-1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-20">
                <a:solidFill>
                  <a:srgbClr val="2A2A2A"/>
                </a:solidFill>
                <a:latin typeface="Arial MT"/>
                <a:cs typeface="Arial MT"/>
              </a:rPr>
              <a:t>This</a:t>
            </a:r>
            <a:r>
              <a:rPr dirty="0" sz="3200" spc="-1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2A2A2A"/>
                </a:solidFill>
                <a:latin typeface="Arial MT"/>
                <a:cs typeface="Arial MT"/>
              </a:rPr>
              <a:t>enables</a:t>
            </a:r>
            <a:r>
              <a:rPr dirty="0" sz="3200" spc="-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180">
                <a:solidFill>
                  <a:srgbClr val="2A2A2A"/>
                </a:solidFill>
                <a:latin typeface="Arial MT"/>
                <a:cs typeface="Arial MT"/>
              </a:rPr>
              <a:t>proactive</a:t>
            </a:r>
            <a:r>
              <a:rPr dirty="0" sz="3200" spc="-1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85">
                <a:solidFill>
                  <a:srgbClr val="2A2A2A"/>
                </a:solidFill>
                <a:latin typeface="Arial MT"/>
                <a:cs typeface="Arial MT"/>
              </a:rPr>
              <a:t>maintenance,</a:t>
            </a:r>
            <a:r>
              <a:rPr dirty="0" sz="3200" spc="-1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100">
                <a:solidFill>
                  <a:srgbClr val="2A2A2A"/>
                </a:solidFill>
                <a:latin typeface="Arial MT"/>
                <a:cs typeface="Arial MT"/>
              </a:rPr>
              <a:t>reducing </a:t>
            </a:r>
            <a:r>
              <a:rPr dirty="0" sz="3200">
                <a:solidFill>
                  <a:srgbClr val="2A2A2A"/>
                </a:solidFill>
                <a:latin typeface="Arial MT"/>
                <a:cs typeface="Arial MT"/>
              </a:rPr>
              <a:t>unplanned</a:t>
            </a:r>
            <a:r>
              <a:rPr dirty="0" sz="3200" spc="5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155">
                <a:solidFill>
                  <a:srgbClr val="2A2A2A"/>
                </a:solidFill>
                <a:latin typeface="Arial MT"/>
                <a:cs typeface="Arial MT"/>
              </a:rPr>
              <a:t>downtime</a:t>
            </a:r>
            <a:r>
              <a:rPr dirty="0" sz="3200" spc="5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100">
                <a:solidFill>
                  <a:srgbClr val="2A2A2A"/>
                </a:solidFill>
                <a:latin typeface="Arial MT"/>
                <a:cs typeface="Arial MT"/>
              </a:rPr>
              <a:t>and</a:t>
            </a:r>
            <a:r>
              <a:rPr dirty="0" sz="3200" spc="5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80">
                <a:solidFill>
                  <a:srgbClr val="2A2A2A"/>
                </a:solidFill>
                <a:latin typeface="Arial MT"/>
                <a:cs typeface="Arial MT"/>
              </a:rPr>
              <a:t>optimizing</a:t>
            </a:r>
            <a:r>
              <a:rPr dirty="0" sz="3200" spc="5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140">
                <a:solidFill>
                  <a:srgbClr val="2A2A2A"/>
                </a:solidFill>
                <a:latin typeface="Arial MT"/>
                <a:cs typeface="Arial MT"/>
              </a:rPr>
              <a:t>asset</a:t>
            </a:r>
            <a:r>
              <a:rPr dirty="0" sz="3200" spc="5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50">
                <a:solidFill>
                  <a:srgbClr val="2A2A2A"/>
                </a:solidFill>
                <a:latin typeface="Arial MT"/>
                <a:cs typeface="Arial MT"/>
              </a:rPr>
              <a:t>utilization.</a:t>
            </a:r>
            <a:r>
              <a:rPr dirty="0" sz="3200" spc="5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2A2A2A"/>
                </a:solidFill>
                <a:latin typeface="Arial MT"/>
                <a:cs typeface="Arial MT"/>
              </a:rPr>
              <a:t>The</a:t>
            </a:r>
            <a:r>
              <a:rPr dirty="0" sz="3200" spc="5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185">
                <a:solidFill>
                  <a:srgbClr val="2A2A2A"/>
                </a:solidFill>
                <a:latin typeface="Arial MT"/>
                <a:cs typeface="Arial MT"/>
              </a:rPr>
              <a:t>workflow</a:t>
            </a:r>
            <a:r>
              <a:rPr dirty="0" sz="3200" spc="5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2A2A2A"/>
                </a:solidFill>
                <a:latin typeface="Arial MT"/>
                <a:cs typeface="Arial MT"/>
              </a:rPr>
              <a:t>includes</a:t>
            </a:r>
            <a:r>
              <a:rPr dirty="0" sz="3200" spc="5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229">
                <a:solidFill>
                  <a:srgbClr val="2A2A2A"/>
                </a:solidFill>
                <a:latin typeface="Arial MT"/>
                <a:cs typeface="Arial MT"/>
              </a:rPr>
              <a:t>data </a:t>
            </a:r>
            <a:r>
              <a:rPr dirty="0" sz="3200" spc="45">
                <a:solidFill>
                  <a:srgbClr val="2A2A2A"/>
                </a:solidFill>
                <a:latin typeface="Arial MT"/>
                <a:cs typeface="Arial MT"/>
              </a:rPr>
              <a:t>ingestion,</a:t>
            </a:r>
            <a:r>
              <a:rPr dirty="0" sz="3200" spc="7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245">
                <a:solidFill>
                  <a:srgbClr val="2A2A2A"/>
                </a:solidFill>
                <a:latin typeface="Arial MT"/>
                <a:cs typeface="Arial MT"/>
              </a:rPr>
              <a:t>feature</a:t>
            </a:r>
            <a:r>
              <a:rPr dirty="0" sz="3200" spc="7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2A2A2A"/>
                </a:solidFill>
                <a:latin typeface="Arial MT"/>
                <a:cs typeface="Arial MT"/>
              </a:rPr>
              <a:t>engineering,</a:t>
            </a:r>
            <a:r>
              <a:rPr dirty="0" sz="3200" spc="70">
                <a:solidFill>
                  <a:srgbClr val="2A2A2A"/>
                </a:solidFill>
                <a:latin typeface="Arial MT"/>
                <a:cs typeface="Arial MT"/>
              </a:rPr>
              <a:t> model</a:t>
            </a:r>
            <a:r>
              <a:rPr dirty="0" sz="3200" spc="7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90">
                <a:solidFill>
                  <a:srgbClr val="2A2A2A"/>
                </a:solidFill>
                <a:latin typeface="Arial MT"/>
                <a:cs typeface="Arial MT"/>
              </a:rPr>
              <a:t>training,</a:t>
            </a:r>
            <a:r>
              <a:rPr dirty="0" sz="3200" spc="7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2A2A2A"/>
                </a:solidFill>
                <a:latin typeface="Arial MT"/>
                <a:cs typeface="Arial MT"/>
              </a:rPr>
              <a:t>risk</a:t>
            </a:r>
            <a:r>
              <a:rPr dirty="0" sz="3200" spc="70">
                <a:solidFill>
                  <a:srgbClr val="2A2A2A"/>
                </a:solidFill>
                <a:latin typeface="Arial MT"/>
                <a:cs typeface="Arial MT"/>
              </a:rPr>
              <a:t> thresholding,</a:t>
            </a:r>
            <a:r>
              <a:rPr dirty="0" sz="3200" spc="7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100">
                <a:solidFill>
                  <a:srgbClr val="2A2A2A"/>
                </a:solidFill>
                <a:latin typeface="Arial MT"/>
                <a:cs typeface="Arial MT"/>
              </a:rPr>
              <a:t>and</a:t>
            </a:r>
            <a:r>
              <a:rPr dirty="0" sz="3200" spc="7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155">
                <a:solidFill>
                  <a:srgbClr val="2A2A2A"/>
                </a:solidFill>
                <a:latin typeface="Arial MT"/>
                <a:cs typeface="Arial MT"/>
              </a:rPr>
              <a:t>interactive </a:t>
            </a:r>
            <a:r>
              <a:rPr dirty="0" sz="3200" spc="120">
                <a:solidFill>
                  <a:srgbClr val="2A2A2A"/>
                </a:solidFill>
                <a:latin typeface="Arial MT"/>
                <a:cs typeface="Arial MT"/>
              </a:rPr>
              <a:t>dashboards</a:t>
            </a:r>
            <a:r>
              <a:rPr dirty="0" sz="3200" spc="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345">
                <a:solidFill>
                  <a:srgbClr val="2A2A2A"/>
                </a:solidFill>
                <a:latin typeface="Arial MT"/>
                <a:cs typeface="Arial MT"/>
              </a:rPr>
              <a:t>for</a:t>
            </a:r>
            <a:r>
              <a:rPr dirty="0" sz="3200" spc="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85">
                <a:solidFill>
                  <a:srgbClr val="2A2A2A"/>
                </a:solidFill>
                <a:latin typeface="Arial MT"/>
                <a:cs typeface="Arial MT"/>
              </a:rPr>
              <a:t>monitoring.</a:t>
            </a:r>
            <a:r>
              <a:rPr dirty="0" sz="3200" spc="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2A2A2A"/>
                </a:solidFill>
                <a:latin typeface="Arial MT"/>
                <a:cs typeface="Arial MT"/>
              </a:rPr>
              <a:t>The</a:t>
            </a:r>
            <a:r>
              <a:rPr dirty="0" sz="3200" spc="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200">
                <a:solidFill>
                  <a:srgbClr val="2A2A2A"/>
                </a:solidFill>
                <a:latin typeface="Arial MT"/>
                <a:cs typeface="Arial MT"/>
              </a:rPr>
              <a:t>project</a:t>
            </a:r>
            <a:r>
              <a:rPr dirty="0" sz="3200" spc="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85">
                <a:solidFill>
                  <a:srgbClr val="2A2A2A"/>
                </a:solidFill>
                <a:latin typeface="Arial MT"/>
                <a:cs typeface="Arial MT"/>
              </a:rPr>
              <a:t>showcases</a:t>
            </a:r>
            <a:r>
              <a:rPr dirty="0" sz="3200" spc="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204">
                <a:solidFill>
                  <a:srgbClr val="2A2A2A"/>
                </a:solidFill>
                <a:latin typeface="Arial MT"/>
                <a:cs typeface="Arial MT"/>
              </a:rPr>
              <a:t>the</a:t>
            </a:r>
            <a:r>
              <a:rPr dirty="0" sz="3200" spc="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225">
                <a:solidFill>
                  <a:srgbClr val="2A2A2A"/>
                </a:solidFill>
                <a:latin typeface="Arial MT"/>
                <a:cs typeface="Arial MT"/>
              </a:rPr>
              <a:t>effective</a:t>
            </a:r>
            <a:r>
              <a:rPr dirty="0" sz="3200" spc="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105">
                <a:solidFill>
                  <a:srgbClr val="2A2A2A"/>
                </a:solidFill>
                <a:latin typeface="Arial MT"/>
                <a:cs typeface="Arial MT"/>
              </a:rPr>
              <a:t>application</a:t>
            </a:r>
            <a:r>
              <a:rPr dirty="0" sz="3200" spc="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315">
                <a:solidFill>
                  <a:srgbClr val="2A2A2A"/>
                </a:solidFill>
                <a:latin typeface="Arial MT"/>
                <a:cs typeface="Arial MT"/>
              </a:rPr>
              <a:t>of </a:t>
            </a:r>
            <a:r>
              <a:rPr dirty="0" sz="3200" spc="60">
                <a:solidFill>
                  <a:srgbClr val="2A2A2A"/>
                </a:solidFill>
                <a:latin typeface="Arial MT"/>
                <a:cs typeface="Arial MT"/>
              </a:rPr>
              <a:t>AI-</a:t>
            </a:r>
            <a:r>
              <a:rPr dirty="0" sz="3200" spc="90">
                <a:solidFill>
                  <a:srgbClr val="2A2A2A"/>
                </a:solidFill>
                <a:latin typeface="Arial MT"/>
                <a:cs typeface="Arial MT"/>
              </a:rPr>
              <a:t>driven</a:t>
            </a:r>
            <a:r>
              <a:rPr dirty="0" sz="3200" spc="-1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260">
                <a:solidFill>
                  <a:srgbClr val="2A2A2A"/>
                </a:solidFill>
                <a:latin typeface="Arial MT"/>
                <a:cs typeface="Arial MT"/>
              </a:rPr>
              <a:t>pattern</a:t>
            </a:r>
            <a:r>
              <a:rPr dirty="0" sz="3200" spc="-1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130">
                <a:solidFill>
                  <a:srgbClr val="2A2A2A"/>
                </a:solidFill>
                <a:latin typeface="Arial MT"/>
                <a:cs typeface="Arial MT"/>
              </a:rPr>
              <a:t>recognition</a:t>
            </a:r>
            <a:r>
              <a:rPr dirty="0" sz="3200" spc="-1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345">
                <a:solidFill>
                  <a:srgbClr val="2A2A2A"/>
                </a:solidFill>
                <a:latin typeface="Arial MT"/>
                <a:cs typeface="Arial MT"/>
              </a:rPr>
              <a:t>for</a:t>
            </a:r>
            <a:r>
              <a:rPr dirty="0" sz="3200" spc="-1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165">
                <a:solidFill>
                  <a:srgbClr val="2A2A2A"/>
                </a:solidFill>
                <a:latin typeface="Arial MT"/>
                <a:cs typeface="Arial MT"/>
              </a:rPr>
              <a:t>real-</a:t>
            </a:r>
            <a:r>
              <a:rPr dirty="0" sz="3200" spc="160">
                <a:solidFill>
                  <a:srgbClr val="2A2A2A"/>
                </a:solidFill>
                <a:latin typeface="Arial MT"/>
                <a:cs typeface="Arial MT"/>
              </a:rPr>
              <a:t>world</a:t>
            </a:r>
            <a:r>
              <a:rPr dirty="0" sz="3200" spc="-1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145">
                <a:solidFill>
                  <a:srgbClr val="2A2A2A"/>
                </a:solidFill>
                <a:latin typeface="Arial MT"/>
                <a:cs typeface="Arial MT"/>
              </a:rPr>
              <a:t>predictive</a:t>
            </a:r>
            <a:r>
              <a:rPr dirty="0" sz="3200" spc="-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110">
                <a:solidFill>
                  <a:srgbClr val="2A2A2A"/>
                </a:solidFill>
                <a:latin typeface="Arial MT"/>
                <a:cs typeface="Arial MT"/>
              </a:rPr>
              <a:t>maintenance</a:t>
            </a:r>
            <a:r>
              <a:rPr dirty="0" sz="3200" spc="-1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2A2A2A"/>
                </a:solidFill>
                <a:latin typeface="Arial MT"/>
                <a:cs typeface="Arial MT"/>
              </a:rPr>
              <a:t>in</a:t>
            </a:r>
            <a:r>
              <a:rPr dirty="0" sz="3200" spc="-1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135">
                <a:solidFill>
                  <a:srgbClr val="2A2A2A"/>
                </a:solidFill>
                <a:latin typeface="Arial MT"/>
                <a:cs typeface="Arial MT"/>
              </a:rPr>
              <a:t>critical </a:t>
            </a:r>
            <a:r>
              <a:rPr dirty="0" sz="3200" spc="80">
                <a:solidFill>
                  <a:srgbClr val="2A2A2A"/>
                </a:solidFill>
                <a:latin typeface="Arial MT"/>
                <a:cs typeface="Arial MT"/>
              </a:rPr>
              <a:t>industrial</a:t>
            </a:r>
            <a:r>
              <a:rPr dirty="0" sz="3200" spc="2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200" spc="50">
                <a:solidFill>
                  <a:srgbClr val="2A2A2A"/>
                </a:solidFill>
                <a:latin typeface="Arial MT"/>
                <a:cs typeface="Arial MT"/>
              </a:rPr>
              <a:t>settings..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5300" y="1489826"/>
            <a:ext cx="3227705" cy="1092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0" spc="145"/>
              <a:t>Agenda</a:t>
            </a:r>
            <a:endParaRPr sz="7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438329" y="0"/>
            <a:ext cx="10850245" cy="10287000"/>
            <a:chOff x="7438329" y="0"/>
            <a:chExt cx="10850245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10297" y="0"/>
              <a:ext cx="9377701" cy="102869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38329" y="8860188"/>
              <a:ext cx="6283953" cy="1426811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322793" y="578876"/>
            <a:ext cx="16283305" cy="783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950" spc="114">
                <a:solidFill>
                  <a:srgbClr val="2A2A2A"/>
                </a:solidFill>
                <a:latin typeface="Arial MT"/>
                <a:cs typeface="Arial MT"/>
              </a:rPr>
              <a:t>Milestone</a:t>
            </a:r>
            <a:r>
              <a:rPr dirty="0" sz="4950" spc="-1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4950" spc="-420">
                <a:solidFill>
                  <a:srgbClr val="2A2A2A"/>
                </a:solidFill>
                <a:latin typeface="Arial MT"/>
                <a:cs typeface="Arial MT"/>
              </a:rPr>
              <a:t>1:</a:t>
            </a:r>
            <a:r>
              <a:rPr dirty="0" sz="4950" spc="-1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4950" spc="320">
                <a:solidFill>
                  <a:srgbClr val="2A2A2A"/>
                </a:solidFill>
                <a:latin typeface="Arial MT"/>
                <a:cs typeface="Arial MT"/>
              </a:rPr>
              <a:t>Data</a:t>
            </a:r>
            <a:r>
              <a:rPr dirty="0" sz="4950" spc="-1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4950" spc="235">
                <a:solidFill>
                  <a:srgbClr val="2A2A2A"/>
                </a:solidFill>
                <a:latin typeface="Arial MT"/>
                <a:cs typeface="Arial MT"/>
              </a:rPr>
              <a:t>Preparation</a:t>
            </a:r>
            <a:r>
              <a:rPr dirty="0" sz="4950" spc="-1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4950" spc="160">
                <a:solidFill>
                  <a:srgbClr val="2A2A2A"/>
                </a:solidFill>
                <a:latin typeface="Arial MT"/>
                <a:cs typeface="Arial MT"/>
              </a:rPr>
              <a:t>and</a:t>
            </a:r>
            <a:r>
              <a:rPr dirty="0" sz="4950" spc="-1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4950" spc="190">
                <a:solidFill>
                  <a:srgbClr val="2A2A2A"/>
                </a:solidFill>
                <a:latin typeface="Arial MT"/>
                <a:cs typeface="Arial MT"/>
              </a:rPr>
              <a:t>Feature</a:t>
            </a:r>
            <a:r>
              <a:rPr dirty="0" sz="4950" spc="-10">
                <a:solidFill>
                  <a:srgbClr val="2A2A2A"/>
                </a:solidFill>
                <a:latin typeface="Arial MT"/>
                <a:cs typeface="Arial MT"/>
              </a:rPr>
              <a:t> Engineering</a:t>
            </a:r>
            <a:endParaRPr sz="495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3432" y="1783921"/>
            <a:ext cx="3176905" cy="82740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250" spc="-320">
                <a:latin typeface="Arial Black"/>
                <a:cs typeface="Arial Black"/>
              </a:rPr>
              <a:t>Objective</a:t>
            </a:r>
            <a:endParaRPr sz="5250">
              <a:latin typeface="Arial Black"/>
              <a:cs typeface="Arial Black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38297" y="2818065"/>
            <a:ext cx="138940" cy="13894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38297" y="3395203"/>
            <a:ext cx="138940" cy="13894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38297" y="3972342"/>
            <a:ext cx="138940" cy="13894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91236" y="6011051"/>
            <a:ext cx="123752" cy="123752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91236" y="6494812"/>
            <a:ext cx="123752" cy="123752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68678" y="7479731"/>
            <a:ext cx="118345" cy="118345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68678" y="7931594"/>
            <a:ext cx="118345" cy="118345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81936" y="9074901"/>
            <a:ext cx="124685" cy="124685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81936" y="9550975"/>
            <a:ext cx="124685" cy="124685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127025" y="2595244"/>
            <a:ext cx="16474440" cy="7230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789430">
              <a:lnSpc>
                <a:spcPts val="3895"/>
              </a:lnSpc>
              <a:spcBef>
                <a:spcPts val="100"/>
              </a:spcBef>
            </a:pPr>
            <a:r>
              <a:rPr dirty="0" sz="3250" spc="-10">
                <a:solidFill>
                  <a:srgbClr val="2A2A2A"/>
                </a:solidFill>
                <a:latin typeface="Lucida Sans Unicode"/>
                <a:cs typeface="Lucida Sans Unicode"/>
              </a:rPr>
              <a:t>Load,</a:t>
            </a:r>
            <a:r>
              <a:rPr dirty="0" sz="3250" spc="-1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50">
                <a:solidFill>
                  <a:srgbClr val="2A2A2A"/>
                </a:solidFill>
                <a:latin typeface="Lucida Sans Unicode"/>
                <a:cs typeface="Lucida Sans Unicode"/>
              </a:rPr>
              <a:t>clean,</a:t>
            </a:r>
            <a:r>
              <a:rPr dirty="0" sz="3250" spc="-1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50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3250" spc="-1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50">
                <a:solidFill>
                  <a:srgbClr val="2A2A2A"/>
                </a:solidFill>
                <a:latin typeface="Lucida Sans Unicode"/>
                <a:cs typeface="Lucida Sans Unicode"/>
              </a:rPr>
              <a:t>preprocess</a:t>
            </a:r>
            <a:r>
              <a:rPr dirty="0" sz="3250" spc="-1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55">
                <a:solidFill>
                  <a:srgbClr val="2A2A2A"/>
                </a:solidFill>
                <a:latin typeface="Lucida Sans Unicode"/>
                <a:cs typeface="Lucida Sans Unicode"/>
              </a:rPr>
              <a:t>the</a:t>
            </a:r>
            <a:r>
              <a:rPr dirty="0" sz="3250" spc="-1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50">
                <a:solidFill>
                  <a:srgbClr val="2A2A2A"/>
                </a:solidFill>
                <a:latin typeface="Lucida Sans Unicode"/>
                <a:cs typeface="Lucida Sans Unicode"/>
              </a:rPr>
              <a:t>NASA</a:t>
            </a:r>
            <a:r>
              <a:rPr dirty="0" sz="3250" spc="-1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135">
                <a:solidFill>
                  <a:srgbClr val="2A2A2A"/>
                </a:solidFill>
                <a:latin typeface="Lucida Sans Unicode"/>
                <a:cs typeface="Lucida Sans Unicode"/>
              </a:rPr>
              <a:t>CMAPSS</a:t>
            </a:r>
            <a:r>
              <a:rPr dirty="0" sz="3250" spc="-1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10">
                <a:solidFill>
                  <a:srgbClr val="2A2A2A"/>
                </a:solidFill>
                <a:latin typeface="Lucida Sans Unicode"/>
                <a:cs typeface="Lucida Sans Unicode"/>
              </a:rPr>
              <a:t>sensor</a:t>
            </a:r>
            <a:r>
              <a:rPr dirty="0" sz="3250" spc="-1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10">
                <a:solidFill>
                  <a:srgbClr val="2A2A2A"/>
                </a:solidFill>
                <a:latin typeface="Lucida Sans Unicode"/>
                <a:cs typeface="Lucida Sans Unicode"/>
              </a:rPr>
              <a:t>dataset.</a:t>
            </a:r>
            <a:endParaRPr sz="3250">
              <a:latin typeface="Lucida Sans Unicode"/>
              <a:cs typeface="Lucida Sans Unicode"/>
            </a:endParaRPr>
          </a:p>
          <a:p>
            <a:pPr algn="ctr" marL="1789430">
              <a:lnSpc>
                <a:spcPts val="4675"/>
              </a:lnSpc>
            </a:pPr>
            <a:r>
              <a:rPr dirty="0" sz="3250">
                <a:solidFill>
                  <a:srgbClr val="2A2A2A"/>
                </a:solidFill>
                <a:latin typeface="Lucida Sans Unicode"/>
                <a:cs typeface="Lucida Sans Unicode"/>
              </a:rPr>
              <a:t>Generate</a:t>
            </a:r>
            <a:r>
              <a:rPr dirty="0" sz="3250" spc="-16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55">
                <a:solidFill>
                  <a:srgbClr val="2A2A2A"/>
                </a:solidFill>
                <a:latin typeface="Lucida Sans Unicode"/>
                <a:cs typeface="Lucida Sans Unicode"/>
              </a:rPr>
              <a:t>rolling</a:t>
            </a:r>
            <a:r>
              <a:rPr dirty="0" sz="3250" spc="-16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50">
                <a:solidFill>
                  <a:srgbClr val="2A2A2A"/>
                </a:solidFill>
                <a:latin typeface="Lucida Sans Unicode"/>
                <a:cs typeface="Lucida Sans Unicode"/>
              </a:rPr>
              <a:t>window</a:t>
            </a:r>
            <a:r>
              <a:rPr dirty="0" sz="3250" spc="-16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15">
                <a:solidFill>
                  <a:srgbClr val="2A2A2A"/>
                </a:solidFill>
                <a:latin typeface="Lucida Sans Unicode"/>
                <a:cs typeface="Lucida Sans Unicode"/>
              </a:rPr>
              <a:t>s</a:t>
            </a:r>
            <a:r>
              <a:rPr dirty="0" sz="3250" spc="-770">
                <a:solidFill>
                  <a:srgbClr val="2A2A2A"/>
                </a:solidFill>
                <a:latin typeface="Lucida Sans Unicode"/>
                <a:cs typeface="Lucida Sans Unicode"/>
              </a:rPr>
              <a:t>e</a:t>
            </a:r>
            <a:r>
              <a:rPr dirty="0" baseline="14245" sz="5850" spc="-457">
                <a:solidFill>
                  <a:srgbClr val="2A2A2A"/>
                </a:solidFill>
                <a:latin typeface="Lucida Sans Unicode"/>
                <a:cs typeface="Lucida Sans Unicode"/>
              </a:rPr>
              <a:t>.</a:t>
            </a:r>
            <a:r>
              <a:rPr dirty="0" sz="3250" spc="-10">
                <a:solidFill>
                  <a:srgbClr val="2A2A2A"/>
                </a:solidFill>
                <a:latin typeface="Lucida Sans Unicode"/>
                <a:cs typeface="Lucida Sans Unicode"/>
              </a:rPr>
              <a:t>q</a:t>
            </a:r>
            <a:r>
              <a:rPr dirty="0" sz="3250" spc="-15">
                <a:solidFill>
                  <a:srgbClr val="2A2A2A"/>
                </a:solidFill>
                <a:latin typeface="Lucida Sans Unicode"/>
                <a:cs typeface="Lucida Sans Unicode"/>
              </a:rPr>
              <a:t>u</a:t>
            </a:r>
            <a:r>
              <a:rPr dirty="0" sz="3250" spc="-10">
                <a:solidFill>
                  <a:srgbClr val="2A2A2A"/>
                </a:solidFill>
                <a:latin typeface="Lucida Sans Unicode"/>
                <a:cs typeface="Lucida Sans Unicode"/>
              </a:rPr>
              <a:t>ence</a:t>
            </a:r>
            <a:r>
              <a:rPr dirty="0" sz="3250" spc="-5">
                <a:solidFill>
                  <a:srgbClr val="2A2A2A"/>
                </a:solidFill>
                <a:latin typeface="Lucida Sans Unicode"/>
                <a:cs typeface="Lucida Sans Unicode"/>
              </a:rPr>
              <a:t>s</a:t>
            </a:r>
            <a:r>
              <a:rPr dirty="0" sz="3250" spc="-15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50">
                <a:solidFill>
                  <a:srgbClr val="2A2A2A"/>
                </a:solidFill>
                <a:latin typeface="Lucida Sans Unicode"/>
                <a:cs typeface="Lucida Sans Unicode"/>
              </a:rPr>
              <a:t>of</a:t>
            </a:r>
            <a:r>
              <a:rPr dirty="0" sz="3250" spc="-16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10">
                <a:solidFill>
                  <a:srgbClr val="2A2A2A"/>
                </a:solidFill>
                <a:latin typeface="Lucida Sans Unicode"/>
                <a:cs typeface="Lucida Sans Unicode"/>
              </a:rPr>
              <a:t>sensor</a:t>
            </a:r>
            <a:r>
              <a:rPr dirty="0" sz="3250" spc="-16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10">
                <a:solidFill>
                  <a:srgbClr val="2A2A2A"/>
                </a:solidFill>
                <a:latin typeface="Lucida Sans Unicode"/>
                <a:cs typeface="Lucida Sans Unicode"/>
              </a:rPr>
              <a:t>readings.</a:t>
            </a:r>
            <a:endParaRPr sz="3250">
              <a:latin typeface="Lucida Sans Unicode"/>
              <a:cs typeface="Lucida Sans Unicode"/>
            </a:endParaRPr>
          </a:p>
          <a:p>
            <a:pPr algn="ctr" marL="1789430">
              <a:lnSpc>
                <a:spcPct val="100000"/>
              </a:lnSpc>
              <a:spcBef>
                <a:spcPts val="515"/>
              </a:spcBef>
            </a:pPr>
            <a:r>
              <a:rPr dirty="0" sz="3250">
                <a:solidFill>
                  <a:srgbClr val="2A2A2A"/>
                </a:solidFill>
                <a:latin typeface="Lucida Sans Unicode"/>
                <a:cs typeface="Lucida Sans Unicode"/>
              </a:rPr>
              <a:t>Compute</a:t>
            </a:r>
            <a:r>
              <a:rPr dirty="0" sz="3250" spc="-17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50">
                <a:solidFill>
                  <a:srgbClr val="2A2A2A"/>
                </a:solidFill>
                <a:latin typeface="Lucida Sans Unicode"/>
                <a:cs typeface="Lucida Sans Unicode"/>
              </a:rPr>
              <a:t>Remaining</a:t>
            </a:r>
            <a:r>
              <a:rPr dirty="0" sz="3250" spc="-17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50">
                <a:solidFill>
                  <a:srgbClr val="2A2A2A"/>
                </a:solidFill>
                <a:latin typeface="Lucida Sans Unicode"/>
                <a:cs typeface="Lucida Sans Unicode"/>
              </a:rPr>
              <a:t>Useful</a:t>
            </a:r>
            <a:r>
              <a:rPr dirty="0" sz="3250" spc="-17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50">
                <a:solidFill>
                  <a:srgbClr val="2A2A2A"/>
                </a:solidFill>
                <a:latin typeface="Lucida Sans Unicode"/>
                <a:cs typeface="Lucida Sans Unicode"/>
              </a:rPr>
              <a:t>Life</a:t>
            </a:r>
            <a:r>
              <a:rPr dirty="0" sz="3250" spc="-17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50">
                <a:solidFill>
                  <a:srgbClr val="2A2A2A"/>
                </a:solidFill>
                <a:latin typeface="Lucida Sans Unicode"/>
                <a:cs typeface="Lucida Sans Unicode"/>
              </a:rPr>
              <a:t>(RUL)</a:t>
            </a:r>
            <a:r>
              <a:rPr dirty="0" sz="3250" spc="-17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10">
                <a:solidFill>
                  <a:srgbClr val="2A2A2A"/>
                </a:solidFill>
                <a:latin typeface="Lucida Sans Unicode"/>
                <a:cs typeface="Lucida Sans Unicode"/>
              </a:rPr>
              <a:t>targets</a:t>
            </a:r>
            <a:r>
              <a:rPr dirty="0" sz="3250" spc="-17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50">
                <a:solidFill>
                  <a:srgbClr val="2A2A2A"/>
                </a:solidFill>
                <a:latin typeface="Lucida Sans Unicode"/>
                <a:cs typeface="Lucida Sans Unicode"/>
              </a:rPr>
              <a:t>for</a:t>
            </a:r>
            <a:r>
              <a:rPr dirty="0" sz="3250" spc="-17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50">
                <a:solidFill>
                  <a:srgbClr val="2A2A2A"/>
                </a:solidFill>
                <a:latin typeface="Lucida Sans Unicode"/>
                <a:cs typeface="Lucida Sans Unicode"/>
              </a:rPr>
              <a:t>each</a:t>
            </a:r>
            <a:r>
              <a:rPr dirty="0" sz="3250" spc="-17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45">
                <a:solidFill>
                  <a:srgbClr val="2A2A2A"/>
                </a:solidFill>
                <a:latin typeface="Lucida Sans Unicode"/>
                <a:cs typeface="Lucida Sans Unicode"/>
              </a:rPr>
              <a:t>engine</a:t>
            </a:r>
            <a:r>
              <a:rPr dirty="0" sz="3250" spc="-17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10">
                <a:solidFill>
                  <a:srgbClr val="2A2A2A"/>
                </a:solidFill>
                <a:latin typeface="Lucida Sans Unicode"/>
                <a:cs typeface="Lucida Sans Unicode"/>
              </a:rPr>
              <a:t>cycle.</a:t>
            </a:r>
            <a:endParaRPr sz="3250">
              <a:latin typeface="Lucida Sans Unicode"/>
              <a:cs typeface="Lucida Sans Unicode"/>
            </a:endParaRPr>
          </a:p>
          <a:p>
            <a:pPr algn="ctr" marR="13196569">
              <a:lnSpc>
                <a:spcPct val="100000"/>
              </a:lnSpc>
              <a:spcBef>
                <a:spcPts val="1085"/>
              </a:spcBef>
            </a:pPr>
            <a:r>
              <a:rPr dirty="0" sz="5200" spc="-545">
                <a:solidFill>
                  <a:srgbClr val="2A2A2A"/>
                </a:solidFill>
                <a:latin typeface="Arial Black"/>
                <a:cs typeface="Arial Black"/>
              </a:rPr>
              <a:t>Key</a:t>
            </a:r>
            <a:r>
              <a:rPr dirty="0" sz="5200" spc="-509">
                <a:solidFill>
                  <a:srgbClr val="2A2A2A"/>
                </a:solidFill>
                <a:latin typeface="Arial Black"/>
                <a:cs typeface="Arial Black"/>
              </a:rPr>
              <a:t> </a:t>
            </a:r>
            <a:r>
              <a:rPr dirty="0" sz="5200" spc="-409">
                <a:solidFill>
                  <a:srgbClr val="2A2A2A"/>
                </a:solidFill>
                <a:latin typeface="Arial Black"/>
                <a:cs typeface="Arial Black"/>
              </a:rPr>
              <a:t>Steps</a:t>
            </a:r>
            <a:endParaRPr sz="5200">
              <a:latin typeface="Arial Black"/>
              <a:cs typeface="Arial Black"/>
            </a:endParaRPr>
          </a:p>
          <a:p>
            <a:pPr marL="371475">
              <a:lnSpc>
                <a:spcPct val="100000"/>
              </a:lnSpc>
              <a:spcBef>
                <a:spcPts val="1460"/>
              </a:spcBef>
            </a:pPr>
            <a:r>
              <a:rPr dirty="0" sz="2600" spc="120">
                <a:solidFill>
                  <a:srgbClr val="2A2A2A"/>
                </a:solidFill>
                <a:latin typeface="Arial MT"/>
                <a:cs typeface="Arial MT"/>
              </a:rPr>
              <a:t>Data</a:t>
            </a:r>
            <a:r>
              <a:rPr dirty="0" sz="2600" spc="-1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2A2A2A"/>
                </a:solidFill>
                <a:latin typeface="Arial MT"/>
                <a:cs typeface="Arial MT"/>
              </a:rPr>
              <a:t>Loading</a:t>
            </a:r>
            <a:r>
              <a:rPr dirty="0" sz="2600" spc="-1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2600" spc="85">
                <a:solidFill>
                  <a:srgbClr val="2A2A2A"/>
                </a:solidFill>
                <a:latin typeface="Arial MT"/>
                <a:cs typeface="Arial MT"/>
              </a:rPr>
              <a:t>&amp;</a:t>
            </a:r>
            <a:r>
              <a:rPr dirty="0" sz="2600" spc="-1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2600" spc="-10">
                <a:solidFill>
                  <a:srgbClr val="2A2A2A"/>
                </a:solidFill>
                <a:latin typeface="Arial MT"/>
                <a:cs typeface="Arial MT"/>
              </a:rPr>
              <a:t>Cleaning:</a:t>
            </a:r>
            <a:endParaRPr sz="2600">
              <a:latin typeface="Arial MT"/>
              <a:cs typeface="Arial MT"/>
            </a:endParaRPr>
          </a:p>
          <a:p>
            <a:pPr algn="ctr" marL="3174365">
              <a:lnSpc>
                <a:spcPct val="100000"/>
              </a:lnSpc>
              <a:spcBef>
                <a:spcPts val="620"/>
              </a:spcBef>
            </a:pP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Imported</a:t>
            </a:r>
            <a:r>
              <a:rPr dirty="0" sz="270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raw</a:t>
            </a:r>
            <a:r>
              <a:rPr dirty="0" sz="270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sensor</a:t>
            </a:r>
            <a:r>
              <a:rPr dirty="0" sz="2700" spc="-10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data</a:t>
            </a:r>
            <a:r>
              <a:rPr dirty="0" sz="270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75">
                <a:solidFill>
                  <a:srgbClr val="2A2A2A"/>
                </a:solidFill>
                <a:latin typeface="Lucida Sans Unicode"/>
                <a:cs typeface="Lucida Sans Unicode"/>
              </a:rPr>
              <a:t>CSV</a:t>
            </a:r>
            <a:r>
              <a:rPr dirty="0" sz="2700" spc="-10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270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identified</a:t>
            </a:r>
            <a:r>
              <a:rPr dirty="0" sz="2700" spc="-10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55">
                <a:solidFill>
                  <a:srgbClr val="2A2A2A"/>
                </a:solidFill>
                <a:latin typeface="Lucida Sans Unicode"/>
                <a:cs typeface="Lucida Sans Unicode"/>
              </a:rPr>
              <a:t>the</a:t>
            </a:r>
            <a:r>
              <a:rPr dirty="0" sz="270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time</a:t>
            </a:r>
            <a:r>
              <a:rPr dirty="0" sz="2700" spc="-10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or</a:t>
            </a:r>
            <a:r>
              <a:rPr dirty="0" sz="270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80">
                <a:solidFill>
                  <a:srgbClr val="2A2A2A"/>
                </a:solidFill>
                <a:latin typeface="Lucida Sans Unicode"/>
                <a:cs typeface="Lucida Sans Unicode"/>
              </a:rPr>
              <a:t>cycle</a:t>
            </a:r>
            <a:r>
              <a:rPr dirty="0" sz="2700" spc="-10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10">
                <a:solidFill>
                  <a:srgbClr val="2A2A2A"/>
                </a:solidFill>
                <a:latin typeface="Lucida Sans Unicode"/>
                <a:cs typeface="Lucida Sans Unicode"/>
              </a:rPr>
              <a:t>column.</a:t>
            </a:r>
            <a:endParaRPr sz="2700">
              <a:latin typeface="Lucida Sans Unicode"/>
              <a:cs typeface="Lucida Sans Unicode"/>
            </a:endParaRPr>
          </a:p>
          <a:p>
            <a:pPr algn="ctr" marL="3174365">
              <a:lnSpc>
                <a:spcPct val="100000"/>
              </a:lnSpc>
              <a:spcBef>
                <a:spcPts val="565"/>
              </a:spcBef>
            </a:pP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Handled</a:t>
            </a:r>
            <a:r>
              <a:rPr dirty="0" sz="27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65">
                <a:solidFill>
                  <a:srgbClr val="2A2A2A"/>
                </a:solidFill>
                <a:latin typeface="Lucida Sans Unicode"/>
                <a:cs typeface="Lucida Sans Unicode"/>
              </a:rPr>
              <a:t>missing</a:t>
            </a:r>
            <a:r>
              <a:rPr dirty="0" sz="27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values</a:t>
            </a:r>
            <a:r>
              <a:rPr dirty="0" sz="27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60">
                <a:solidFill>
                  <a:srgbClr val="2A2A2A"/>
                </a:solidFill>
                <a:latin typeface="Lucida Sans Unicode"/>
                <a:cs typeface="Lucida Sans Unicode"/>
              </a:rPr>
              <a:t>using</a:t>
            </a:r>
            <a:r>
              <a:rPr dirty="0" sz="27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median</a:t>
            </a:r>
            <a:r>
              <a:rPr dirty="0" sz="2700" spc="-9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imputation</a:t>
            </a:r>
            <a:r>
              <a:rPr dirty="0" sz="27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for</a:t>
            </a:r>
            <a:r>
              <a:rPr dirty="0" sz="27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numerical</a:t>
            </a:r>
            <a:r>
              <a:rPr dirty="0" sz="27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sensor</a:t>
            </a:r>
            <a:r>
              <a:rPr dirty="0" sz="27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10">
                <a:solidFill>
                  <a:srgbClr val="2A2A2A"/>
                </a:solidFill>
                <a:latin typeface="Lucida Sans Unicode"/>
                <a:cs typeface="Lucida Sans Unicode"/>
              </a:rPr>
              <a:t>features.</a:t>
            </a:r>
            <a:endParaRPr sz="2700">
              <a:latin typeface="Lucida Sans Unicode"/>
              <a:cs typeface="Lucida Sans Unicode"/>
            </a:endParaRPr>
          </a:p>
          <a:p>
            <a:pPr algn="ctr" marR="13196569">
              <a:lnSpc>
                <a:spcPts val="2895"/>
              </a:lnSpc>
              <a:spcBef>
                <a:spcPts val="1970"/>
              </a:spcBef>
            </a:pPr>
            <a:r>
              <a:rPr dirty="0" sz="2600" spc="80">
                <a:solidFill>
                  <a:srgbClr val="2A2A2A"/>
                </a:solidFill>
                <a:latin typeface="Lucida Sans Unicode"/>
                <a:cs typeface="Lucida Sans Unicode"/>
              </a:rPr>
              <a:t>RUL</a:t>
            </a:r>
            <a:r>
              <a:rPr dirty="0" sz="2600" spc="-18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0">
                <a:solidFill>
                  <a:srgbClr val="2A2A2A"/>
                </a:solidFill>
                <a:latin typeface="Lucida Sans Unicode"/>
                <a:cs typeface="Lucida Sans Unicode"/>
              </a:rPr>
              <a:t>Calculation:</a:t>
            </a:r>
            <a:endParaRPr sz="2600">
              <a:latin typeface="Lucida Sans Unicode"/>
              <a:cs typeface="Lucida Sans Unicode"/>
            </a:endParaRPr>
          </a:p>
          <a:p>
            <a:pPr algn="ctr" marL="2515235">
              <a:lnSpc>
                <a:spcPts val="2895"/>
              </a:lnSpc>
            </a:pP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Created</a:t>
            </a:r>
            <a:r>
              <a:rPr dirty="0" sz="2600" spc="-13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0">
                <a:solidFill>
                  <a:srgbClr val="2A2A2A"/>
                </a:solidFill>
                <a:latin typeface="Lucida Sans Unicode"/>
                <a:cs typeface="Lucida Sans Unicode"/>
              </a:rPr>
              <a:t>overlapping</a:t>
            </a:r>
            <a:r>
              <a:rPr dirty="0" sz="26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sequences</a:t>
            </a:r>
            <a:r>
              <a:rPr dirty="0" sz="26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0">
                <a:solidFill>
                  <a:srgbClr val="2A2A2A"/>
                </a:solidFill>
                <a:latin typeface="Lucida Sans Unicode"/>
                <a:cs typeface="Lucida Sans Unicode"/>
              </a:rPr>
              <a:t>(window</a:t>
            </a:r>
            <a:r>
              <a:rPr dirty="0" sz="26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00">
                <a:solidFill>
                  <a:srgbClr val="2A2A2A"/>
                </a:solidFill>
                <a:latin typeface="Lucida Sans Unicode"/>
                <a:cs typeface="Lucida Sans Unicode"/>
              </a:rPr>
              <a:t>size</a:t>
            </a:r>
            <a:r>
              <a:rPr dirty="0" sz="26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of</a:t>
            </a:r>
            <a:r>
              <a:rPr dirty="0" sz="2600" spc="-13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50</a:t>
            </a:r>
            <a:r>
              <a:rPr dirty="0" sz="26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cycles)</a:t>
            </a:r>
            <a:r>
              <a:rPr dirty="0" sz="26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55">
                <a:solidFill>
                  <a:srgbClr val="2A2A2A"/>
                </a:solidFill>
                <a:latin typeface="Lucida Sans Unicode"/>
                <a:cs typeface="Lucida Sans Unicode"/>
              </a:rPr>
              <a:t>sliding</a:t>
            </a:r>
            <a:r>
              <a:rPr dirty="0" sz="26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by</a:t>
            </a:r>
            <a:r>
              <a:rPr dirty="0" sz="26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stride</a:t>
            </a:r>
            <a:r>
              <a:rPr dirty="0" sz="2600" spc="-13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5">
                <a:solidFill>
                  <a:srgbClr val="2A2A2A"/>
                </a:solidFill>
                <a:latin typeface="Lucida Sans Unicode"/>
                <a:cs typeface="Lucida Sans Unicode"/>
              </a:rPr>
              <a:t>1.</a:t>
            </a:r>
            <a:endParaRPr sz="2600">
              <a:latin typeface="Lucida Sans Unicode"/>
              <a:cs typeface="Lucida Sans Unicode"/>
            </a:endParaRPr>
          </a:p>
          <a:p>
            <a:pPr algn="ctr" marL="2515235">
              <a:lnSpc>
                <a:spcPct val="100000"/>
              </a:lnSpc>
              <a:spcBef>
                <a:spcPts val="439"/>
              </a:spcBef>
            </a:pP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Extracted</a:t>
            </a:r>
            <a:r>
              <a:rPr dirty="0" sz="26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0">
                <a:solidFill>
                  <a:srgbClr val="2A2A2A"/>
                </a:solidFill>
                <a:latin typeface="Lucida Sans Unicode"/>
                <a:cs typeface="Lucida Sans Unicode"/>
              </a:rPr>
              <a:t>sensor</a:t>
            </a:r>
            <a:r>
              <a:rPr dirty="0" sz="26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features</a:t>
            </a:r>
            <a:r>
              <a:rPr dirty="0" sz="26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26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label</a:t>
            </a:r>
            <a:r>
              <a:rPr dirty="0" sz="2600" spc="-1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(RUL)</a:t>
            </a:r>
            <a:r>
              <a:rPr dirty="0" sz="26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for</a:t>
            </a:r>
            <a:r>
              <a:rPr dirty="0" sz="26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each</a:t>
            </a:r>
            <a:r>
              <a:rPr dirty="0" sz="26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0">
                <a:solidFill>
                  <a:srgbClr val="2A2A2A"/>
                </a:solidFill>
                <a:latin typeface="Lucida Sans Unicode"/>
                <a:cs typeface="Lucida Sans Unicode"/>
              </a:rPr>
              <a:t>sequence.</a:t>
            </a:r>
            <a:endParaRPr sz="2600">
              <a:latin typeface="Lucida Sans Unicode"/>
              <a:cs typeface="Lucida Sans Unicode"/>
            </a:endParaRPr>
          </a:p>
          <a:p>
            <a:pPr algn="ctr" marR="10765790">
              <a:lnSpc>
                <a:spcPct val="100000"/>
              </a:lnSpc>
              <a:spcBef>
                <a:spcPts val="695"/>
              </a:spcBef>
            </a:pPr>
            <a:r>
              <a:rPr dirty="0" sz="2600" spc="80">
                <a:solidFill>
                  <a:srgbClr val="2A2A2A"/>
                </a:solidFill>
                <a:latin typeface="Lucida Sans Unicode"/>
                <a:cs typeface="Lucida Sans Unicode"/>
              </a:rPr>
              <a:t>Batch</a:t>
            </a:r>
            <a:r>
              <a:rPr dirty="0" sz="2600" spc="-18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0">
                <a:solidFill>
                  <a:srgbClr val="2A2A2A"/>
                </a:solidFill>
                <a:latin typeface="Lucida Sans Unicode"/>
                <a:cs typeface="Lucida Sans Unicode"/>
              </a:rPr>
              <a:t>Processing</a:t>
            </a:r>
            <a:r>
              <a:rPr dirty="0" sz="2600" spc="-18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00">
                <a:solidFill>
                  <a:srgbClr val="2A2A2A"/>
                </a:solidFill>
                <a:latin typeface="Lucida Sans Unicode"/>
                <a:cs typeface="Lucida Sans Unicode"/>
              </a:rPr>
              <a:t>&amp;</a:t>
            </a:r>
            <a:r>
              <a:rPr dirty="0" sz="2600" spc="-18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0">
                <a:solidFill>
                  <a:srgbClr val="2A2A2A"/>
                </a:solidFill>
                <a:latin typeface="Lucida Sans Unicode"/>
                <a:cs typeface="Lucida Sans Unicode"/>
              </a:rPr>
              <a:t>Verification:</a:t>
            </a:r>
            <a:endParaRPr sz="2600">
              <a:latin typeface="Lucida Sans Unicode"/>
              <a:cs typeface="Lucida Sans Unicode"/>
            </a:endParaRPr>
          </a:p>
          <a:p>
            <a:pPr algn="ctr" marL="330200">
              <a:lnSpc>
                <a:spcPct val="100000"/>
              </a:lnSpc>
              <a:spcBef>
                <a:spcPts val="2045"/>
              </a:spcBef>
            </a:pPr>
            <a:r>
              <a:rPr dirty="0" sz="2700" spc="50">
                <a:solidFill>
                  <a:srgbClr val="2A2A2A"/>
                </a:solidFill>
                <a:latin typeface="Lucida Sans Unicode"/>
                <a:cs typeface="Lucida Sans Unicode"/>
              </a:rPr>
              <a:t>Processed</a:t>
            </a:r>
            <a:r>
              <a:rPr dirty="0" sz="2700" spc="-3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data</a:t>
            </a:r>
            <a:r>
              <a:rPr dirty="0" sz="2700" spc="-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10">
                <a:solidFill>
                  <a:srgbClr val="2A2A2A"/>
                </a:solidFill>
                <a:latin typeface="Lucida Sans Unicode"/>
                <a:cs typeface="Lucida Sans Unicode"/>
              </a:rPr>
              <a:t>in</a:t>
            </a:r>
            <a:r>
              <a:rPr dirty="0" sz="2700" spc="-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batches</a:t>
            </a:r>
            <a:r>
              <a:rPr dirty="0" sz="2700" spc="-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for</a:t>
            </a:r>
            <a:r>
              <a:rPr dirty="0" sz="2700" spc="-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efficient</a:t>
            </a:r>
            <a:r>
              <a:rPr dirty="0" sz="2700" spc="-3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10">
                <a:solidFill>
                  <a:srgbClr val="2A2A2A"/>
                </a:solidFill>
                <a:latin typeface="Lucida Sans Unicode"/>
                <a:cs typeface="Lucida Sans Unicode"/>
              </a:rPr>
              <a:t>handling.</a:t>
            </a:r>
            <a:endParaRPr sz="2700">
              <a:latin typeface="Lucida Sans Unicode"/>
              <a:cs typeface="Lucida Sans Unicode"/>
            </a:endParaRPr>
          </a:p>
          <a:p>
            <a:pPr algn="ctr" marL="330200">
              <a:lnSpc>
                <a:spcPct val="100000"/>
              </a:lnSpc>
              <a:spcBef>
                <a:spcPts val="505"/>
              </a:spcBef>
            </a:pP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Verified</a:t>
            </a:r>
            <a:r>
              <a:rPr dirty="0" sz="2700" spc="-10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sensor</a:t>
            </a:r>
            <a:r>
              <a:rPr dirty="0" sz="2700" spc="-1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value</a:t>
            </a:r>
            <a:r>
              <a:rPr dirty="0" sz="2700" spc="-1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distributions</a:t>
            </a:r>
            <a:r>
              <a:rPr dirty="0" sz="2700" spc="-1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2700" spc="-1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00">
                <a:solidFill>
                  <a:srgbClr val="2A2A2A"/>
                </a:solidFill>
                <a:latin typeface="Lucida Sans Unicode"/>
                <a:cs typeface="Lucida Sans Unicode"/>
              </a:rPr>
              <a:t>RUL</a:t>
            </a:r>
            <a:r>
              <a:rPr dirty="0" sz="2700" spc="-1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25">
                <a:solidFill>
                  <a:srgbClr val="2A2A2A"/>
                </a:solidFill>
                <a:latin typeface="Lucida Sans Unicode"/>
                <a:cs typeface="Lucida Sans Unicode"/>
              </a:rPr>
              <a:t>ranges</a:t>
            </a:r>
            <a:r>
              <a:rPr dirty="0" sz="2700" spc="-1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within</a:t>
            </a:r>
            <a:r>
              <a:rPr dirty="0" sz="2700" spc="-1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10">
                <a:solidFill>
                  <a:srgbClr val="2A2A2A"/>
                </a:solidFill>
                <a:latin typeface="Lucida Sans Unicode"/>
                <a:cs typeface="Lucida Sans Unicode"/>
              </a:rPr>
              <a:t>batches.</a:t>
            </a:r>
            <a:endParaRPr sz="2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4613" rIns="0" bIns="0" rtlCol="0" vert="horz">
            <a:spAutoFit/>
          </a:bodyPr>
          <a:lstStyle/>
          <a:p>
            <a:pPr marL="693420">
              <a:lnSpc>
                <a:spcPct val="100000"/>
              </a:lnSpc>
              <a:spcBef>
                <a:spcPts val="100"/>
              </a:spcBef>
            </a:pPr>
            <a:r>
              <a:rPr dirty="0" sz="6150" spc="125"/>
              <a:t>Milestone</a:t>
            </a:r>
            <a:r>
              <a:rPr dirty="0" sz="6150" spc="-25"/>
              <a:t> </a:t>
            </a:r>
            <a:r>
              <a:rPr dirty="0" sz="6150" spc="-254"/>
              <a:t>2:</a:t>
            </a:r>
            <a:r>
              <a:rPr dirty="0" sz="6150" spc="-25"/>
              <a:t> </a:t>
            </a:r>
            <a:r>
              <a:rPr dirty="0" sz="6150" spc="120"/>
              <a:t>Model</a:t>
            </a:r>
            <a:r>
              <a:rPr dirty="0" sz="6150" spc="-25"/>
              <a:t> </a:t>
            </a:r>
            <a:r>
              <a:rPr dirty="0" sz="6150" spc="160"/>
              <a:t>Development</a:t>
            </a:r>
            <a:r>
              <a:rPr dirty="0" sz="6150" spc="-25"/>
              <a:t> </a:t>
            </a:r>
            <a:r>
              <a:rPr dirty="0" sz="6150" spc="165"/>
              <a:t>and</a:t>
            </a:r>
            <a:r>
              <a:rPr dirty="0" sz="6150" spc="-25"/>
              <a:t> </a:t>
            </a:r>
            <a:r>
              <a:rPr dirty="0" sz="6150" spc="45"/>
              <a:t>Training</a:t>
            </a:r>
            <a:endParaRPr sz="615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45533" y="0"/>
            <a:ext cx="6242465" cy="6482962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0" y="2950641"/>
            <a:ext cx="4810125" cy="7336790"/>
            <a:chOff x="0" y="2950641"/>
            <a:chExt cx="4810125" cy="733679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950641"/>
              <a:ext cx="4809534" cy="7336358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7682" y="3424066"/>
              <a:ext cx="150676" cy="150676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69407" y="6883020"/>
              <a:ext cx="146756" cy="146756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69407" y="8002037"/>
              <a:ext cx="146756" cy="146756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69407" y="8561545"/>
              <a:ext cx="146756" cy="146756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76354" y="2058498"/>
            <a:ext cx="18081625" cy="7367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3035">
              <a:lnSpc>
                <a:spcPct val="100000"/>
              </a:lnSpc>
              <a:spcBef>
                <a:spcPts val="100"/>
              </a:spcBef>
            </a:pPr>
            <a:r>
              <a:rPr dirty="0" sz="5200" spc="-325">
                <a:solidFill>
                  <a:srgbClr val="2A2A2A"/>
                </a:solidFill>
                <a:latin typeface="Arial Black"/>
                <a:cs typeface="Arial Black"/>
              </a:rPr>
              <a:t>Objective</a:t>
            </a:r>
            <a:endParaRPr sz="5200">
              <a:latin typeface="Arial Black"/>
              <a:cs typeface="Arial Black"/>
            </a:endParaRPr>
          </a:p>
          <a:p>
            <a:pPr algn="ctr" marL="1700530" marR="5080">
              <a:lnSpc>
                <a:spcPct val="116199"/>
              </a:lnSpc>
              <a:spcBef>
                <a:spcPts val="2115"/>
              </a:spcBef>
            </a:pPr>
            <a:r>
              <a:rPr dirty="0" sz="3350" spc="65">
                <a:solidFill>
                  <a:srgbClr val="2A2A2A"/>
                </a:solidFill>
                <a:latin typeface="Lucida Sans Unicode"/>
                <a:cs typeface="Lucida Sans Unicode"/>
              </a:rPr>
              <a:t>Build</a:t>
            </a:r>
            <a:r>
              <a:rPr dirty="0" sz="3350" spc="-16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350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3350" spc="-16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350">
                <a:solidFill>
                  <a:srgbClr val="2A2A2A"/>
                </a:solidFill>
                <a:latin typeface="Lucida Sans Unicode"/>
                <a:cs typeface="Lucida Sans Unicode"/>
              </a:rPr>
              <a:t>train</a:t>
            </a:r>
            <a:r>
              <a:rPr dirty="0" sz="3350" spc="-16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350">
                <a:solidFill>
                  <a:srgbClr val="2A2A2A"/>
                </a:solidFill>
                <a:latin typeface="Lucida Sans Unicode"/>
                <a:cs typeface="Lucida Sans Unicode"/>
              </a:rPr>
              <a:t>a</a:t>
            </a:r>
            <a:r>
              <a:rPr dirty="0" sz="3350" spc="-16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350">
                <a:solidFill>
                  <a:srgbClr val="2A2A2A"/>
                </a:solidFill>
                <a:latin typeface="Lucida Sans Unicode"/>
                <a:cs typeface="Lucida Sans Unicode"/>
              </a:rPr>
              <a:t>deep</a:t>
            </a:r>
            <a:r>
              <a:rPr dirty="0" sz="3350" spc="-16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350" spc="-35">
                <a:solidFill>
                  <a:srgbClr val="2A2A2A"/>
                </a:solidFill>
                <a:latin typeface="Lucida Sans Unicode"/>
                <a:cs typeface="Lucida Sans Unicode"/>
              </a:rPr>
              <a:t>learning</a:t>
            </a:r>
            <a:r>
              <a:rPr dirty="0" sz="3350" spc="-16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350">
                <a:solidFill>
                  <a:srgbClr val="2A2A2A"/>
                </a:solidFill>
                <a:latin typeface="Lucida Sans Unicode"/>
                <a:cs typeface="Lucida Sans Unicode"/>
              </a:rPr>
              <a:t>model</a:t>
            </a:r>
            <a:r>
              <a:rPr dirty="0" sz="3350" spc="-16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350" spc="50">
                <a:solidFill>
                  <a:srgbClr val="2A2A2A"/>
                </a:solidFill>
                <a:latin typeface="Lucida Sans Unicode"/>
                <a:cs typeface="Lucida Sans Unicode"/>
              </a:rPr>
              <a:t>to</a:t>
            </a:r>
            <a:r>
              <a:rPr dirty="0" sz="3350" spc="-16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350">
                <a:solidFill>
                  <a:srgbClr val="2A2A2A"/>
                </a:solidFill>
                <a:latin typeface="Lucida Sans Unicode"/>
                <a:cs typeface="Lucida Sans Unicode"/>
              </a:rPr>
              <a:t>predict</a:t>
            </a:r>
            <a:r>
              <a:rPr dirty="0" sz="3350" spc="-16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350" spc="55">
                <a:solidFill>
                  <a:srgbClr val="2A2A2A"/>
                </a:solidFill>
                <a:latin typeface="Lucida Sans Unicode"/>
                <a:cs typeface="Lucida Sans Unicode"/>
              </a:rPr>
              <a:t>the</a:t>
            </a:r>
            <a:r>
              <a:rPr dirty="0" sz="3350" spc="-16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350" spc="-45">
                <a:solidFill>
                  <a:srgbClr val="2A2A2A"/>
                </a:solidFill>
                <a:latin typeface="Lucida Sans Unicode"/>
                <a:cs typeface="Lucida Sans Unicode"/>
              </a:rPr>
              <a:t>Remaining</a:t>
            </a:r>
            <a:r>
              <a:rPr dirty="0" sz="3350" spc="-16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350">
                <a:solidFill>
                  <a:srgbClr val="2A2A2A"/>
                </a:solidFill>
                <a:latin typeface="Lucida Sans Unicode"/>
                <a:cs typeface="Lucida Sans Unicode"/>
              </a:rPr>
              <a:t>Useful</a:t>
            </a:r>
            <a:r>
              <a:rPr dirty="0" sz="3350" spc="-16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350">
                <a:solidFill>
                  <a:srgbClr val="2A2A2A"/>
                </a:solidFill>
                <a:latin typeface="Lucida Sans Unicode"/>
                <a:cs typeface="Lucida Sans Unicode"/>
              </a:rPr>
              <a:t>Life</a:t>
            </a:r>
            <a:r>
              <a:rPr dirty="0" sz="3350" spc="-16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350" spc="55">
                <a:solidFill>
                  <a:srgbClr val="2A2A2A"/>
                </a:solidFill>
                <a:latin typeface="Lucida Sans Unicode"/>
                <a:cs typeface="Lucida Sans Unicode"/>
              </a:rPr>
              <a:t>(RUL) </a:t>
            </a:r>
            <a:r>
              <a:rPr dirty="0" sz="3350" spc="-20">
                <a:solidFill>
                  <a:srgbClr val="2A2A2A"/>
                </a:solidFill>
                <a:latin typeface="Lucida Sans Unicode"/>
                <a:cs typeface="Lucida Sans Unicode"/>
              </a:rPr>
              <a:t>from</a:t>
            </a:r>
            <a:r>
              <a:rPr dirty="0" sz="3350" spc="-18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350" spc="-10">
                <a:solidFill>
                  <a:srgbClr val="2A2A2A"/>
                </a:solidFill>
                <a:latin typeface="Lucida Sans Unicode"/>
                <a:cs typeface="Lucida Sans Unicode"/>
              </a:rPr>
              <a:t>sensor</a:t>
            </a:r>
            <a:r>
              <a:rPr dirty="0" sz="3350" spc="-17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350">
                <a:solidFill>
                  <a:srgbClr val="2A2A2A"/>
                </a:solidFill>
                <a:latin typeface="Lucida Sans Unicode"/>
                <a:cs typeface="Lucida Sans Unicode"/>
              </a:rPr>
              <a:t>data</a:t>
            </a:r>
            <a:r>
              <a:rPr dirty="0" sz="3350" spc="-17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350" spc="-10">
                <a:solidFill>
                  <a:srgbClr val="2A2A2A"/>
                </a:solidFill>
                <a:latin typeface="Lucida Sans Unicode"/>
                <a:cs typeface="Lucida Sans Unicode"/>
              </a:rPr>
              <a:t>sequences.</a:t>
            </a:r>
            <a:endParaRPr sz="3350">
              <a:latin typeface="Lucida Sans Unicode"/>
              <a:cs typeface="Lucida Sans Unicode"/>
            </a:endParaRPr>
          </a:p>
          <a:p>
            <a:pPr marL="24130">
              <a:lnSpc>
                <a:spcPct val="100000"/>
              </a:lnSpc>
              <a:spcBef>
                <a:spcPts val="4645"/>
              </a:spcBef>
            </a:pPr>
            <a:r>
              <a:rPr dirty="0" sz="4700" spc="-185">
                <a:solidFill>
                  <a:srgbClr val="2A2A2A"/>
                </a:solidFill>
                <a:latin typeface="Arial Black"/>
                <a:cs typeface="Arial Black"/>
              </a:rPr>
              <a:t>Model</a:t>
            </a:r>
            <a:r>
              <a:rPr dirty="0" sz="4700" spc="-409">
                <a:solidFill>
                  <a:srgbClr val="2A2A2A"/>
                </a:solidFill>
                <a:latin typeface="Arial Black"/>
                <a:cs typeface="Arial Black"/>
              </a:rPr>
              <a:t> </a:t>
            </a:r>
            <a:r>
              <a:rPr dirty="0" sz="4700" spc="-300">
                <a:solidFill>
                  <a:srgbClr val="2A2A2A"/>
                </a:solidFill>
                <a:latin typeface="Arial Black"/>
                <a:cs typeface="Arial Black"/>
              </a:rPr>
              <a:t>Architecture:</a:t>
            </a:r>
            <a:endParaRPr sz="47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575"/>
              </a:spcBef>
            </a:pPr>
            <a:r>
              <a:rPr dirty="0" sz="3400" spc="-254">
                <a:solidFill>
                  <a:srgbClr val="2A2A2A"/>
                </a:solidFill>
                <a:latin typeface="Arial Black"/>
                <a:cs typeface="Arial Black"/>
              </a:rPr>
              <a:t>Used</a:t>
            </a:r>
            <a:r>
              <a:rPr dirty="0" sz="3400" spc="-300">
                <a:solidFill>
                  <a:srgbClr val="2A2A2A"/>
                </a:solidFill>
                <a:latin typeface="Arial Black"/>
                <a:cs typeface="Arial Black"/>
              </a:rPr>
              <a:t> </a:t>
            </a:r>
            <a:r>
              <a:rPr dirty="0" sz="3400" spc="-340">
                <a:solidFill>
                  <a:srgbClr val="2A2A2A"/>
                </a:solidFill>
                <a:latin typeface="Arial Black"/>
                <a:cs typeface="Arial Black"/>
              </a:rPr>
              <a:t>a</a:t>
            </a:r>
            <a:r>
              <a:rPr dirty="0" sz="3400" spc="-295">
                <a:solidFill>
                  <a:srgbClr val="2A2A2A"/>
                </a:solidFill>
                <a:latin typeface="Arial Black"/>
                <a:cs typeface="Arial Black"/>
              </a:rPr>
              <a:t> </a:t>
            </a:r>
            <a:r>
              <a:rPr dirty="0" sz="3400" spc="-204">
                <a:solidFill>
                  <a:srgbClr val="2A2A2A"/>
                </a:solidFill>
                <a:latin typeface="Arial Black"/>
                <a:cs typeface="Arial Black"/>
              </a:rPr>
              <a:t>Sequential</a:t>
            </a:r>
            <a:r>
              <a:rPr dirty="0" sz="3400" spc="-300">
                <a:solidFill>
                  <a:srgbClr val="2A2A2A"/>
                </a:solidFill>
                <a:latin typeface="Arial Black"/>
                <a:cs typeface="Arial Black"/>
              </a:rPr>
              <a:t> </a:t>
            </a:r>
            <a:r>
              <a:rPr dirty="0" sz="3400" spc="-180">
                <a:solidFill>
                  <a:srgbClr val="2A2A2A"/>
                </a:solidFill>
                <a:latin typeface="Arial Black"/>
                <a:cs typeface="Arial Black"/>
              </a:rPr>
              <a:t>deep</a:t>
            </a:r>
            <a:r>
              <a:rPr dirty="0" sz="3400" spc="-295">
                <a:solidFill>
                  <a:srgbClr val="2A2A2A"/>
                </a:solidFill>
                <a:latin typeface="Arial Black"/>
                <a:cs typeface="Arial Black"/>
              </a:rPr>
              <a:t> </a:t>
            </a:r>
            <a:r>
              <a:rPr dirty="0" sz="3400" spc="-200">
                <a:solidFill>
                  <a:srgbClr val="2A2A2A"/>
                </a:solidFill>
                <a:latin typeface="Arial Black"/>
                <a:cs typeface="Arial Black"/>
              </a:rPr>
              <a:t>learning</a:t>
            </a:r>
            <a:r>
              <a:rPr dirty="0" sz="3400" spc="-300">
                <a:solidFill>
                  <a:srgbClr val="2A2A2A"/>
                </a:solidFill>
                <a:latin typeface="Arial Black"/>
                <a:cs typeface="Arial Black"/>
              </a:rPr>
              <a:t> </a:t>
            </a:r>
            <a:r>
              <a:rPr dirty="0" sz="3400" spc="-170">
                <a:solidFill>
                  <a:srgbClr val="2A2A2A"/>
                </a:solidFill>
                <a:latin typeface="Arial Black"/>
                <a:cs typeface="Arial Black"/>
              </a:rPr>
              <a:t>model</a:t>
            </a:r>
            <a:r>
              <a:rPr dirty="0" sz="3400" spc="-295">
                <a:solidFill>
                  <a:srgbClr val="2A2A2A"/>
                </a:solidFill>
                <a:latin typeface="Arial Black"/>
                <a:cs typeface="Arial Black"/>
              </a:rPr>
              <a:t> </a:t>
            </a:r>
            <a:r>
              <a:rPr dirty="0" sz="3400" spc="-235">
                <a:solidFill>
                  <a:srgbClr val="2A2A2A"/>
                </a:solidFill>
                <a:latin typeface="Arial Black"/>
                <a:cs typeface="Arial Black"/>
              </a:rPr>
              <a:t>with</a:t>
            </a:r>
            <a:r>
              <a:rPr dirty="0" sz="3400" spc="-300">
                <a:solidFill>
                  <a:srgbClr val="2A2A2A"/>
                </a:solidFill>
                <a:latin typeface="Arial Black"/>
                <a:cs typeface="Arial Black"/>
              </a:rPr>
              <a:t> </a:t>
            </a:r>
            <a:r>
              <a:rPr dirty="0" sz="3400" spc="-240">
                <a:solidFill>
                  <a:srgbClr val="2A2A2A"/>
                </a:solidFill>
                <a:latin typeface="Arial Black"/>
                <a:cs typeface="Arial Black"/>
              </a:rPr>
              <a:t>these</a:t>
            </a:r>
            <a:r>
              <a:rPr dirty="0" sz="3400" spc="-295">
                <a:solidFill>
                  <a:srgbClr val="2A2A2A"/>
                </a:solidFill>
                <a:latin typeface="Arial Black"/>
                <a:cs typeface="Arial Black"/>
              </a:rPr>
              <a:t> </a:t>
            </a:r>
            <a:r>
              <a:rPr dirty="0" sz="3400" spc="-40">
                <a:solidFill>
                  <a:srgbClr val="2A2A2A"/>
                </a:solidFill>
                <a:latin typeface="Arial Black"/>
                <a:cs typeface="Arial Black"/>
              </a:rPr>
              <a:t>layers:</a:t>
            </a:r>
            <a:endParaRPr sz="3400">
              <a:latin typeface="Arial Black"/>
              <a:cs typeface="Arial Black"/>
            </a:endParaRPr>
          </a:p>
          <a:p>
            <a:pPr algn="ctr" marL="1886585" marR="226060">
              <a:lnSpc>
                <a:spcPct val="114700"/>
              </a:lnSpc>
              <a:spcBef>
                <a:spcPts val="1145"/>
              </a:spcBef>
            </a:pPr>
            <a:r>
              <a:rPr dirty="0" sz="3200" spc="-120">
                <a:solidFill>
                  <a:srgbClr val="2A2A2A"/>
                </a:solidFill>
                <a:latin typeface="Lucida Sans Unicode"/>
                <a:cs typeface="Lucida Sans Unicode"/>
              </a:rPr>
              <a:t>Two</a:t>
            </a:r>
            <a:r>
              <a:rPr dirty="0" sz="3200" spc="-1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10">
                <a:solidFill>
                  <a:srgbClr val="2A2A2A"/>
                </a:solidFill>
                <a:latin typeface="Lucida Sans Unicode"/>
                <a:cs typeface="Lucida Sans Unicode"/>
              </a:rPr>
              <a:t>stacked</a:t>
            </a:r>
            <a:r>
              <a:rPr dirty="0" sz="3200" spc="-1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50">
                <a:solidFill>
                  <a:srgbClr val="2A2A2A"/>
                </a:solidFill>
                <a:latin typeface="Lucida Sans Unicode"/>
                <a:cs typeface="Lucida Sans Unicode"/>
              </a:rPr>
              <a:t>LSTM</a:t>
            </a:r>
            <a:r>
              <a:rPr dirty="0" sz="3200" spc="-1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2A2A2A"/>
                </a:solidFill>
                <a:latin typeface="Lucida Sans Unicode"/>
                <a:cs typeface="Lucida Sans Unicode"/>
              </a:rPr>
              <a:t>layers</a:t>
            </a:r>
            <a:r>
              <a:rPr dirty="0" sz="3200" spc="-1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2A2A2A"/>
                </a:solidFill>
                <a:latin typeface="Lucida Sans Unicode"/>
                <a:cs typeface="Lucida Sans Unicode"/>
              </a:rPr>
              <a:t>(first</a:t>
            </a:r>
            <a:r>
              <a:rPr dirty="0" sz="3200" spc="-1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2A2A2A"/>
                </a:solidFill>
                <a:latin typeface="Lucida Sans Unicode"/>
                <a:cs typeface="Lucida Sans Unicode"/>
              </a:rPr>
              <a:t>with</a:t>
            </a:r>
            <a:r>
              <a:rPr dirty="0" sz="3200" spc="-1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240">
                <a:solidFill>
                  <a:srgbClr val="2A2A2A"/>
                </a:solidFill>
                <a:latin typeface="Lucida Sans Unicode"/>
                <a:cs typeface="Lucida Sans Unicode"/>
              </a:rPr>
              <a:t>128</a:t>
            </a:r>
            <a:r>
              <a:rPr dirty="0" sz="3200" spc="-1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20">
                <a:solidFill>
                  <a:srgbClr val="2A2A2A"/>
                </a:solidFill>
                <a:latin typeface="Lucida Sans Unicode"/>
                <a:cs typeface="Lucida Sans Unicode"/>
              </a:rPr>
              <a:t>units</a:t>
            </a:r>
            <a:r>
              <a:rPr dirty="0" sz="3200" spc="-1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40">
                <a:solidFill>
                  <a:srgbClr val="2A2A2A"/>
                </a:solidFill>
                <a:latin typeface="Lucida Sans Unicode"/>
                <a:cs typeface="Lucida Sans Unicode"/>
              </a:rPr>
              <a:t>returning</a:t>
            </a:r>
            <a:r>
              <a:rPr dirty="0" sz="3200" spc="-1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20">
                <a:solidFill>
                  <a:srgbClr val="2A2A2A"/>
                </a:solidFill>
                <a:latin typeface="Lucida Sans Unicode"/>
                <a:cs typeface="Lucida Sans Unicode"/>
              </a:rPr>
              <a:t>sequences,</a:t>
            </a:r>
            <a:r>
              <a:rPr dirty="0" sz="3200" spc="-1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2A2A2A"/>
                </a:solidFill>
                <a:latin typeface="Lucida Sans Unicode"/>
                <a:cs typeface="Lucida Sans Unicode"/>
              </a:rPr>
              <a:t>second</a:t>
            </a:r>
            <a:r>
              <a:rPr dirty="0" sz="3200" spc="-1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2A2A2A"/>
                </a:solidFill>
                <a:latin typeface="Lucida Sans Unicode"/>
                <a:cs typeface="Lucida Sans Unicode"/>
              </a:rPr>
              <a:t>with</a:t>
            </a:r>
            <a:r>
              <a:rPr dirty="0" sz="3200" spc="-1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25">
                <a:solidFill>
                  <a:srgbClr val="2A2A2A"/>
                </a:solidFill>
                <a:latin typeface="Lucida Sans Unicode"/>
                <a:cs typeface="Lucida Sans Unicode"/>
              </a:rPr>
              <a:t>64 </a:t>
            </a:r>
            <a:r>
              <a:rPr dirty="0" sz="3200" spc="-10">
                <a:solidFill>
                  <a:srgbClr val="2A2A2A"/>
                </a:solidFill>
                <a:latin typeface="Lucida Sans Unicode"/>
                <a:cs typeface="Lucida Sans Unicode"/>
              </a:rPr>
              <a:t>units).</a:t>
            </a:r>
            <a:endParaRPr sz="3200">
              <a:latin typeface="Lucida Sans Unicode"/>
              <a:cs typeface="Lucida Sans Unicode"/>
            </a:endParaRPr>
          </a:p>
          <a:p>
            <a:pPr algn="ctr" marL="1652270">
              <a:lnSpc>
                <a:spcPct val="100000"/>
              </a:lnSpc>
              <a:spcBef>
                <a:spcPts val="565"/>
              </a:spcBef>
            </a:pPr>
            <a:r>
              <a:rPr dirty="0" sz="3200">
                <a:solidFill>
                  <a:srgbClr val="2A2A2A"/>
                </a:solidFill>
                <a:latin typeface="Lucida Sans Unicode"/>
                <a:cs typeface="Lucida Sans Unicode"/>
              </a:rPr>
              <a:t>Dropout</a:t>
            </a:r>
            <a:r>
              <a:rPr dirty="0" sz="3200" spc="-15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2A2A2A"/>
                </a:solidFill>
                <a:latin typeface="Lucida Sans Unicode"/>
                <a:cs typeface="Lucida Sans Unicode"/>
              </a:rPr>
              <a:t>layers</a:t>
            </a:r>
            <a:r>
              <a:rPr dirty="0" sz="3200" spc="-1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95">
                <a:solidFill>
                  <a:srgbClr val="2A2A2A"/>
                </a:solidFill>
                <a:latin typeface="Lucida Sans Unicode"/>
                <a:cs typeface="Lucida Sans Unicode"/>
              </a:rPr>
              <a:t>(0.2</a:t>
            </a:r>
            <a:r>
              <a:rPr dirty="0" sz="3200" spc="-1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2A2A2A"/>
                </a:solidFill>
                <a:latin typeface="Lucida Sans Unicode"/>
                <a:cs typeface="Lucida Sans Unicode"/>
              </a:rPr>
              <a:t>rate)</a:t>
            </a:r>
            <a:r>
              <a:rPr dirty="0" sz="3200" spc="-1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2A2A2A"/>
                </a:solidFill>
                <a:latin typeface="Lucida Sans Unicode"/>
                <a:cs typeface="Lucida Sans Unicode"/>
              </a:rPr>
              <a:t>after</a:t>
            </a:r>
            <a:r>
              <a:rPr dirty="0" sz="3200" spc="-1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2A2A2A"/>
                </a:solidFill>
                <a:latin typeface="Lucida Sans Unicode"/>
                <a:cs typeface="Lucida Sans Unicode"/>
              </a:rPr>
              <a:t>each</a:t>
            </a:r>
            <a:r>
              <a:rPr dirty="0" sz="3200" spc="-15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50">
                <a:solidFill>
                  <a:srgbClr val="2A2A2A"/>
                </a:solidFill>
                <a:latin typeface="Lucida Sans Unicode"/>
                <a:cs typeface="Lucida Sans Unicode"/>
              </a:rPr>
              <a:t>LSTM</a:t>
            </a:r>
            <a:r>
              <a:rPr dirty="0" sz="3200" spc="-1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2A2A2A"/>
                </a:solidFill>
                <a:latin typeface="Lucida Sans Unicode"/>
                <a:cs typeface="Lucida Sans Unicode"/>
              </a:rPr>
              <a:t>for</a:t>
            </a:r>
            <a:r>
              <a:rPr dirty="0" sz="3200" spc="-1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10">
                <a:solidFill>
                  <a:srgbClr val="2A2A2A"/>
                </a:solidFill>
                <a:latin typeface="Lucida Sans Unicode"/>
                <a:cs typeface="Lucida Sans Unicode"/>
              </a:rPr>
              <a:t>regularization.</a:t>
            </a:r>
            <a:endParaRPr sz="3200">
              <a:latin typeface="Lucida Sans Unicode"/>
              <a:cs typeface="Lucida Sans Unicode"/>
            </a:endParaRPr>
          </a:p>
          <a:p>
            <a:pPr algn="ctr" marL="2029460" marR="369570">
              <a:lnSpc>
                <a:spcPct val="114700"/>
              </a:lnSpc>
            </a:pPr>
            <a:r>
              <a:rPr dirty="0" sz="3200">
                <a:solidFill>
                  <a:srgbClr val="2A2A2A"/>
                </a:solidFill>
                <a:latin typeface="Lucida Sans Unicode"/>
                <a:cs typeface="Lucida Sans Unicode"/>
              </a:rPr>
              <a:t>Dense</a:t>
            </a:r>
            <a:r>
              <a:rPr dirty="0" sz="3200" spc="-18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20">
                <a:solidFill>
                  <a:srgbClr val="2A2A2A"/>
                </a:solidFill>
                <a:latin typeface="Lucida Sans Unicode"/>
                <a:cs typeface="Lucida Sans Unicode"/>
              </a:rPr>
              <a:t>layers:</a:t>
            </a:r>
            <a:r>
              <a:rPr dirty="0" sz="3200" spc="-17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2A2A2A"/>
                </a:solidFill>
                <a:latin typeface="Lucida Sans Unicode"/>
                <a:cs typeface="Lucida Sans Unicode"/>
              </a:rPr>
              <a:t>one</a:t>
            </a:r>
            <a:r>
              <a:rPr dirty="0" sz="3200" spc="-17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2A2A2A"/>
                </a:solidFill>
                <a:latin typeface="Lucida Sans Unicode"/>
                <a:cs typeface="Lucida Sans Unicode"/>
              </a:rPr>
              <a:t>hidden</a:t>
            </a:r>
            <a:r>
              <a:rPr dirty="0" sz="3200" spc="-18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2A2A2A"/>
                </a:solidFill>
                <a:latin typeface="Lucida Sans Unicode"/>
                <a:cs typeface="Lucida Sans Unicode"/>
              </a:rPr>
              <a:t>with</a:t>
            </a:r>
            <a:r>
              <a:rPr dirty="0" sz="3200" spc="-17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245">
                <a:solidFill>
                  <a:srgbClr val="2A2A2A"/>
                </a:solidFill>
                <a:latin typeface="Lucida Sans Unicode"/>
                <a:cs typeface="Lucida Sans Unicode"/>
              </a:rPr>
              <a:t>32</a:t>
            </a:r>
            <a:r>
              <a:rPr dirty="0" sz="3200" spc="-17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20">
                <a:solidFill>
                  <a:srgbClr val="2A2A2A"/>
                </a:solidFill>
                <a:latin typeface="Lucida Sans Unicode"/>
                <a:cs typeface="Lucida Sans Unicode"/>
              </a:rPr>
              <a:t>units</a:t>
            </a:r>
            <a:r>
              <a:rPr dirty="0" sz="3200" spc="-18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2A2A2A"/>
                </a:solidFill>
                <a:latin typeface="Lucida Sans Unicode"/>
                <a:cs typeface="Lucida Sans Unicode"/>
              </a:rPr>
              <a:t>(ReLU</a:t>
            </a:r>
            <a:r>
              <a:rPr dirty="0" sz="3200" spc="-17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2A2A2A"/>
                </a:solidFill>
                <a:latin typeface="Lucida Sans Unicode"/>
                <a:cs typeface="Lucida Sans Unicode"/>
              </a:rPr>
              <a:t>activation),</a:t>
            </a:r>
            <a:r>
              <a:rPr dirty="0" sz="3200" spc="-17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2A2A2A"/>
                </a:solidFill>
                <a:latin typeface="Lucida Sans Unicode"/>
                <a:cs typeface="Lucida Sans Unicode"/>
              </a:rPr>
              <a:t>output</a:t>
            </a:r>
            <a:r>
              <a:rPr dirty="0" sz="3200" spc="-18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2A2A2A"/>
                </a:solidFill>
                <a:latin typeface="Lucida Sans Unicode"/>
                <a:cs typeface="Lucida Sans Unicode"/>
              </a:rPr>
              <a:t>layer</a:t>
            </a:r>
            <a:r>
              <a:rPr dirty="0" sz="3200" spc="-17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2A2A2A"/>
                </a:solidFill>
                <a:latin typeface="Lucida Sans Unicode"/>
                <a:cs typeface="Lucida Sans Unicode"/>
              </a:rPr>
              <a:t>with</a:t>
            </a:r>
            <a:r>
              <a:rPr dirty="0" sz="3200" spc="-17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325">
                <a:solidFill>
                  <a:srgbClr val="2A2A2A"/>
                </a:solidFill>
                <a:latin typeface="Lucida Sans Unicode"/>
                <a:cs typeface="Lucida Sans Unicode"/>
              </a:rPr>
              <a:t>1</a:t>
            </a:r>
            <a:r>
              <a:rPr dirty="0" sz="3200" spc="-18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20">
                <a:solidFill>
                  <a:srgbClr val="2A2A2A"/>
                </a:solidFill>
                <a:latin typeface="Lucida Sans Unicode"/>
                <a:cs typeface="Lucida Sans Unicode"/>
              </a:rPr>
              <a:t>unit </a:t>
            </a:r>
            <a:r>
              <a:rPr dirty="0" sz="3200" spc="-10">
                <a:solidFill>
                  <a:srgbClr val="2A2A2A"/>
                </a:solidFill>
                <a:latin typeface="Lucida Sans Unicode"/>
                <a:cs typeface="Lucida Sans Unicode"/>
              </a:rPr>
              <a:t>(linear</a:t>
            </a:r>
            <a:r>
              <a:rPr dirty="0" sz="3200" spc="-1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2A2A2A"/>
                </a:solidFill>
                <a:latin typeface="Lucida Sans Unicode"/>
                <a:cs typeface="Lucida Sans Unicode"/>
              </a:rPr>
              <a:t>activation)</a:t>
            </a:r>
            <a:r>
              <a:rPr dirty="0" sz="3200" spc="-1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2A2A2A"/>
                </a:solidFill>
                <a:latin typeface="Lucida Sans Unicode"/>
                <a:cs typeface="Lucida Sans Unicode"/>
              </a:rPr>
              <a:t>for</a:t>
            </a:r>
            <a:r>
              <a:rPr dirty="0" sz="3200" spc="-1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95">
                <a:solidFill>
                  <a:srgbClr val="2A2A2A"/>
                </a:solidFill>
                <a:latin typeface="Lucida Sans Unicode"/>
                <a:cs typeface="Lucida Sans Unicode"/>
              </a:rPr>
              <a:t>RUL</a:t>
            </a:r>
            <a:r>
              <a:rPr dirty="0" sz="3200" spc="-1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10">
                <a:solidFill>
                  <a:srgbClr val="2A2A2A"/>
                </a:solidFill>
                <a:latin typeface="Lucida Sans Unicode"/>
                <a:cs typeface="Lucida Sans Unicode"/>
              </a:rPr>
              <a:t>prediction.</a:t>
            </a:r>
            <a:endParaRPr sz="3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28700"/>
              <a:ext cx="17262448" cy="92582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54798" y="0"/>
              <a:ext cx="6333200" cy="373685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063550" y="0"/>
              <a:ext cx="3224448" cy="595754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58176" y="344506"/>
            <a:ext cx="4314825" cy="6800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300" spc="-330">
                <a:solidFill>
                  <a:srgbClr val="000000"/>
                </a:solidFill>
                <a:latin typeface="Arial Black"/>
                <a:cs typeface="Arial Black"/>
              </a:rPr>
              <a:t>Training</a:t>
            </a:r>
            <a:r>
              <a:rPr dirty="0" sz="4300" spc="-425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4300" spc="-280">
                <a:solidFill>
                  <a:srgbClr val="000000"/>
                </a:solidFill>
                <a:latin typeface="Arial Black"/>
                <a:cs typeface="Arial Black"/>
              </a:rPr>
              <a:t>Details:</a:t>
            </a:r>
            <a:endParaRPr sz="4300">
              <a:latin typeface="Arial Black"/>
              <a:cs typeface="Arial Black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2165151" y="1699839"/>
            <a:ext cx="276860" cy="7367270"/>
            <a:chOff x="2165151" y="1699839"/>
            <a:chExt cx="276860" cy="7367270"/>
          </a:xfrm>
        </p:grpSpPr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65151" y="1699839"/>
              <a:ext cx="152400" cy="15239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65151" y="2290389"/>
              <a:ext cx="152400" cy="15239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65151" y="2880939"/>
              <a:ext cx="152400" cy="15239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65151" y="3471489"/>
              <a:ext cx="152400" cy="15239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65151" y="4062039"/>
              <a:ext cx="152400" cy="15239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65151" y="4652589"/>
              <a:ext cx="152400" cy="152399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65151" y="5243139"/>
              <a:ext cx="152400" cy="152399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89209" y="7114470"/>
              <a:ext cx="152400" cy="152399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89209" y="7714545"/>
              <a:ext cx="152400" cy="15239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89209" y="8314620"/>
              <a:ext cx="152400" cy="152399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89209" y="8914695"/>
              <a:ext cx="152400" cy="152399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445402" y="1401046"/>
            <a:ext cx="17854295" cy="78320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5636895" marR="3557270">
              <a:lnSpc>
                <a:spcPct val="115700"/>
              </a:lnSpc>
              <a:spcBef>
                <a:spcPts val="95"/>
              </a:spcBef>
            </a:pPr>
            <a:r>
              <a:rPr dirty="0" sz="3350">
                <a:latin typeface="Lucida Sans Unicode"/>
                <a:cs typeface="Lucida Sans Unicode"/>
              </a:rPr>
              <a:t>Loss</a:t>
            </a:r>
            <a:r>
              <a:rPr dirty="0" sz="3350" spc="-200">
                <a:latin typeface="Lucida Sans Unicode"/>
                <a:cs typeface="Lucida Sans Unicode"/>
              </a:rPr>
              <a:t> </a:t>
            </a:r>
            <a:r>
              <a:rPr dirty="0" sz="3350">
                <a:latin typeface="Lucida Sans Unicode"/>
                <a:cs typeface="Lucida Sans Unicode"/>
              </a:rPr>
              <a:t>function:</a:t>
            </a:r>
            <a:r>
              <a:rPr dirty="0" sz="3350" spc="-195">
                <a:latin typeface="Lucida Sans Unicode"/>
                <a:cs typeface="Lucida Sans Unicode"/>
              </a:rPr>
              <a:t> </a:t>
            </a:r>
            <a:r>
              <a:rPr dirty="0" sz="3350" spc="50">
                <a:latin typeface="Lucida Sans Unicode"/>
                <a:cs typeface="Lucida Sans Unicode"/>
              </a:rPr>
              <a:t>Mean</a:t>
            </a:r>
            <a:r>
              <a:rPr dirty="0" sz="3350" spc="-195">
                <a:latin typeface="Lucida Sans Unicode"/>
                <a:cs typeface="Lucida Sans Unicode"/>
              </a:rPr>
              <a:t> </a:t>
            </a:r>
            <a:r>
              <a:rPr dirty="0" sz="3350">
                <a:latin typeface="Lucida Sans Unicode"/>
                <a:cs typeface="Lucida Sans Unicode"/>
              </a:rPr>
              <a:t>Absolute</a:t>
            </a:r>
            <a:r>
              <a:rPr dirty="0" sz="3350" spc="-200">
                <a:latin typeface="Lucida Sans Unicode"/>
                <a:cs typeface="Lucida Sans Unicode"/>
              </a:rPr>
              <a:t> </a:t>
            </a:r>
            <a:r>
              <a:rPr dirty="0" sz="3350">
                <a:latin typeface="Lucida Sans Unicode"/>
                <a:cs typeface="Lucida Sans Unicode"/>
              </a:rPr>
              <a:t>Error</a:t>
            </a:r>
            <a:r>
              <a:rPr dirty="0" sz="3350" spc="-195">
                <a:latin typeface="Lucida Sans Unicode"/>
                <a:cs typeface="Lucida Sans Unicode"/>
              </a:rPr>
              <a:t> </a:t>
            </a:r>
            <a:r>
              <a:rPr dirty="0" sz="3350" spc="-10">
                <a:latin typeface="Lucida Sans Unicode"/>
                <a:cs typeface="Lucida Sans Unicode"/>
              </a:rPr>
              <a:t>(MAE). </a:t>
            </a:r>
            <a:r>
              <a:rPr dirty="0" sz="3350" spc="-60">
                <a:latin typeface="Lucida Sans Unicode"/>
                <a:cs typeface="Lucida Sans Unicode"/>
              </a:rPr>
              <a:t>Optimizer:</a:t>
            </a:r>
            <a:r>
              <a:rPr dirty="0" sz="3350" spc="-175">
                <a:latin typeface="Lucida Sans Unicode"/>
                <a:cs typeface="Lucida Sans Unicode"/>
              </a:rPr>
              <a:t> </a:t>
            </a:r>
            <a:r>
              <a:rPr dirty="0" sz="3350" spc="-25">
                <a:latin typeface="Lucida Sans Unicode"/>
                <a:cs typeface="Lucida Sans Unicode"/>
              </a:rPr>
              <a:t>Adam</a:t>
            </a:r>
            <a:r>
              <a:rPr dirty="0" sz="3350" spc="-180">
                <a:latin typeface="Lucida Sans Unicode"/>
                <a:cs typeface="Lucida Sans Unicode"/>
              </a:rPr>
              <a:t> </a:t>
            </a:r>
            <a:r>
              <a:rPr dirty="0" sz="3350">
                <a:latin typeface="Lucida Sans Unicode"/>
                <a:cs typeface="Lucida Sans Unicode"/>
              </a:rPr>
              <a:t>with</a:t>
            </a:r>
            <a:r>
              <a:rPr dirty="0" sz="3350" spc="-175">
                <a:latin typeface="Lucida Sans Unicode"/>
                <a:cs typeface="Lucida Sans Unicode"/>
              </a:rPr>
              <a:t> </a:t>
            </a:r>
            <a:r>
              <a:rPr dirty="0" sz="3350" spc="-35">
                <a:latin typeface="Lucida Sans Unicode"/>
                <a:cs typeface="Lucida Sans Unicode"/>
              </a:rPr>
              <a:t>learning</a:t>
            </a:r>
            <a:r>
              <a:rPr dirty="0" sz="3350" spc="-175">
                <a:latin typeface="Lucida Sans Unicode"/>
                <a:cs typeface="Lucida Sans Unicode"/>
              </a:rPr>
              <a:t> </a:t>
            </a:r>
            <a:r>
              <a:rPr dirty="0" sz="3350">
                <a:latin typeface="Lucida Sans Unicode"/>
                <a:cs typeface="Lucida Sans Unicode"/>
              </a:rPr>
              <a:t>rate</a:t>
            </a:r>
            <a:r>
              <a:rPr dirty="0" sz="3350" spc="-175">
                <a:latin typeface="Lucida Sans Unicode"/>
                <a:cs typeface="Lucida Sans Unicode"/>
              </a:rPr>
              <a:t> </a:t>
            </a:r>
            <a:r>
              <a:rPr dirty="0" sz="3350" spc="-10">
                <a:latin typeface="Lucida Sans Unicode"/>
                <a:cs typeface="Lucida Sans Unicode"/>
              </a:rPr>
              <a:t>0.001.</a:t>
            </a:r>
            <a:endParaRPr sz="3350">
              <a:latin typeface="Lucida Sans Unicode"/>
              <a:cs typeface="Lucida Sans Unicode"/>
            </a:endParaRPr>
          </a:p>
          <a:p>
            <a:pPr algn="ctr" marL="2071370">
              <a:lnSpc>
                <a:spcPct val="100000"/>
              </a:lnSpc>
              <a:spcBef>
                <a:spcPts val="630"/>
              </a:spcBef>
            </a:pPr>
            <a:r>
              <a:rPr dirty="0" sz="3350">
                <a:latin typeface="Lucida Sans Unicode"/>
                <a:cs typeface="Lucida Sans Unicode"/>
              </a:rPr>
              <a:t>Metrics:</a:t>
            </a:r>
            <a:r>
              <a:rPr dirty="0" sz="3350" spc="-160">
                <a:latin typeface="Lucida Sans Unicode"/>
                <a:cs typeface="Lucida Sans Unicode"/>
              </a:rPr>
              <a:t> </a:t>
            </a:r>
            <a:r>
              <a:rPr dirty="0" sz="3350" spc="50">
                <a:latin typeface="Lucida Sans Unicode"/>
                <a:cs typeface="Lucida Sans Unicode"/>
              </a:rPr>
              <a:t>Mean</a:t>
            </a:r>
            <a:r>
              <a:rPr dirty="0" sz="3350" spc="-155">
                <a:latin typeface="Lucida Sans Unicode"/>
                <a:cs typeface="Lucida Sans Unicode"/>
              </a:rPr>
              <a:t> </a:t>
            </a:r>
            <a:r>
              <a:rPr dirty="0" sz="3350" spc="45">
                <a:latin typeface="Lucida Sans Unicode"/>
                <a:cs typeface="Lucida Sans Unicode"/>
              </a:rPr>
              <a:t>Squared</a:t>
            </a:r>
            <a:r>
              <a:rPr dirty="0" sz="3350" spc="-155">
                <a:latin typeface="Lucida Sans Unicode"/>
                <a:cs typeface="Lucida Sans Unicode"/>
              </a:rPr>
              <a:t> </a:t>
            </a:r>
            <a:r>
              <a:rPr dirty="0" sz="3350">
                <a:latin typeface="Lucida Sans Unicode"/>
                <a:cs typeface="Lucida Sans Unicode"/>
              </a:rPr>
              <a:t>Error</a:t>
            </a:r>
            <a:r>
              <a:rPr dirty="0" sz="3350" spc="-160">
                <a:latin typeface="Lucida Sans Unicode"/>
                <a:cs typeface="Lucida Sans Unicode"/>
              </a:rPr>
              <a:t> </a:t>
            </a:r>
            <a:r>
              <a:rPr dirty="0" sz="3350" spc="55">
                <a:latin typeface="Lucida Sans Unicode"/>
                <a:cs typeface="Lucida Sans Unicode"/>
              </a:rPr>
              <a:t>(MSE).</a:t>
            </a:r>
            <a:endParaRPr sz="3350">
              <a:latin typeface="Lucida Sans Unicode"/>
              <a:cs typeface="Lucida Sans Unicode"/>
            </a:endParaRPr>
          </a:p>
          <a:p>
            <a:pPr algn="ctr" marL="2072005">
              <a:lnSpc>
                <a:spcPct val="100000"/>
              </a:lnSpc>
              <a:spcBef>
                <a:spcPts val="630"/>
              </a:spcBef>
            </a:pPr>
            <a:r>
              <a:rPr dirty="0" sz="3350" spc="-100">
                <a:latin typeface="Lucida Sans Unicode"/>
                <a:cs typeface="Lucida Sans Unicode"/>
              </a:rPr>
              <a:t>Training</a:t>
            </a:r>
            <a:r>
              <a:rPr dirty="0" sz="3350" spc="-195">
                <a:latin typeface="Lucida Sans Unicode"/>
                <a:cs typeface="Lucida Sans Unicode"/>
              </a:rPr>
              <a:t> </a:t>
            </a:r>
            <a:r>
              <a:rPr dirty="0" sz="3350">
                <a:latin typeface="Lucida Sans Unicode"/>
                <a:cs typeface="Lucida Sans Unicode"/>
              </a:rPr>
              <a:t>data</a:t>
            </a:r>
            <a:r>
              <a:rPr dirty="0" sz="3350" spc="-190">
                <a:latin typeface="Lucida Sans Unicode"/>
                <a:cs typeface="Lucida Sans Unicode"/>
              </a:rPr>
              <a:t> </a:t>
            </a:r>
            <a:r>
              <a:rPr dirty="0" sz="3350" spc="-25">
                <a:latin typeface="Lucida Sans Unicode"/>
                <a:cs typeface="Lucida Sans Unicode"/>
              </a:rPr>
              <a:t>split:</a:t>
            </a:r>
            <a:r>
              <a:rPr dirty="0" sz="3350" spc="-195">
                <a:latin typeface="Lucida Sans Unicode"/>
                <a:cs typeface="Lucida Sans Unicode"/>
              </a:rPr>
              <a:t> </a:t>
            </a:r>
            <a:r>
              <a:rPr dirty="0" sz="3350" spc="235">
                <a:latin typeface="Lucida Sans Unicode"/>
                <a:cs typeface="Lucida Sans Unicode"/>
              </a:rPr>
              <a:t>80%</a:t>
            </a:r>
            <a:r>
              <a:rPr dirty="0" sz="3350" spc="-190">
                <a:latin typeface="Lucida Sans Unicode"/>
                <a:cs typeface="Lucida Sans Unicode"/>
              </a:rPr>
              <a:t> </a:t>
            </a:r>
            <a:r>
              <a:rPr dirty="0" sz="3350" spc="-30">
                <a:latin typeface="Lucida Sans Unicode"/>
                <a:cs typeface="Lucida Sans Unicode"/>
              </a:rPr>
              <a:t>train,</a:t>
            </a:r>
            <a:r>
              <a:rPr dirty="0" sz="3350" spc="-195">
                <a:latin typeface="Lucida Sans Unicode"/>
                <a:cs typeface="Lucida Sans Unicode"/>
              </a:rPr>
              <a:t> </a:t>
            </a:r>
            <a:r>
              <a:rPr dirty="0" sz="3350" spc="175">
                <a:latin typeface="Lucida Sans Unicode"/>
                <a:cs typeface="Lucida Sans Unicode"/>
              </a:rPr>
              <a:t>20%</a:t>
            </a:r>
            <a:r>
              <a:rPr dirty="0" sz="3350" spc="-190">
                <a:latin typeface="Lucida Sans Unicode"/>
                <a:cs typeface="Lucida Sans Unicode"/>
              </a:rPr>
              <a:t> </a:t>
            </a:r>
            <a:r>
              <a:rPr dirty="0" sz="3350" spc="-10">
                <a:latin typeface="Lucida Sans Unicode"/>
                <a:cs typeface="Lucida Sans Unicode"/>
              </a:rPr>
              <a:t>validation.</a:t>
            </a:r>
            <a:endParaRPr sz="3350">
              <a:latin typeface="Lucida Sans Unicode"/>
              <a:cs typeface="Lucida Sans Unicode"/>
            </a:endParaRPr>
          </a:p>
          <a:p>
            <a:pPr algn="ctr" marL="2072005">
              <a:lnSpc>
                <a:spcPct val="100000"/>
              </a:lnSpc>
              <a:spcBef>
                <a:spcPts val="630"/>
              </a:spcBef>
            </a:pPr>
            <a:r>
              <a:rPr dirty="0" sz="3350" spc="114">
                <a:latin typeface="Lucida Sans Unicode"/>
                <a:cs typeface="Lucida Sans Unicode"/>
              </a:rPr>
              <a:t>Batch</a:t>
            </a:r>
            <a:r>
              <a:rPr dirty="0" sz="3350" spc="-235">
                <a:latin typeface="Lucida Sans Unicode"/>
                <a:cs typeface="Lucida Sans Unicode"/>
              </a:rPr>
              <a:t> </a:t>
            </a:r>
            <a:r>
              <a:rPr dirty="0" sz="3350" spc="-130">
                <a:latin typeface="Lucida Sans Unicode"/>
                <a:cs typeface="Lucida Sans Unicode"/>
              </a:rPr>
              <a:t>size:</a:t>
            </a:r>
            <a:r>
              <a:rPr dirty="0" sz="3350" spc="-235">
                <a:latin typeface="Lucida Sans Unicode"/>
                <a:cs typeface="Lucida Sans Unicode"/>
              </a:rPr>
              <a:t> </a:t>
            </a:r>
            <a:r>
              <a:rPr dirty="0" sz="3350" spc="-25">
                <a:latin typeface="Lucida Sans Unicode"/>
                <a:cs typeface="Lucida Sans Unicode"/>
              </a:rPr>
              <a:t>64.</a:t>
            </a:r>
            <a:endParaRPr sz="3350">
              <a:latin typeface="Lucida Sans Unicode"/>
              <a:cs typeface="Lucida Sans Unicode"/>
            </a:endParaRPr>
          </a:p>
          <a:p>
            <a:pPr algn="ctr" marL="2072005">
              <a:lnSpc>
                <a:spcPct val="100000"/>
              </a:lnSpc>
              <a:spcBef>
                <a:spcPts val="630"/>
              </a:spcBef>
            </a:pPr>
            <a:r>
              <a:rPr dirty="0" sz="3350">
                <a:latin typeface="Lucida Sans Unicode"/>
                <a:cs typeface="Lucida Sans Unicode"/>
              </a:rPr>
              <a:t>Epochs:</a:t>
            </a:r>
            <a:r>
              <a:rPr dirty="0" sz="3350" spc="-150">
                <a:latin typeface="Lucida Sans Unicode"/>
                <a:cs typeface="Lucida Sans Unicode"/>
              </a:rPr>
              <a:t> </a:t>
            </a:r>
            <a:r>
              <a:rPr dirty="0" sz="3350" spc="85">
                <a:latin typeface="Lucida Sans Unicode"/>
                <a:cs typeface="Lucida Sans Unicode"/>
              </a:rPr>
              <a:t>Up</a:t>
            </a:r>
            <a:r>
              <a:rPr dirty="0" sz="3350" spc="-150">
                <a:latin typeface="Lucida Sans Unicode"/>
                <a:cs typeface="Lucida Sans Unicode"/>
              </a:rPr>
              <a:t> </a:t>
            </a:r>
            <a:r>
              <a:rPr dirty="0" sz="3350" spc="50">
                <a:latin typeface="Lucida Sans Unicode"/>
                <a:cs typeface="Lucida Sans Unicode"/>
              </a:rPr>
              <a:t>to</a:t>
            </a:r>
            <a:r>
              <a:rPr dirty="0" sz="3350" spc="-150">
                <a:latin typeface="Lucida Sans Unicode"/>
                <a:cs typeface="Lucida Sans Unicode"/>
              </a:rPr>
              <a:t> </a:t>
            </a:r>
            <a:r>
              <a:rPr dirty="0" sz="3350">
                <a:latin typeface="Lucida Sans Unicode"/>
                <a:cs typeface="Lucida Sans Unicode"/>
              </a:rPr>
              <a:t>100</a:t>
            </a:r>
            <a:r>
              <a:rPr dirty="0" sz="3350" spc="-150">
                <a:latin typeface="Lucida Sans Unicode"/>
                <a:cs typeface="Lucida Sans Unicode"/>
              </a:rPr>
              <a:t> </a:t>
            </a:r>
            <a:r>
              <a:rPr dirty="0" sz="3350">
                <a:latin typeface="Lucida Sans Unicode"/>
                <a:cs typeface="Lucida Sans Unicode"/>
              </a:rPr>
              <a:t>with</a:t>
            </a:r>
            <a:r>
              <a:rPr dirty="0" sz="3350" spc="-150">
                <a:latin typeface="Lucida Sans Unicode"/>
                <a:cs typeface="Lucida Sans Unicode"/>
              </a:rPr>
              <a:t> </a:t>
            </a:r>
            <a:r>
              <a:rPr dirty="0" sz="3350">
                <a:latin typeface="Lucida Sans Unicode"/>
                <a:cs typeface="Lucida Sans Unicode"/>
              </a:rPr>
              <a:t>early</a:t>
            </a:r>
            <a:r>
              <a:rPr dirty="0" sz="3350" spc="-150">
                <a:latin typeface="Lucida Sans Unicode"/>
                <a:cs typeface="Lucida Sans Unicode"/>
              </a:rPr>
              <a:t> </a:t>
            </a:r>
            <a:r>
              <a:rPr dirty="0" sz="3350" spc="-30">
                <a:latin typeface="Lucida Sans Unicode"/>
                <a:cs typeface="Lucida Sans Unicode"/>
              </a:rPr>
              <a:t>stopping</a:t>
            </a:r>
            <a:r>
              <a:rPr dirty="0" sz="3350" spc="-145">
                <a:latin typeface="Lucida Sans Unicode"/>
                <a:cs typeface="Lucida Sans Unicode"/>
              </a:rPr>
              <a:t> </a:t>
            </a:r>
            <a:r>
              <a:rPr dirty="0" sz="3350">
                <a:latin typeface="Lucida Sans Unicode"/>
                <a:cs typeface="Lucida Sans Unicode"/>
              </a:rPr>
              <a:t>patience</a:t>
            </a:r>
            <a:r>
              <a:rPr dirty="0" sz="3350" spc="-150">
                <a:latin typeface="Lucida Sans Unicode"/>
                <a:cs typeface="Lucida Sans Unicode"/>
              </a:rPr>
              <a:t> </a:t>
            </a:r>
            <a:r>
              <a:rPr dirty="0" sz="3350">
                <a:latin typeface="Lucida Sans Unicode"/>
                <a:cs typeface="Lucida Sans Unicode"/>
              </a:rPr>
              <a:t>of</a:t>
            </a:r>
            <a:r>
              <a:rPr dirty="0" sz="3350" spc="-150">
                <a:latin typeface="Lucida Sans Unicode"/>
                <a:cs typeface="Lucida Sans Unicode"/>
              </a:rPr>
              <a:t> </a:t>
            </a:r>
            <a:r>
              <a:rPr dirty="0" sz="3350" spc="-95">
                <a:latin typeface="Lucida Sans Unicode"/>
                <a:cs typeface="Lucida Sans Unicode"/>
              </a:rPr>
              <a:t>10</a:t>
            </a:r>
            <a:r>
              <a:rPr dirty="0" sz="3350" spc="-150">
                <a:latin typeface="Lucida Sans Unicode"/>
                <a:cs typeface="Lucida Sans Unicode"/>
              </a:rPr>
              <a:t> </a:t>
            </a:r>
            <a:r>
              <a:rPr dirty="0" sz="3350">
                <a:latin typeface="Lucida Sans Unicode"/>
                <a:cs typeface="Lucida Sans Unicode"/>
              </a:rPr>
              <a:t>(restores</a:t>
            </a:r>
            <a:r>
              <a:rPr dirty="0" sz="3350" spc="-150">
                <a:latin typeface="Lucida Sans Unicode"/>
                <a:cs typeface="Lucida Sans Unicode"/>
              </a:rPr>
              <a:t> </a:t>
            </a:r>
            <a:r>
              <a:rPr dirty="0" sz="3350">
                <a:latin typeface="Lucida Sans Unicode"/>
                <a:cs typeface="Lucida Sans Unicode"/>
              </a:rPr>
              <a:t>best</a:t>
            </a:r>
            <a:r>
              <a:rPr dirty="0" sz="3350" spc="-150">
                <a:latin typeface="Lucida Sans Unicode"/>
                <a:cs typeface="Lucida Sans Unicode"/>
              </a:rPr>
              <a:t> </a:t>
            </a:r>
            <a:r>
              <a:rPr dirty="0" sz="3350" spc="-10">
                <a:latin typeface="Lucida Sans Unicode"/>
                <a:cs typeface="Lucida Sans Unicode"/>
              </a:rPr>
              <a:t>weights).</a:t>
            </a:r>
            <a:endParaRPr sz="3350">
              <a:latin typeface="Lucida Sans Unicode"/>
              <a:cs typeface="Lucida Sans Unicode"/>
            </a:endParaRPr>
          </a:p>
          <a:p>
            <a:pPr algn="ctr" marL="2072005">
              <a:lnSpc>
                <a:spcPct val="100000"/>
              </a:lnSpc>
              <a:spcBef>
                <a:spcPts val="630"/>
              </a:spcBef>
            </a:pPr>
            <a:r>
              <a:rPr dirty="0" sz="3350" spc="-25">
                <a:latin typeface="Lucida Sans Unicode"/>
                <a:cs typeface="Lucida Sans Unicode"/>
              </a:rPr>
              <a:t>Learning</a:t>
            </a:r>
            <a:r>
              <a:rPr dirty="0" sz="3350" spc="-95">
                <a:latin typeface="Lucida Sans Unicode"/>
                <a:cs typeface="Lucida Sans Unicode"/>
              </a:rPr>
              <a:t> </a:t>
            </a:r>
            <a:r>
              <a:rPr dirty="0" sz="3350">
                <a:latin typeface="Lucida Sans Unicode"/>
                <a:cs typeface="Lucida Sans Unicode"/>
              </a:rPr>
              <a:t>rate</a:t>
            </a:r>
            <a:r>
              <a:rPr dirty="0" sz="3350" spc="-95">
                <a:latin typeface="Lucida Sans Unicode"/>
                <a:cs typeface="Lucida Sans Unicode"/>
              </a:rPr>
              <a:t> </a:t>
            </a:r>
            <a:r>
              <a:rPr dirty="0" sz="3350">
                <a:latin typeface="Lucida Sans Unicode"/>
                <a:cs typeface="Lucida Sans Unicode"/>
              </a:rPr>
              <a:t>reduction</a:t>
            </a:r>
            <a:r>
              <a:rPr dirty="0" sz="3350" spc="-95">
                <a:latin typeface="Lucida Sans Unicode"/>
                <a:cs typeface="Lucida Sans Unicode"/>
              </a:rPr>
              <a:t> </a:t>
            </a:r>
            <a:r>
              <a:rPr dirty="0" sz="3350">
                <a:latin typeface="Lucida Sans Unicode"/>
                <a:cs typeface="Lucida Sans Unicode"/>
              </a:rPr>
              <a:t>on</a:t>
            </a:r>
            <a:r>
              <a:rPr dirty="0" sz="3350" spc="-95">
                <a:latin typeface="Lucida Sans Unicode"/>
                <a:cs typeface="Lucida Sans Unicode"/>
              </a:rPr>
              <a:t> </a:t>
            </a:r>
            <a:r>
              <a:rPr dirty="0" sz="3350">
                <a:latin typeface="Lucida Sans Unicode"/>
                <a:cs typeface="Lucida Sans Unicode"/>
              </a:rPr>
              <a:t>plateau</a:t>
            </a:r>
            <a:r>
              <a:rPr dirty="0" sz="3350" spc="-95">
                <a:latin typeface="Lucida Sans Unicode"/>
                <a:cs typeface="Lucida Sans Unicode"/>
              </a:rPr>
              <a:t> </a:t>
            </a:r>
            <a:r>
              <a:rPr dirty="0" sz="3350">
                <a:latin typeface="Lucida Sans Unicode"/>
                <a:cs typeface="Lucida Sans Unicode"/>
              </a:rPr>
              <a:t>(factor</a:t>
            </a:r>
            <a:r>
              <a:rPr dirty="0" sz="3350" spc="-95">
                <a:latin typeface="Lucida Sans Unicode"/>
                <a:cs typeface="Lucida Sans Unicode"/>
              </a:rPr>
              <a:t> </a:t>
            </a:r>
            <a:r>
              <a:rPr dirty="0" sz="3350" spc="-130">
                <a:latin typeface="Lucida Sans Unicode"/>
                <a:cs typeface="Lucida Sans Unicode"/>
              </a:rPr>
              <a:t>0.5,</a:t>
            </a:r>
            <a:r>
              <a:rPr dirty="0" sz="3350" spc="-95">
                <a:latin typeface="Lucida Sans Unicode"/>
                <a:cs typeface="Lucida Sans Unicode"/>
              </a:rPr>
              <a:t> </a:t>
            </a:r>
            <a:r>
              <a:rPr dirty="0" sz="3350">
                <a:latin typeface="Lucida Sans Unicode"/>
                <a:cs typeface="Lucida Sans Unicode"/>
              </a:rPr>
              <a:t>patience</a:t>
            </a:r>
            <a:r>
              <a:rPr dirty="0" sz="3350" spc="-95">
                <a:latin typeface="Lucida Sans Unicode"/>
                <a:cs typeface="Lucida Sans Unicode"/>
              </a:rPr>
              <a:t> </a:t>
            </a:r>
            <a:r>
              <a:rPr dirty="0" sz="3350" spc="-25">
                <a:latin typeface="Lucida Sans Unicode"/>
                <a:cs typeface="Lucida Sans Unicode"/>
              </a:rPr>
              <a:t>5).</a:t>
            </a:r>
            <a:endParaRPr sz="33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830"/>
              </a:spcBef>
            </a:pPr>
            <a:r>
              <a:rPr dirty="0" sz="4700" spc="-320">
                <a:latin typeface="Arial Black"/>
                <a:cs typeface="Arial Black"/>
              </a:rPr>
              <a:t>Workflow:</a:t>
            </a:r>
            <a:endParaRPr sz="4700">
              <a:latin typeface="Arial Black"/>
              <a:cs typeface="Arial Black"/>
            </a:endParaRPr>
          </a:p>
          <a:p>
            <a:pPr algn="ctr" marL="1026794">
              <a:lnSpc>
                <a:spcPct val="100000"/>
              </a:lnSpc>
              <a:spcBef>
                <a:spcPts val="3195"/>
              </a:spcBef>
            </a:pPr>
            <a:r>
              <a:rPr dirty="0" sz="3400">
                <a:latin typeface="Lucida Sans Unicode"/>
                <a:cs typeface="Lucida Sans Unicode"/>
              </a:rPr>
              <a:t>Preprocessed</a:t>
            </a:r>
            <a:r>
              <a:rPr dirty="0" sz="3400" spc="-140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sequences</a:t>
            </a:r>
            <a:r>
              <a:rPr dirty="0" sz="3400" spc="-140">
                <a:latin typeface="Lucida Sans Unicode"/>
                <a:cs typeface="Lucida Sans Unicode"/>
              </a:rPr>
              <a:t> </a:t>
            </a:r>
            <a:r>
              <a:rPr dirty="0" sz="3400" spc="-10">
                <a:latin typeface="Lucida Sans Unicode"/>
                <a:cs typeface="Lucida Sans Unicode"/>
              </a:rPr>
              <a:t>(from</a:t>
            </a:r>
            <a:r>
              <a:rPr dirty="0" sz="3400" spc="-140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Milestone</a:t>
            </a:r>
            <a:r>
              <a:rPr dirty="0" sz="3400" spc="-135">
                <a:latin typeface="Lucida Sans Unicode"/>
                <a:cs typeface="Lucida Sans Unicode"/>
              </a:rPr>
              <a:t> </a:t>
            </a:r>
            <a:r>
              <a:rPr dirty="0" sz="3400" spc="-180">
                <a:latin typeface="Lucida Sans Unicode"/>
                <a:cs typeface="Lucida Sans Unicode"/>
              </a:rPr>
              <a:t>1)</a:t>
            </a:r>
            <a:r>
              <a:rPr dirty="0" sz="3400" spc="-140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fed</a:t>
            </a:r>
            <a:r>
              <a:rPr dirty="0" sz="3400" spc="-140">
                <a:latin typeface="Lucida Sans Unicode"/>
                <a:cs typeface="Lucida Sans Unicode"/>
              </a:rPr>
              <a:t> </a:t>
            </a:r>
            <a:r>
              <a:rPr dirty="0" sz="3400" spc="-10">
                <a:latin typeface="Lucida Sans Unicode"/>
                <a:cs typeface="Lucida Sans Unicode"/>
              </a:rPr>
              <a:t>into</a:t>
            </a:r>
            <a:r>
              <a:rPr dirty="0" sz="3400" spc="-140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the</a:t>
            </a:r>
            <a:r>
              <a:rPr dirty="0" sz="3400" spc="-135">
                <a:latin typeface="Lucida Sans Unicode"/>
                <a:cs typeface="Lucida Sans Unicode"/>
              </a:rPr>
              <a:t> </a:t>
            </a:r>
            <a:r>
              <a:rPr dirty="0" sz="3400" spc="-10">
                <a:latin typeface="Lucida Sans Unicode"/>
                <a:cs typeface="Lucida Sans Unicode"/>
              </a:rPr>
              <a:t>model.</a:t>
            </a:r>
            <a:endParaRPr sz="3400">
              <a:latin typeface="Lucida Sans Unicode"/>
              <a:cs typeface="Lucida Sans Unicode"/>
            </a:endParaRPr>
          </a:p>
          <a:p>
            <a:pPr algn="ctr" marL="1026794">
              <a:lnSpc>
                <a:spcPct val="100000"/>
              </a:lnSpc>
              <a:spcBef>
                <a:spcPts val="645"/>
              </a:spcBef>
            </a:pPr>
            <a:r>
              <a:rPr dirty="0" sz="3400">
                <a:latin typeface="Lucida Sans Unicode"/>
                <a:cs typeface="Lucida Sans Unicode"/>
              </a:rPr>
              <a:t>Model</a:t>
            </a:r>
            <a:r>
              <a:rPr dirty="0" sz="3400" spc="-155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trained</a:t>
            </a:r>
            <a:r>
              <a:rPr dirty="0" sz="3400" spc="-150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with</a:t>
            </a:r>
            <a:r>
              <a:rPr dirty="0" sz="3400" spc="-150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callbacks</a:t>
            </a:r>
            <a:r>
              <a:rPr dirty="0" sz="3400" spc="-150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for</a:t>
            </a:r>
            <a:r>
              <a:rPr dirty="0" sz="3400" spc="-150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adaptive</a:t>
            </a:r>
            <a:r>
              <a:rPr dirty="0" sz="3400" spc="-150">
                <a:latin typeface="Lucida Sans Unicode"/>
                <a:cs typeface="Lucida Sans Unicode"/>
              </a:rPr>
              <a:t> </a:t>
            </a:r>
            <a:r>
              <a:rPr dirty="0" sz="3400" spc="-45">
                <a:latin typeface="Lucida Sans Unicode"/>
                <a:cs typeface="Lucida Sans Unicode"/>
              </a:rPr>
              <a:t>learning</a:t>
            </a:r>
            <a:r>
              <a:rPr dirty="0" sz="3400" spc="-150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and</a:t>
            </a:r>
            <a:r>
              <a:rPr dirty="0" sz="3400" spc="-150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early</a:t>
            </a:r>
            <a:r>
              <a:rPr dirty="0" sz="3400" spc="-150">
                <a:latin typeface="Lucida Sans Unicode"/>
                <a:cs typeface="Lucida Sans Unicode"/>
              </a:rPr>
              <a:t> </a:t>
            </a:r>
            <a:r>
              <a:rPr dirty="0" sz="3400" spc="-10">
                <a:latin typeface="Lucida Sans Unicode"/>
                <a:cs typeface="Lucida Sans Unicode"/>
              </a:rPr>
              <a:t>stopping.</a:t>
            </a:r>
            <a:endParaRPr sz="3400">
              <a:latin typeface="Lucida Sans Unicode"/>
              <a:cs typeface="Lucida Sans Unicode"/>
            </a:endParaRPr>
          </a:p>
          <a:p>
            <a:pPr marL="2747645" marR="1713230" indent="1124585">
              <a:lnSpc>
                <a:spcPct val="115799"/>
              </a:lnSpc>
            </a:pPr>
            <a:r>
              <a:rPr dirty="0" sz="3400" spc="45">
                <a:latin typeface="Lucida Sans Unicode"/>
                <a:cs typeface="Lucida Sans Unicode"/>
              </a:rPr>
              <a:t>Evaluated</a:t>
            </a:r>
            <a:r>
              <a:rPr dirty="0" sz="3400" spc="-185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performance</a:t>
            </a:r>
            <a:r>
              <a:rPr dirty="0" sz="3400" spc="-180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with</a:t>
            </a:r>
            <a:r>
              <a:rPr dirty="0" sz="3400" spc="-185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validation</a:t>
            </a:r>
            <a:r>
              <a:rPr dirty="0" sz="3400" spc="-180">
                <a:latin typeface="Lucida Sans Unicode"/>
                <a:cs typeface="Lucida Sans Unicode"/>
              </a:rPr>
              <a:t> </a:t>
            </a:r>
            <a:r>
              <a:rPr dirty="0" sz="3400" spc="85">
                <a:latin typeface="Lucida Sans Unicode"/>
                <a:cs typeface="Lucida Sans Unicode"/>
              </a:rPr>
              <a:t>MAE</a:t>
            </a:r>
            <a:r>
              <a:rPr dirty="0" sz="3400" spc="-185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and</a:t>
            </a:r>
            <a:r>
              <a:rPr dirty="0" sz="3400" spc="-180">
                <a:latin typeface="Lucida Sans Unicode"/>
                <a:cs typeface="Lucida Sans Unicode"/>
              </a:rPr>
              <a:t> </a:t>
            </a:r>
            <a:r>
              <a:rPr dirty="0" sz="3400" spc="90">
                <a:latin typeface="Lucida Sans Unicode"/>
                <a:cs typeface="Lucida Sans Unicode"/>
              </a:rPr>
              <a:t>MSE. </a:t>
            </a:r>
            <a:r>
              <a:rPr dirty="0" sz="3400">
                <a:latin typeface="Lucida Sans Unicode"/>
                <a:cs typeface="Lucida Sans Unicode"/>
              </a:rPr>
              <a:t>Output</a:t>
            </a:r>
            <a:r>
              <a:rPr dirty="0" sz="3400" spc="-135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predictions</a:t>
            </a:r>
            <a:r>
              <a:rPr dirty="0" sz="3400" spc="-135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compared</a:t>
            </a:r>
            <a:r>
              <a:rPr dirty="0" sz="3400" spc="-135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visually</a:t>
            </a:r>
            <a:r>
              <a:rPr dirty="0" sz="3400" spc="-135">
                <a:latin typeface="Lucida Sans Unicode"/>
                <a:cs typeface="Lucida Sans Unicode"/>
              </a:rPr>
              <a:t> </a:t>
            </a:r>
            <a:r>
              <a:rPr dirty="0" sz="3400" spc="-50">
                <a:latin typeface="Lucida Sans Unicode"/>
                <a:cs typeface="Lucida Sans Unicode"/>
              </a:rPr>
              <a:t>against</a:t>
            </a:r>
            <a:r>
              <a:rPr dirty="0" sz="3400" spc="-130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actual</a:t>
            </a:r>
            <a:r>
              <a:rPr dirty="0" sz="3400" spc="-135">
                <a:latin typeface="Lucida Sans Unicode"/>
                <a:cs typeface="Lucida Sans Unicode"/>
              </a:rPr>
              <a:t> </a:t>
            </a:r>
            <a:r>
              <a:rPr dirty="0" sz="3400" spc="105">
                <a:latin typeface="Lucida Sans Unicode"/>
                <a:cs typeface="Lucida Sans Unicode"/>
              </a:rPr>
              <a:t>RUL</a:t>
            </a:r>
            <a:r>
              <a:rPr dirty="0" sz="3400" spc="-135">
                <a:latin typeface="Lucida Sans Unicode"/>
                <a:cs typeface="Lucida Sans Unicode"/>
              </a:rPr>
              <a:t> </a:t>
            </a:r>
            <a:r>
              <a:rPr dirty="0" sz="3400" spc="-10">
                <a:latin typeface="Lucida Sans Unicode"/>
                <a:cs typeface="Lucida Sans Unicode"/>
              </a:rPr>
              <a:t>values.</a:t>
            </a:r>
            <a:endParaRPr sz="3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68235" y="1081399"/>
            <a:ext cx="2046605" cy="608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555"/>
              </a:lnSpc>
            </a:pPr>
            <a:r>
              <a:rPr dirty="0" sz="4800" spc="100">
                <a:solidFill>
                  <a:srgbClr val="2A2A2A"/>
                </a:solidFill>
                <a:latin typeface="Arial MT"/>
                <a:cs typeface="Arial MT"/>
              </a:rPr>
              <a:t>Milesto</a:t>
            </a:r>
            <a:endParaRPr sz="4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01872" y="916527"/>
            <a:ext cx="15198090" cy="7562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800"/>
              <a:t>ne</a:t>
            </a:r>
            <a:r>
              <a:rPr dirty="0" sz="4800" spc="-70"/>
              <a:t> </a:t>
            </a:r>
            <a:r>
              <a:rPr dirty="0" sz="4800"/>
              <a:t>3:</a:t>
            </a:r>
            <a:r>
              <a:rPr dirty="0" sz="4800" spc="-65"/>
              <a:t> </a:t>
            </a:r>
            <a:r>
              <a:rPr dirty="0" sz="4800" spc="75"/>
              <a:t>Model</a:t>
            </a:r>
            <a:r>
              <a:rPr dirty="0" sz="4800" spc="-65"/>
              <a:t> </a:t>
            </a:r>
            <a:r>
              <a:rPr dirty="0" sz="4800" spc="55"/>
              <a:t>Evaluation</a:t>
            </a:r>
            <a:r>
              <a:rPr dirty="0" sz="4800" spc="-70"/>
              <a:t> </a:t>
            </a:r>
            <a:r>
              <a:rPr dirty="0" sz="4800" spc="130"/>
              <a:t>and</a:t>
            </a:r>
            <a:r>
              <a:rPr dirty="0" sz="4800" spc="-70"/>
              <a:t> </a:t>
            </a:r>
            <a:r>
              <a:rPr dirty="0" sz="4800" spc="229"/>
              <a:t>Performance</a:t>
            </a:r>
            <a:r>
              <a:rPr dirty="0" sz="4800" spc="-70"/>
              <a:t> </a:t>
            </a:r>
            <a:r>
              <a:rPr dirty="0" sz="4800" spc="65"/>
              <a:t>Assessment</a:t>
            </a:r>
            <a:endParaRPr sz="4800"/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0"/>
            <a:ext cx="6917690" cy="10287000"/>
            <a:chOff x="0" y="0"/>
            <a:chExt cx="6917690" cy="1028700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831128"/>
              <a:ext cx="6917379" cy="745587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403740" cy="463008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8861" y="3861752"/>
              <a:ext cx="152400" cy="15239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58475" y="6324396"/>
              <a:ext cx="161924" cy="16192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58475" y="6981621"/>
              <a:ext cx="161924" cy="16192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58475" y="7638846"/>
              <a:ext cx="161924" cy="161924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5"/>
              <a:t>Objective:</a:t>
            </a:r>
          </a:p>
          <a:p>
            <a:pPr marL="2310765">
              <a:lnSpc>
                <a:spcPct val="100000"/>
              </a:lnSpc>
              <a:spcBef>
                <a:spcPts val="4645"/>
              </a:spcBef>
            </a:pPr>
            <a:r>
              <a:rPr dirty="0" sz="3400" spc="-50">
                <a:latin typeface="Lucida Sans Unicode"/>
                <a:cs typeface="Lucida Sans Unicode"/>
              </a:rPr>
              <a:t>Assess</a:t>
            </a:r>
            <a:r>
              <a:rPr dirty="0" sz="3400" spc="-180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prediction</a:t>
            </a:r>
            <a:r>
              <a:rPr dirty="0" sz="3400" spc="-175">
                <a:latin typeface="Lucida Sans Unicode"/>
                <a:cs typeface="Lucida Sans Unicode"/>
              </a:rPr>
              <a:t> </a:t>
            </a:r>
            <a:r>
              <a:rPr dirty="0" sz="3400" spc="60">
                <a:latin typeface="Lucida Sans Unicode"/>
                <a:cs typeface="Lucida Sans Unicode"/>
              </a:rPr>
              <a:t>accuracy</a:t>
            </a:r>
            <a:r>
              <a:rPr dirty="0" sz="3400" spc="-175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of</a:t>
            </a:r>
            <a:r>
              <a:rPr dirty="0" sz="3400" spc="-175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the</a:t>
            </a:r>
            <a:r>
              <a:rPr dirty="0" sz="3400" spc="-175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trained</a:t>
            </a:r>
            <a:r>
              <a:rPr dirty="0" sz="3400" spc="-175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model</a:t>
            </a:r>
            <a:r>
              <a:rPr dirty="0" sz="3400" spc="-180">
                <a:latin typeface="Lucida Sans Unicode"/>
                <a:cs typeface="Lucida Sans Unicode"/>
              </a:rPr>
              <a:t> </a:t>
            </a:r>
            <a:r>
              <a:rPr dirty="0" sz="3400" spc="-10">
                <a:latin typeface="Lucida Sans Unicode"/>
                <a:cs typeface="Lucida Sans Unicode"/>
              </a:rPr>
              <a:t>on</a:t>
            </a:r>
            <a:r>
              <a:rPr dirty="0" sz="3400" spc="-175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the</a:t>
            </a:r>
            <a:r>
              <a:rPr dirty="0" sz="3400" spc="-175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test</a:t>
            </a:r>
            <a:r>
              <a:rPr dirty="0" sz="3400" spc="-175">
                <a:latin typeface="Lucida Sans Unicode"/>
                <a:cs typeface="Lucida Sans Unicode"/>
              </a:rPr>
              <a:t> </a:t>
            </a:r>
            <a:r>
              <a:rPr dirty="0" sz="3400" spc="-10">
                <a:latin typeface="Lucida Sans Unicode"/>
                <a:cs typeface="Lucida Sans Unicode"/>
              </a:rPr>
              <a:t>dataset.</a:t>
            </a:r>
            <a:endParaRPr sz="3400">
              <a:latin typeface="Lucida Sans Unicode"/>
              <a:cs typeface="Lucida Sans Unicode"/>
            </a:endParaRPr>
          </a:p>
          <a:p>
            <a:pPr marL="58419">
              <a:lnSpc>
                <a:spcPct val="100000"/>
              </a:lnSpc>
              <a:spcBef>
                <a:spcPts val="4725"/>
              </a:spcBef>
            </a:pPr>
            <a:r>
              <a:rPr dirty="0" spc="-490"/>
              <a:t>Key</a:t>
            </a:r>
            <a:r>
              <a:rPr dirty="0" spc="-465"/>
              <a:t> </a:t>
            </a:r>
            <a:r>
              <a:rPr dirty="0" spc="-305"/>
              <a:t>Metrics:</a:t>
            </a:r>
          </a:p>
          <a:p>
            <a:pPr algn="ctr" marL="1172210">
              <a:lnSpc>
                <a:spcPct val="100000"/>
              </a:lnSpc>
              <a:spcBef>
                <a:spcPts val="4675"/>
              </a:spcBef>
            </a:pPr>
            <a:r>
              <a:rPr dirty="0" sz="3700">
                <a:latin typeface="Lucida Sans Unicode"/>
                <a:cs typeface="Lucida Sans Unicode"/>
              </a:rPr>
              <a:t>Root</a:t>
            </a:r>
            <a:r>
              <a:rPr dirty="0" sz="3700" spc="-130">
                <a:latin typeface="Lucida Sans Unicode"/>
                <a:cs typeface="Lucida Sans Unicode"/>
              </a:rPr>
              <a:t> </a:t>
            </a:r>
            <a:r>
              <a:rPr dirty="0" sz="3700">
                <a:latin typeface="Lucida Sans Unicode"/>
                <a:cs typeface="Lucida Sans Unicode"/>
              </a:rPr>
              <a:t>Mean</a:t>
            </a:r>
            <a:r>
              <a:rPr dirty="0" sz="3700" spc="-125">
                <a:latin typeface="Lucida Sans Unicode"/>
                <a:cs typeface="Lucida Sans Unicode"/>
              </a:rPr>
              <a:t> </a:t>
            </a:r>
            <a:r>
              <a:rPr dirty="0" sz="3700">
                <a:latin typeface="Lucida Sans Unicode"/>
                <a:cs typeface="Lucida Sans Unicode"/>
              </a:rPr>
              <a:t>Square</a:t>
            </a:r>
            <a:r>
              <a:rPr dirty="0" sz="3700" spc="-130">
                <a:latin typeface="Lucida Sans Unicode"/>
                <a:cs typeface="Lucida Sans Unicode"/>
              </a:rPr>
              <a:t> </a:t>
            </a:r>
            <a:r>
              <a:rPr dirty="0" sz="3700">
                <a:latin typeface="Lucida Sans Unicode"/>
                <a:cs typeface="Lucida Sans Unicode"/>
              </a:rPr>
              <a:t>Error</a:t>
            </a:r>
            <a:r>
              <a:rPr dirty="0" sz="3700" spc="-125">
                <a:latin typeface="Lucida Sans Unicode"/>
                <a:cs typeface="Lucida Sans Unicode"/>
              </a:rPr>
              <a:t> </a:t>
            </a:r>
            <a:r>
              <a:rPr dirty="0" sz="3700" spc="65">
                <a:latin typeface="Lucida Sans Unicode"/>
                <a:cs typeface="Lucida Sans Unicode"/>
              </a:rPr>
              <a:t>(RMSE):</a:t>
            </a:r>
            <a:r>
              <a:rPr dirty="0" sz="3700" spc="-125">
                <a:latin typeface="Lucida Sans Unicode"/>
                <a:cs typeface="Lucida Sans Unicode"/>
              </a:rPr>
              <a:t> </a:t>
            </a:r>
            <a:r>
              <a:rPr dirty="0" sz="3700" spc="-265">
                <a:latin typeface="Lucida Sans Unicode"/>
                <a:cs typeface="Lucida Sans Unicode"/>
              </a:rPr>
              <a:t>15.9971</a:t>
            </a:r>
            <a:r>
              <a:rPr dirty="0" sz="3700" spc="-130">
                <a:latin typeface="Lucida Sans Unicode"/>
                <a:cs typeface="Lucida Sans Unicode"/>
              </a:rPr>
              <a:t> </a:t>
            </a:r>
            <a:r>
              <a:rPr dirty="0" sz="3700" spc="-10">
                <a:latin typeface="Lucida Sans Unicode"/>
                <a:cs typeface="Lucida Sans Unicode"/>
              </a:rPr>
              <a:t>cycles.</a:t>
            </a:r>
            <a:endParaRPr sz="3700">
              <a:latin typeface="Lucida Sans Unicode"/>
              <a:cs typeface="Lucida Sans Unicode"/>
            </a:endParaRPr>
          </a:p>
          <a:p>
            <a:pPr algn="ctr" marL="1172845">
              <a:lnSpc>
                <a:spcPct val="100000"/>
              </a:lnSpc>
              <a:spcBef>
                <a:spcPts val="735"/>
              </a:spcBef>
            </a:pPr>
            <a:r>
              <a:rPr dirty="0" sz="3700">
                <a:latin typeface="Lucida Sans Unicode"/>
                <a:cs typeface="Lucida Sans Unicode"/>
              </a:rPr>
              <a:t>Mean</a:t>
            </a:r>
            <a:r>
              <a:rPr dirty="0" sz="3700" spc="-185">
                <a:latin typeface="Lucida Sans Unicode"/>
                <a:cs typeface="Lucida Sans Unicode"/>
              </a:rPr>
              <a:t> </a:t>
            </a:r>
            <a:r>
              <a:rPr dirty="0" sz="3700">
                <a:latin typeface="Lucida Sans Unicode"/>
                <a:cs typeface="Lucida Sans Unicode"/>
              </a:rPr>
              <a:t>Absolute</a:t>
            </a:r>
            <a:r>
              <a:rPr dirty="0" sz="3700" spc="-180">
                <a:latin typeface="Lucida Sans Unicode"/>
                <a:cs typeface="Lucida Sans Unicode"/>
              </a:rPr>
              <a:t> </a:t>
            </a:r>
            <a:r>
              <a:rPr dirty="0" sz="3700">
                <a:latin typeface="Lucida Sans Unicode"/>
                <a:cs typeface="Lucida Sans Unicode"/>
              </a:rPr>
              <a:t>Error</a:t>
            </a:r>
            <a:r>
              <a:rPr dirty="0" sz="3700" spc="-180">
                <a:latin typeface="Lucida Sans Unicode"/>
                <a:cs typeface="Lucida Sans Unicode"/>
              </a:rPr>
              <a:t> </a:t>
            </a:r>
            <a:r>
              <a:rPr dirty="0" sz="3700">
                <a:latin typeface="Lucida Sans Unicode"/>
                <a:cs typeface="Lucida Sans Unicode"/>
              </a:rPr>
              <a:t>(MAE):</a:t>
            </a:r>
            <a:r>
              <a:rPr dirty="0" sz="3700" spc="-180">
                <a:latin typeface="Lucida Sans Unicode"/>
                <a:cs typeface="Lucida Sans Unicode"/>
              </a:rPr>
              <a:t> </a:t>
            </a:r>
            <a:r>
              <a:rPr dirty="0" sz="3700" spc="-285">
                <a:latin typeface="Lucida Sans Unicode"/>
                <a:cs typeface="Lucida Sans Unicode"/>
              </a:rPr>
              <a:t>13.1381</a:t>
            </a:r>
            <a:r>
              <a:rPr dirty="0" sz="3700" spc="-180">
                <a:latin typeface="Lucida Sans Unicode"/>
                <a:cs typeface="Lucida Sans Unicode"/>
              </a:rPr>
              <a:t> </a:t>
            </a:r>
            <a:r>
              <a:rPr dirty="0" sz="3700" spc="-10">
                <a:latin typeface="Lucida Sans Unicode"/>
                <a:cs typeface="Lucida Sans Unicode"/>
              </a:rPr>
              <a:t>cycles.</a:t>
            </a:r>
            <a:endParaRPr sz="3700">
              <a:latin typeface="Lucida Sans Unicode"/>
              <a:cs typeface="Lucida Sans Unicode"/>
            </a:endParaRPr>
          </a:p>
          <a:p>
            <a:pPr algn="ctr" marL="1172210">
              <a:lnSpc>
                <a:spcPct val="100000"/>
              </a:lnSpc>
              <a:spcBef>
                <a:spcPts val="735"/>
              </a:spcBef>
            </a:pPr>
            <a:r>
              <a:rPr dirty="0" sz="3700" spc="-165">
                <a:latin typeface="Lucida Sans Unicode"/>
                <a:cs typeface="Lucida Sans Unicode"/>
              </a:rPr>
              <a:t>R²</a:t>
            </a:r>
            <a:r>
              <a:rPr dirty="0" sz="3700" spc="-170">
                <a:latin typeface="Lucida Sans Unicode"/>
                <a:cs typeface="Lucida Sans Unicode"/>
              </a:rPr>
              <a:t> </a:t>
            </a:r>
            <a:r>
              <a:rPr dirty="0" sz="3700">
                <a:latin typeface="Lucida Sans Unicode"/>
                <a:cs typeface="Lucida Sans Unicode"/>
              </a:rPr>
              <a:t>Score:</a:t>
            </a:r>
            <a:r>
              <a:rPr dirty="0" sz="3700" spc="-165">
                <a:latin typeface="Lucida Sans Unicode"/>
                <a:cs typeface="Lucida Sans Unicode"/>
              </a:rPr>
              <a:t> </a:t>
            </a:r>
            <a:r>
              <a:rPr dirty="0" sz="3700" spc="-105">
                <a:latin typeface="Lucida Sans Unicode"/>
                <a:cs typeface="Lucida Sans Unicode"/>
              </a:rPr>
              <a:t>0.6958</a:t>
            </a:r>
            <a:r>
              <a:rPr dirty="0" sz="3700" spc="-165">
                <a:latin typeface="Lucida Sans Unicode"/>
                <a:cs typeface="Lucida Sans Unicode"/>
              </a:rPr>
              <a:t> </a:t>
            </a:r>
            <a:r>
              <a:rPr dirty="0" sz="3700" spc="-65">
                <a:latin typeface="Lucida Sans Unicode"/>
                <a:cs typeface="Lucida Sans Unicode"/>
              </a:rPr>
              <a:t>(explains</a:t>
            </a:r>
            <a:r>
              <a:rPr dirty="0" sz="3700" spc="-170">
                <a:latin typeface="Lucida Sans Unicode"/>
                <a:cs typeface="Lucida Sans Unicode"/>
              </a:rPr>
              <a:t> </a:t>
            </a:r>
            <a:r>
              <a:rPr dirty="0" sz="3700">
                <a:latin typeface="Lucida Sans Unicode"/>
                <a:cs typeface="Lucida Sans Unicode"/>
              </a:rPr>
              <a:t>nearly</a:t>
            </a:r>
            <a:r>
              <a:rPr dirty="0" sz="3700" spc="-165">
                <a:latin typeface="Lucida Sans Unicode"/>
                <a:cs typeface="Lucida Sans Unicode"/>
              </a:rPr>
              <a:t> </a:t>
            </a:r>
            <a:r>
              <a:rPr dirty="0" sz="3700" spc="125">
                <a:latin typeface="Lucida Sans Unicode"/>
                <a:cs typeface="Lucida Sans Unicode"/>
              </a:rPr>
              <a:t>70%</a:t>
            </a:r>
            <a:r>
              <a:rPr dirty="0" sz="3700" spc="-165">
                <a:latin typeface="Lucida Sans Unicode"/>
                <a:cs typeface="Lucida Sans Unicode"/>
              </a:rPr>
              <a:t> </a:t>
            </a:r>
            <a:r>
              <a:rPr dirty="0" sz="3700">
                <a:latin typeface="Lucida Sans Unicode"/>
                <a:cs typeface="Lucida Sans Unicode"/>
              </a:rPr>
              <a:t>variance</a:t>
            </a:r>
            <a:r>
              <a:rPr dirty="0" sz="3700" spc="-170">
                <a:latin typeface="Lucida Sans Unicode"/>
                <a:cs typeface="Lucida Sans Unicode"/>
              </a:rPr>
              <a:t> </a:t>
            </a:r>
            <a:r>
              <a:rPr dirty="0" sz="3700" spc="-65">
                <a:latin typeface="Lucida Sans Unicode"/>
                <a:cs typeface="Lucida Sans Unicode"/>
              </a:rPr>
              <a:t>in</a:t>
            </a:r>
            <a:r>
              <a:rPr dirty="0" sz="3700" spc="-165">
                <a:latin typeface="Lucida Sans Unicode"/>
                <a:cs typeface="Lucida Sans Unicode"/>
              </a:rPr>
              <a:t> </a:t>
            </a:r>
            <a:r>
              <a:rPr dirty="0" sz="3700" spc="-10">
                <a:latin typeface="Lucida Sans Unicode"/>
                <a:cs typeface="Lucida Sans Unicode"/>
              </a:rPr>
              <a:t>RUL).</a:t>
            </a:r>
            <a:endParaRPr sz="3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EF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30281" rIns="0" bIns="0" rtlCol="0" vert="horz">
            <a:spAutoFit/>
          </a:bodyPr>
          <a:lstStyle/>
          <a:p>
            <a:pPr marL="183515">
              <a:lnSpc>
                <a:spcPct val="100000"/>
              </a:lnSpc>
              <a:spcBef>
                <a:spcPts val="100"/>
              </a:spcBef>
            </a:pPr>
            <a:r>
              <a:rPr dirty="0" sz="5200" spc="-315">
                <a:solidFill>
                  <a:srgbClr val="000000"/>
                </a:solidFill>
                <a:latin typeface="Arial Black"/>
                <a:cs typeface="Arial Black"/>
              </a:rPr>
              <a:t>Evaluation</a:t>
            </a:r>
            <a:r>
              <a:rPr dirty="0" sz="5200" spc="-509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5200" spc="-445">
                <a:solidFill>
                  <a:srgbClr val="000000"/>
                </a:solidFill>
                <a:latin typeface="Arial Black"/>
                <a:cs typeface="Arial Black"/>
              </a:rPr>
              <a:t>Process:</a:t>
            </a:r>
            <a:endParaRPr sz="5200">
              <a:latin typeface="Arial Black"/>
              <a:cs typeface="Arial Black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9564" y="2842786"/>
            <a:ext cx="152400" cy="1523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9564" y="3442861"/>
            <a:ext cx="152400" cy="1523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9564" y="4042936"/>
            <a:ext cx="152400" cy="15239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9564" y="4643011"/>
            <a:ext cx="152400" cy="1523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4855" y="6969779"/>
            <a:ext cx="154570" cy="15457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4855" y="8187021"/>
            <a:ext cx="154570" cy="15457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39191" y="2535440"/>
            <a:ext cx="18235930" cy="658304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algn="just" marL="4821555">
              <a:lnSpc>
                <a:spcPct val="100000"/>
              </a:lnSpc>
              <a:spcBef>
                <a:spcPts val="745"/>
              </a:spcBef>
            </a:pPr>
            <a:r>
              <a:rPr dirty="0" sz="3400">
                <a:latin typeface="Lucida Sans Unicode"/>
                <a:cs typeface="Lucida Sans Unicode"/>
              </a:rPr>
              <a:t>Generated</a:t>
            </a:r>
            <a:r>
              <a:rPr dirty="0" sz="3400" spc="-135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predictions</a:t>
            </a:r>
            <a:r>
              <a:rPr dirty="0" sz="3400" spc="-135">
                <a:latin typeface="Lucida Sans Unicode"/>
                <a:cs typeface="Lucida Sans Unicode"/>
              </a:rPr>
              <a:t> </a:t>
            </a:r>
            <a:r>
              <a:rPr dirty="0" sz="3400" spc="-10">
                <a:latin typeface="Lucida Sans Unicode"/>
                <a:cs typeface="Lucida Sans Unicode"/>
              </a:rPr>
              <a:t>on</a:t>
            </a:r>
            <a:r>
              <a:rPr dirty="0" sz="3400" spc="-135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the</a:t>
            </a:r>
            <a:r>
              <a:rPr dirty="0" sz="3400" spc="-130">
                <a:latin typeface="Lucida Sans Unicode"/>
                <a:cs typeface="Lucida Sans Unicode"/>
              </a:rPr>
              <a:t> held-</a:t>
            </a:r>
            <a:r>
              <a:rPr dirty="0" sz="3400">
                <a:latin typeface="Lucida Sans Unicode"/>
                <a:cs typeface="Lucida Sans Unicode"/>
              </a:rPr>
              <a:t>out</a:t>
            </a:r>
            <a:r>
              <a:rPr dirty="0" sz="3400" spc="-135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test</a:t>
            </a:r>
            <a:r>
              <a:rPr dirty="0" sz="3400" spc="-135">
                <a:latin typeface="Lucida Sans Unicode"/>
                <a:cs typeface="Lucida Sans Unicode"/>
              </a:rPr>
              <a:t> </a:t>
            </a:r>
            <a:r>
              <a:rPr dirty="0" sz="3400" spc="-20">
                <a:latin typeface="Lucida Sans Unicode"/>
                <a:cs typeface="Lucida Sans Unicode"/>
              </a:rPr>
              <a:t>set.</a:t>
            </a:r>
            <a:endParaRPr sz="3400">
              <a:latin typeface="Lucida Sans Unicode"/>
              <a:cs typeface="Lucida Sans Unicode"/>
            </a:endParaRPr>
          </a:p>
          <a:p>
            <a:pPr algn="just" marL="1161415" marR="5080" indent="33655">
              <a:lnSpc>
                <a:spcPct val="115799"/>
              </a:lnSpc>
            </a:pPr>
            <a:r>
              <a:rPr dirty="0" sz="3400">
                <a:latin typeface="Lucida Sans Unicode"/>
                <a:cs typeface="Lucida Sans Unicode"/>
              </a:rPr>
              <a:t>Compared</a:t>
            </a:r>
            <a:r>
              <a:rPr dirty="0" sz="3400" spc="-180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predicted</a:t>
            </a:r>
            <a:r>
              <a:rPr dirty="0" sz="3400" spc="-180">
                <a:latin typeface="Lucida Sans Unicode"/>
                <a:cs typeface="Lucida Sans Unicode"/>
              </a:rPr>
              <a:t> </a:t>
            </a:r>
            <a:r>
              <a:rPr dirty="0" sz="3400" spc="70">
                <a:latin typeface="Lucida Sans Unicode"/>
                <a:cs typeface="Lucida Sans Unicode"/>
              </a:rPr>
              <a:t>vs</a:t>
            </a:r>
            <a:r>
              <a:rPr dirty="0" sz="3400" spc="-180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actual</a:t>
            </a:r>
            <a:r>
              <a:rPr dirty="0" sz="3400" spc="-180">
                <a:latin typeface="Lucida Sans Unicode"/>
                <a:cs typeface="Lucida Sans Unicode"/>
              </a:rPr>
              <a:t> </a:t>
            </a:r>
            <a:r>
              <a:rPr dirty="0" sz="3400" spc="105">
                <a:latin typeface="Lucida Sans Unicode"/>
                <a:cs typeface="Lucida Sans Unicode"/>
              </a:rPr>
              <a:t>RUL</a:t>
            </a:r>
            <a:r>
              <a:rPr dirty="0" sz="3400" spc="-180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with</a:t>
            </a:r>
            <a:r>
              <a:rPr dirty="0" sz="3400" spc="-180">
                <a:latin typeface="Lucida Sans Unicode"/>
                <a:cs typeface="Lucida Sans Unicode"/>
              </a:rPr>
              <a:t> </a:t>
            </a:r>
            <a:r>
              <a:rPr dirty="0" sz="3400" spc="45">
                <a:latin typeface="Lucida Sans Unicode"/>
                <a:cs typeface="Lucida Sans Unicode"/>
              </a:rPr>
              <a:t>scatter</a:t>
            </a:r>
            <a:r>
              <a:rPr dirty="0" sz="3400" spc="-180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plots</a:t>
            </a:r>
            <a:r>
              <a:rPr dirty="0" sz="3400" spc="-180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and</a:t>
            </a:r>
            <a:r>
              <a:rPr dirty="0" sz="3400" spc="-180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time</a:t>
            </a:r>
            <a:r>
              <a:rPr dirty="0" sz="3400" spc="-180">
                <a:latin typeface="Lucida Sans Unicode"/>
                <a:cs typeface="Lucida Sans Unicode"/>
              </a:rPr>
              <a:t> </a:t>
            </a:r>
            <a:r>
              <a:rPr dirty="0" sz="3400" spc="-25">
                <a:latin typeface="Lucida Sans Unicode"/>
                <a:cs typeface="Lucida Sans Unicode"/>
              </a:rPr>
              <a:t>series</a:t>
            </a:r>
            <a:r>
              <a:rPr dirty="0" sz="3400" spc="-180">
                <a:latin typeface="Lucida Sans Unicode"/>
                <a:cs typeface="Lucida Sans Unicode"/>
              </a:rPr>
              <a:t> </a:t>
            </a:r>
            <a:r>
              <a:rPr dirty="0" sz="3400" spc="-10">
                <a:latin typeface="Lucida Sans Unicode"/>
                <a:cs typeface="Lucida Sans Unicode"/>
              </a:rPr>
              <a:t>visualization </a:t>
            </a:r>
            <a:r>
              <a:rPr dirty="0" sz="3400" spc="-40">
                <a:latin typeface="Lucida Sans Unicode"/>
                <a:cs typeface="Lucida Sans Unicode"/>
              </a:rPr>
              <a:t>Analyzed</a:t>
            </a:r>
            <a:r>
              <a:rPr dirty="0" sz="3400" spc="-210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prediction</a:t>
            </a:r>
            <a:r>
              <a:rPr dirty="0" sz="3400" spc="-195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error</a:t>
            </a:r>
            <a:r>
              <a:rPr dirty="0" sz="3400" spc="-200">
                <a:latin typeface="Lucida Sans Unicode"/>
                <a:cs typeface="Lucida Sans Unicode"/>
              </a:rPr>
              <a:t> </a:t>
            </a:r>
            <a:r>
              <a:rPr dirty="0" sz="3400" spc="-10">
                <a:latin typeface="Lucida Sans Unicode"/>
                <a:cs typeface="Lucida Sans Unicode"/>
              </a:rPr>
              <a:t>distribution</a:t>
            </a:r>
            <a:r>
              <a:rPr dirty="0" sz="3400" spc="-195">
                <a:latin typeface="Lucida Sans Unicode"/>
                <a:cs typeface="Lucida Sans Unicode"/>
              </a:rPr>
              <a:t> </a:t>
            </a:r>
            <a:r>
              <a:rPr dirty="0" sz="3400" spc="-80">
                <a:latin typeface="Lucida Sans Unicode"/>
                <a:cs typeface="Lucida Sans Unicode"/>
              </a:rPr>
              <a:t>showing</a:t>
            </a:r>
            <a:r>
              <a:rPr dirty="0" sz="3400" spc="-190">
                <a:latin typeface="Lucida Sans Unicode"/>
                <a:cs typeface="Lucida Sans Unicode"/>
              </a:rPr>
              <a:t> </a:t>
            </a:r>
            <a:r>
              <a:rPr dirty="0" sz="3400" spc="-10">
                <a:latin typeface="Lucida Sans Unicode"/>
                <a:cs typeface="Lucida Sans Unicode"/>
              </a:rPr>
              <a:t>mean</a:t>
            </a:r>
            <a:r>
              <a:rPr dirty="0" sz="3400" spc="-200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error</a:t>
            </a:r>
            <a:r>
              <a:rPr dirty="0" sz="3400" spc="-195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and</a:t>
            </a:r>
            <a:r>
              <a:rPr dirty="0" sz="3400" spc="-200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standard</a:t>
            </a:r>
            <a:r>
              <a:rPr dirty="0" sz="3400" spc="-195">
                <a:latin typeface="Lucida Sans Unicode"/>
                <a:cs typeface="Lucida Sans Unicode"/>
              </a:rPr>
              <a:t> </a:t>
            </a:r>
            <a:r>
              <a:rPr dirty="0" sz="3400" spc="-10">
                <a:latin typeface="Lucida Sans Unicode"/>
                <a:cs typeface="Lucida Sans Unicode"/>
              </a:rPr>
              <a:t>deviation </a:t>
            </a:r>
            <a:r>
              <a:rPr dirty="0" sz="3400" spc="-20">
                <a:latin typeface="Lucida Sans Unicode"/>
                <a:cs typeface="Lucida Sans Unicode"/>
              </a:rPr>
              <a:t>Checked</a:t>
            </a:r>
            <a:r>
              <a:rPr dirty="0" sz="3400" spc="-210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for</a:t>
            </a:r>
            <a:r>
              <a:rPr dirty="0" sz="3400" spc="-210">
                <a:latin typeface="Lucida Sans Unicode"/>
                <a:cs typeface="Lucida Sans Unicode"/>
              </a:rPr>
              <a:t> </a:t>
            </a:r>
            <a:r>
              <a:rPr dirty="0" sz="3400" spc="-10">
                <a:latin typeface="Lucida Sans Unicode"/>
                <a:cs typeface="Lucida Sans Unicode"/>
              </a:rPr>
              <a:t>overfitting</a:t>
            </a:r>
            <a:r>
              <a:rPr dirty="0" sz="3400" spc="-204">
                <a:latin typeface="Lucida Sans Unicode"/>
                <a:cs typeface="Lucida Sans Unicode"/>
              </a:rPr>
              <a:t> </a:t>
            </a:r>
            <a:r>
              <a:rPr dirty="0" sz="3400" spc="70">
                <a:latin typeface="Lucida Sans Unicode"/>
                <a:cs typeface="Lucida Sans Unicode"/>
              </a:rPr>
              <a:t>by</a:t>
            </a:r>
            <a:r>
              <a:rPr dirty="0" sz="3400" spc="-210">
                <a:latin typeface="Lucida Sans Unicode"/>
                <a:cs typeface="Lucida Sans Unicode"/>
              </a:rPr>
              <a:t> </a:t>
            </a:r>
            <a:r>
              <a:rPr dirty="0" sz="3400" spc="-35">
                <a:latin typeface="Lucida Sans Unicode"/>
                <a:cs typeface="Lucida Sans Unicode"/>
              </a:rPr>
              <a:t>comparing</a:t>
            </a:r>
            <a:r>
              <a:rPr dirty="0" sz="3400" spc="-210">
                <a:latin typeface="Lucida Sans Unicode"/>
                <a:cs typeface="Lucida Sans Unicode"/>
              </a:rPr>
              <a:t> </a:t>
            </a:r>
            <a:r>
              <a:rPr dirty="0" sz="3400" spc="-50">
                <a:latin typeface="Lucida Sans Unicode"/>
                <a:cs typeface="Lucida Sans Unicode"/>
              </a:rPr>
              <a:t>training</a:t>
            </a:r>
            <a:r>
              <a:rPr dirty="0" sz="3400" spc="-204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and</a:t>
            </a:r>
            <a:r>
              <a:rPr dirty="0" sz="3400" spc="-210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validation</a:t>
            </a:r>
            <a:r>
              <a:rPr dirty="0" sz="3400" spc="-204">
                <a:latin typeface="Lucida Sans Unicode"/>
                <a:cs typeface="Lucida Sans Unicode"/>
              </a:rPr>
              <a:t> </a:t>
            </a:r>
            <a:r>
              <a:rPr dirty="0" sz="3400" spc="-25">
                <a:latin typeface="Lucida Sans Unicode"/>
                <a:cs typeface="Lucida Sans Unicode"/>
              </a:rPr>
              <a:t>losses</a:t>
            </a:r>
            <a:r>
              <a:rPr dirty="0" sz="3400" spc="-210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across</a:t>
            </a:r>
            <a:r>
              <a:rPr dirty="0" sz="3400" spc="-210">
                <a:latin typeface="Lucida Sans Unicode"/>
                <a:cs typeface="Lucida Sans Unicode"/>
              </a:rPr>
              <a:t> </a:t>
            </a:r>
            <a:r>
              <a:rPr dirty="0" sz="3400" spc="-10">
                <a:latin typeface="Lucida Sans Unicode"/>
                <a:cs typeface="Lucida Sans Unicode"/>
              </a:rPr>
              <a:t>epochs</a:t>
            </a:r>
            <a:endParaRPr sz="3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660"/>
              </a:spcBef>
            </a:pPr>
            <a:r>
              <a:rPr dirty="0" sz="5200" spc="-345">
                <a:latin typeface="Arial Black"/>
                <a:cs typeface="Arial Black"/>
              </a:rPr>
              <a:t>Outcome:</a:t>
            </a:r>
            <a:endParaRPr sz="5200">
              <a:latin typeface="Arial Black"/>
              <a:cs typeface="Arial Black"/>
            </a:endParaRPr>
          </a:p>
          <a:p>
            <a:pPr marL="8651240" marR="1040765" indent="-6756400">
              <a:lnSpc>
                <a:spcPct val="115799"/>
              </a:lnSpc>
              <a:spcBef>
                <a:spcPts val="2660"/>
              </a:spcBef>
            </a:pPr>
            <a:r>
              <a:rPr dirty="0" sz="3450">
                <a:latin typeface="Lucida Sans Unicode"/>
                <a:cs typeface="Lucida Sans Unicode"/>
              </a:rPr>
              <a:t>Model</a:t>
            </a:r>
            <a:r>
              <a:rPr dirty="0" sz="3450" spc="-135">
                <a:latin typeface="Lucida Sans Unicode"/>
                <a:cs typeface="Lucida Sans Unicode"/>
              </a:rPr>
              <a:t> </a:t>
            </a:r>
            <a:r>
              <a:rPr dirty="0" sz="3450">
                <a:latin typeface="Lucida Sans Unicode"/>
                <a:cs typeface="Lucida Sans Unicode"/>
              </a:rPr>
              <a:t>demonstrates</a:t>
            </a:r>
            <a:r>
              <a:rPr dirty="0" sz="3450" spc="-135">
                <a:latin typeface="Lucida Sans Unicode"/>
                <a:cs typeface="Lucida Sans Unicode"/>
              </a:rPr>
              <a:t> </a:t>
            </a:r>
            <a:r>
              <a:rPr dirty="0" sz="3450" spc="-70">
                <a:latin typeface="Lucida Sans Unicode"/>
                <a:cs typeface="Lucida Sans Unicode"/>
              </a:rPr>
              <a:t>good</a:t>
            </a:r>
            <a:r>
              <a:rPr dirty="0" sz="3450" spc="-135">
                <a:latin typeface="Lucida Sans Unicode"/>
                <a:cs typeface="Lucida Sans Unicode"/>
              </a:rPr>
              <a:t> </a:t>
            </a:r>
            <a:r>
              <a:rPr dirty="0" sz="3450">
                <a:latin typeface="Lucida Sans Unicode"/>
                <a:cs typeface="Lucida Sans Unicode"/>
              </a:rPr>
              <a:t>predictive</a:t>
            </a:r>
            <a:r>
              <a:rPr dirty="0" sz="3450" spc="-135">
                <a:latin typeface="Lucida Sans Unicode"/>
                <a:cs typeface="Lucida Sans Unicode"/>
              </a:rPr>
              <a:t> </a:t>
            </a:r>
            <a:r>
              <a:rPr dirty="0" sz="3450">
                <a:latin typeface="Lucida Sans Unicode"/>
                <a:cs typeface="Lucida Sans Unicode"/>
              </a:rPr>
              <a:t>performance</a:t>
            </a:r>
            <a:r>
              <a:rPr dirty="0" sz="3450" spc="-130">
                <a:latin typeface="Lucida Sans Unicode"/>
                <a:cs typeface="Lucida Sans Unicode"/>
              </a:rPr>
              <a:t> </a:t>
            </a:r>
            <a:r>
              <a:rPr dirty="0" sz="3450">
                <a:latin typeface="Lucida Sans Unicode"/>
                <a:cs typeface="Lucida Sans Unicode"/>
              </a:rPr>
              <a:t>with</a:t>
            </a:r>
            <a:r>
              <a:rPr dirty="0" sz="3450" spc="-135">
                <a:latin typeface="Lucida Sans Unicode"/>
                <a:cs typeface="Lucida Sans Unicode"/>
              </a:rPr>
              <a:t> </a:t>
            </a:r>
            <a:r>
              <a:rPr dirty="0" sz="3450" spc="50">
                <a:latin typeface="Lucida Sans Unicode"/>
                <a:cs typeface="Lucida Sans Unicode"/>
              </a:rPr>
              <a:t>acceptable</a:t>
            </a:r>
            <a:r>
              <a:rPr dirty="0" sz="3450" spc="-135">
                <a:latin typeface="Lucida Sans Unicode"/>
                <a:cs typeface="Lucida Sans Unicode"/>
              </a:rPr>
              <a:t> </a:t>
            </a:r>
            <a:r>
              <a:rPr dirty="0" sz="3450" spc="-20">
                <a:latin typeface="Lucida Sans Unicode"/>
                <a:cs typeface="Lucida Sans Unicode"/>
              </a:rPr>
              <a:t>error </a:t>
            </a:r>
            <a:r>
              <a:rPr dirty="0" sz="3450" spc="-10">
                <a:latin typeface="Lucida Sans Unicode"/>
                <a:cs typeface="Lucida Sans Unicode"/>
              </a:rPr>
              <a:t>margins.</a:t>
            </a:r>
            <a:endParaRPr sz="3450">
              <a:latin typeface="Lucida Sans Unicode"/>
              <a:cs typeface="Lucida Sans Unicode"/>
            </a:endParaRPr>
          </a:p>
          <a:p>
            <a:pPr marL="8491220" marR="1008380" indent="-6628765">
              <a:lnSpc>
                <a:spcPts val="4790"/>
              </a:lnSpc>
              <a:spcBef>
                <a:spcPts val="105"/>
              </a:spcBef>
            </a:pPr>
            <a:r>
              <a:rPr dirty="0" sz="3450">
                <a:latin typeface="Lucida Sans Unicode"/>
                <a:cs typeface="Lucida Sans Unicode"/>
              </a:rPr>
              <a:t>Provides</a:t>
            </a:r>
            <a:r>
              <a:rPr dirty="0" sz="3450" spc="-180">
                <a:latin typeface="Lucida Sans Unicode"/>
                <a:cs typeface="Lucida Sans Unicode"/>
              </a:rPr>
              <a:t> </a:t>
            </a:r>
            <a:r>
              <a:rPr dirty="0" sz="3450">
                <a:latin typeface="Lucida Sans Unicode"/>
                <a:cs typeface="Lucida Sans Unicode"/>
              </a:rPr>
              <a:t>reliable</a:t>
            </a:r>
            <a:r>
              <a:rPr dirty="0" sz="3450" spc="-175">
                <a:latin typeface="Lucida Sans Unicode"/>
                <a:cs typeface="Lucida Sans Unicode"/>
              </a:rPr>
              <a:t> </a:t>
            </a:r>
            <a:r>
              <a:rPr dirty="0" sz="3450">
                <a:latin typeface="Lucida Sans Unicode"/>
                <a:cs typeface="Lucida Sans Unicode"/>
              </a:rPr>
              <a:t>sequential</a:t>
            </a:r>
            <a:r>
              <a:rPr dirty="0" sz="3450" spc="-180">
                <a:latin typeface="Lucida Sans Unicode"/>
                <a:cs typeface="Lucida Sans Unicode"/>
              </a:rPr>
              <a:t> </a:t>
            </a:r>
            <a:r>
              <a:rPr dirty="0" sz="3450" spc="110">
                <a:latin typeface="Lucida Sans Unicode"/>
                <a:cs typeface="Lucida Sans Unicode"/>
              </a:rPr>
              <a:t>RUL</a:t>
            </a:r>
            <a:r>
              <a:rPr dirty="0" sz="3450" spc="-175">
                <a:latin typeface="Lucida Sans Unicode"/>
                <a:cs typeface="Lucida Sans Unicode"/>
              </a:rPr>
              <a:t> </a:t>
            </a:r>
            <a:r>
              <a:rPr dirty="0" sz="3450" spc="-10">
                <a:latin typeface="Lucida Sans Unicode"/>
                <a:cs typeface="Lucida Sans Unicode"/>
              </a:rPr>
              <a:t>estimations</a:t>
            </a:r>
            <a:r>
              <a:rPr dirty="0" sz="3450" spc="-175">
                <a:latin typeface="Lucida Sans Unicode"/>
                <a:cs typeface="Lucida Sans Unicode"/>
              </a:rPr>
              <a:t> </a:t>
            </a:r>
            <a:r>
              <a:rPr dirty="0" sz="3450">
                <a:latin typeface="Lucida Sans Unicode"/>
                <a:cs typeface="Lucida Sans Unicode"/>
              </a:rPr>
              <a:t>for</a:t>
            </a:r>
            <a:r>
              <a:rPr dirty="0" sz="3450" spc="-180">
                <a:latin typeface="Lucida Sans Unicode"/>
                <a:cs typeface="Lucida Sans Unicode"/>
              </a:rPr>
              <a:t> </a:t>
            </a:r>
            <a:r>
              <a:rPr dirty="0" sz="3450">
                <a:latin typeface="Lucida Sans Unicode"/>
                <a:cs typeface="Lucida Sans Unicode"/>
              </a:rPr>
              <a:t>maintenance</a:t>
            </a:r>
            <a:r>
              <a:rPr dirty="0" sz="3450" spc="-175">
                <a:latin typeface="Lucida Sans Unicode"/>
                <a:cs typeface="Lucida Sans Unicode"/>
              </a:rPr>
              <a:t> </a:t>
            </a:r>
            <a:r>
              <a:rPr dirty="0" sz="3450" spc="-10">
                <a:latin typeface="Lucida Sans Unicode"/>
                <a:cs typeface="Lucida Sans Unicode"/>
              </a:rPr>
              <a:t>scheduling decisions.</a:t>
            </a:r>
            <a:endParaRPr sz="34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6928124" y="998532"/>
            <a:ext cx="324485" cy="324485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90005" y="90005"/>
                </a:moveTo>
                <a:lnTo>
                  <a:pt x="234321" y="234321"/>
                </a:lnTo>
              </a:path>
              <a:path w="324484" h="324484">
                <a:moveTo>
                  <a:pt x="234321" y="90005"/>
                </a:moveTo>
                <a:lnTo>
                  <a:pt x="90005" y="234321"/>
                </a:lnTo>
              </a:path>
              <a:path w="324484" h="324484">
                <a:moveTo>
                  <a:pt x="324327" y="162163"/>
                </a:moveTo>
                <a:lnTo>
                  <a:pt x="319466" y="201575"/>
                </a:lnTo>
                <a:lnTo>
                  <a:pt x="305180" y="238608"/>
                </a:lnTo>
                <a:lnTo>
                  <a:pt x="282326" y="271059"/>
                </a:lnTo>
                <a:lnTo>
                  <a:pt x="252257" y="296997"/>
                </a:lnTo>
                <a:lnTo>
                  <a:pt x="216786" y="314852"/>
                </a:lnTo>
                <a:lnTo>
                  <a:pt x="178058" y="323548"/>
                </a:lnTo>
                <a:lnTo>
                  <a:pt x="162163" y="324327"/>
                </a:lnTo>
                <a:lnTo>
                  <a:pt x="154197" y="324132"/>
                </a:lnTo>
                <a:lnTo>
                  <a:pt x="115089" y="317346"/>
                </a:lnTo>
                <a:lnTo>
                  <a:pt x="78802" y="301262"/>
                </a:lnTo>
                <a:lnTo>
                  <a:pt x="47496" y="276830"/>
                </a:lnTo>
                <a:lnTo>
                  <a:pt x="23065" y="245524"/>
                </a:lnTo>
                <a:lnTo>
                  <a:pt x="6980" y="209237"/>
                </a:lnTo>
                <a:lnTo>
                  <a:pt x="194" y="170130"/>
                </a:lnTo>
                <a:lnTo>
                  <a:pt x="0" y="162163"/>
                </a:lnTo>
                <a:lnTo>
                  <a:pt x="194" y="154197"/>
                </a:lnTo>
                <a:lnTo>
                  <a:pt x="6980" y="115089"/>
                </a:lnTo>
                <a:lnTo>
                  <a:pt x="23065" y="78802"/>
                </a:lnTo>
                <a:lnTo>
                  <a:pt x="47496" y="47496"/>
                </a:lnTo>
                <a:lnTo>
                  <a:pt x="78802" y="23065"/>
                </a:lnTo>
                <a:lnTo>
                  <a:pt x="115089" y="6980"/>
                </a:lnTo>
                <a:lnTo>
                  <a:pt x="154197" y="194"/>
                </a:lnTo>
                <a:lnTo>
                  <a:pt x="162163" y="0"/>
                </a:lnTo>
                <a:lnTo>
                  <a:pt x="170130" y="194"/>
                </a:lnTo>
                <a:lnTo>
                  <a:pt x="209237" y="6980"/>
                </a:lnTo>
                <a:lnTo>
                  <a:pt x="245524" y="23065"/>
                </a:lnTo>
                <a:lnTo>
                  <a:pt x="276830" y="47496"/>
                </a:lnTo>
                <a:lnTo>
                  <a:pt x="301262" y="78802"/>
                </a:lnTo>
                <a:lnTo>
                  <a:pt x="317346" y="115089"/>
                </a:lnTo>
                <a:lnTo>
                  <a:pt x="324132" y="154197"/>
                </a:lnTo>
                <a:lnTo>
                  <a:pt x="324327" y="162163"/>
                </a:lnTo>
                <a:close/>
              </a:path>
            </a:pathLst>
          </a:custGeom>
          <a:ln w="1351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5517189" cy="10286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0510" rIns="0" bIns="0" rtlCol="0" vert="horz">
            <a:spAutoFit/>
          </a:bodyPr>
          <a:lstStyle/>
          <a:p>
            <a:pPr marL="527050">
              <a:lnSpc>
                <a:spcPct val="100000"/>
              </a:lnSpc>
              <a:spcBef>
                <a:spcPts val="125"/>
              </a:spcBef>
            </a:pPr>
            <a:r>
              <a:rPr dirty="0" sz="5100" spc="110"/>
              <a:t>Milestone</a:t>
            </a:r>
            <a:r>
              <a:rPr dirty="0" sz="5100" spc="-95"/>
              <a:t> </a:t>
            </a:r>
            <a:r>
              <a:rPr dirty="0" sz="5100" spc="-50"/>
              <a:t>4:</a:t>
            </a:r>
            <a:r>
              <a:rPr dirty="0" sz="5100" spc="-90"/>
              <a:t> </a:t>
            </a:r>
            <a:r>
              <a:rPr dirty="0" sz="5100" spc="-85"/>
              <a:t>Risk</a:t>
            </a:r>
            <a:r>
              <a:rPr dirty="0" sz="5100" spc="-90"/>
              <a:t> </a:t>
            </a:r>
            <a:r>
              <a:rPr dirty="0" sz="5100" spc="50"/>
              <a:t>Thresholding</a:t>
            </a:r>
            <a:r>
              <a:rPr dirty="0" sz="5100" spc="-90"/>
              <a:t> </a:t>
            </a:r>
            <a:r>
              <a:rPr dirty="0" sz="5100" spc="155"/>
              <a:t>and</a:t>
            </a:r>
            <a:r>
              <a:rPr dirty="0" sz="5100" spc="-90"/>
              <a:t> </a:t>
            </a:r>
            <a:r>
              <a:rPr dirty="0" sz="5100" spc="165"/>
              <a:t>Maintenance</a:t>
            </a:r>
            <a:r>
              <a:rPr dirty="0" sz="5100" spc="-90"/>
              <a:t> </a:t>
            </a:r>
            <a:r>
              <a:rPr dirty="0" sz="5100" spc="200"/>
              <a:t>Alerts</a:t>
            </a:r>
            <a:endParaRPr sz="5100"/>
          </a:p>
        </p:txBody>
      </p:sp>
      <p:grpSp>
        <p:nvGrpSpPr>
          <p:cNvPr id="5" name="object 5" descr=""/>
          <p:cNvGrpSpPr/>
          <p:nvPr/>
        </p:nvGrpSpPr>
        <p:grpSpPr>
          <a:xfrm>
            <a:off x="1030480" y="3311812"/>
            <a:ext cx="2268855" cy="5412740"/>
            <a:chOff x="1030480" y="3311812"/>
            <a:chExt cx="2268855" cy="541274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0480" y="3311812"/>
              <a:ext cx="141495" cy="14149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46549" y="5082488"/>
              <a:ext cx="152400" cy="15239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46549" y="5682563"/>
              <a:ext cx="152400" cy="15239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79874" y="7561903"/>
              <a:ext cx="133350" cy="13334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79874" y="8076253"/>
              <a:ext cx="133350" cy="13334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79874" y="8590603"/>
              <a:ext cx="133350" cy="133349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344766" y="1988482"/>
            <a:ext cx="17499965" cy="7394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300" spc="-275">
                <a:solidFill>
                  <a:srgbClr val="2A2A2A"/>
                </a:solidFill>
                <a:latin typeface="Arial Black"/>
                <a:cs typeface="Arial Black"/>
              </a:rPr>
              <a:t>Objective:</a:t>
            </a:r>
            <a:endParaRPr sz="4300">
              <a:latin typeface="Arial Black"/>
              <a:cs typeface="Arial Black"/>
            </a:endParaRPr>
          </a:p>
          <a:p>
            <a:pPr marL="1478280">
              <a:lnSpc>
                <a:spcPct val="100000"/>
              </a:lnSpc>
              <a:spcBef>
                <a:spcPts val="3610"/>
              </a:spcBef>
            </a:pPr>
            <a:r>
              <a:rPr dirty="0" sz="3150">
                <a:solidFill>
                  <a:srgbClr val="2A2A2A"/>
                </a:solidFill>
                <a:latin typeface="Lucida Sans Unicode"/>
                <a:cs typeface="Lucida Sans Unicode"/>
              </a:rPr>
              <a:t>Define</a:t>
            </a:r>
            <a:r>
              <a:rPr dirty="0" sz="3150" spc="-1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150">
                <a:solidFill>
                  <a:srgbClr val="2A2A2A"/>
                </a:solidFill>
                <a:latin typeface="Lucida Sans Unicode"/>
                <a:cs typeface="Lucida Sans Unicode"/>
              </a:rPr>
              <a:t>thresholds</a:t>
            </a:r>
            <a:r>
              <a:rPr dirty="0" sz="3150" spc="-13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150">
                <a:solidFill>
                  <a:srgbClr val="2A2A2A"/>
                </a:solidFill>
                <a:latin typeface="Lucida Sans Unicode"/>
                <a:cs typeface="Lucida Sans Unicode"/>
              </a:rPr>
              <a:t>for</a:t>
            </a:r>
            <a:r>
              <a:rPr dirty="0" sz="3150" spc="-1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100">
                <a:solidFill>
                  <a:srgbClr val="2A2A2A"/>
                </a:solidFill>
                <a:latin typeface="Lucida Sans Unicode"/>
                <a:cs typeface="Lucida Sans Unicode"/>
              </a:rPr>
              <a:t>RUL</a:t>
            </a:r>
            <a:r>
              <a:rPr dirty="0" sz="3150" spc="-13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150">
                <a:solidFill>
                  <a:srgbClr val="2A2A2A"/>
                </a:solidFill>
                <a:latin typeface="Lucida Sans Unicode"/>
                <a:cs typeface="Lucida Sans Unicode"/>
              </a:rPr>
              <a:t>values</a:t>
            </a:r>
            <a:r>
              <a:rPr dirty="0" sz="3150" spc="-1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150">
                <a:solidFill>
                  <a:srgbClr val="2A2A2A"/>
                </a:solidFill>
                <a:latin typeface="Lucida Sans Unicode"/>
                <a:cs typeface="Lucida Sans Unicode"/>
              </a:rPr>
              <a:t>to</a:t>
            </a:r>
            <a:r>
              <a:rPr dirty="0" sz="3150" spc="-13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-60">
                <a:solidFill>
                  <a:srgbClr val="2A2A2A"/>
                </a:solidFill>
                <a:latin typeface="Lucida Sans Unicode"/>
                <a:cs typeface="Lucida Sans Unicode"/>
              </a:rPr>
              <a:t>trigger</a:t>
            </a:r>
            <a:r>
              <a:rPr dirty="0" sz="3150" spc="-1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-45">
                <a:solidFill>
                  <a:srgbClr val="2A2A2A"/>
                </a:solidFill>
                <a:latin typeface="Lucida Sans Unicode"/>
                <a:cs typeface="Lucida Sans Unicode"/>
              </a:rPr>
              <a:t>warning</a:t>
            </a:r>
            <a:r>
              <a:rPr dirty="0" sz="3150" spc="-13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150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3150" spc="-13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150">
                <a:solidFill>
                  <a:srgbClr val="2A2A2A"/>
                </a:solidFill>
                <a:latin typeface="Lucida Sans Unicode"/>
                <a:cs typeface="Lucida Sans Unicode"/>
              </a:rPr>
              <a:t>critical</a:t>
            </a:r>
            <a:r>
              <a:rPr dirty="0" sz="3150" spc="-1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150">
                <a:solidFill>
                  <a:srgbClr val="2A2A2A"/>
                </a:solidFill>
                <a:latin typeface="Lucida Sans Unicode"/>
                <a:cs typeface="Lucida Sans Unicode"/>
              </a:rPr>
              <a:t>maintenance</a:t>
            </a:r>
            <a:r>
              <a:rPr dirty="0" sz="3150" spc="-13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-10">
                <a:solidFill>
                  <a:srgbClr val="2A2A2A"/>
                </a:solidFill>
                <a:latin typeface="Lucida Sans Unicode"/>
                <a:cs typeface="Lucida Sans Unicode"/>
              </a:rPr>
              <a:t>alerts.</a:t>
            </a:r>
            <a:endParaRPr sz="3150">
              <a:latin typeface="Lucida Sans Unicode"/>
              <a:cs typeface="Lucida Sans Unicode"/>
            </a:endParaRPr>
          </a:p>
          <a:p>
            <a:pPr marL="169545">
              <a:lnSpc>
                <a:spcPct val="100000"/>
              </a:lnSpc>
              <a:spcBef>
                <a:spcPts val="3170"/>
              </a:spcBef>
            </a:pPr>
            <a:r>
              <a:rPr dirty="0" sz="4300" spc="-225">
                <a:solidFill>
                  <a:srgbClr val="2A2A2A"/>
                </a:solidFill>
                <a:latin typeface="Arial Black"/>
                <a:cs typeface="Arial Black"/>
              </a:rPr>
              <a:t>Alert</a:t>
            </a:r>
            <a:r>
              <a:rPr dirty="0" sz="4300" spc="-400">
                <a:solidFill>
                  <a:srgbClr val="2A2A2A"/>
                </a:solidFill>
                <a:latin typeface="Arial Black"/>
                <a:cs typeface="Arial Black"/>
              </a:rPr>
              <a:t> </a:t>
            </a:r>
            <a:r>
              <a:rPr dirty="0" sz="4300" spc="-300">
                <a:solidFill>
                  <a:srgbClr val="2A2A2A"/>
                </a:solidFill>
                <a:latin typeface="Arial Black"/>
                <a:cs typeface="Arial Black"/>
              </a:rPr>
              <a:t>Thresholds:</a:t>
            </a:r>
            <a:endParaRPr sz="4300">
              <a:latin typeface="Arial Black"/>
              <a:cs typeface="Arial Black"/>
            </a:endParaRPr>
          </a:p>
          <a:p>
            <a:pPr marL="3966845" marR="7096759" indent="-83820">
              <a:lnSpc>
                <a:spcPct val="115799"/>
              </a:lnSpc>
              <a:spcBef>
                <a:spcPts val="1060"/>
              </a:spcBef>
            </a:pPr>
            <a:r>
              <a:rPr dirty="0" sz="3400" spc="55">
                <a:solidFill>
                  <a:srgbClr val="2A2A2A"/>
                </a:solidFill>
                <a:latin typeface="Lucida Sans Unicode"/>
                <a:cs typeface="Lucida Sans Unicode"/>
              </a:rPr>
              <a:t>WARNING</a:t>
            </a:r>
            <a:r>
              <a:rPr dirty="0" sz="3400" spc="-2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0">
                <a:solidFill>
                  <a:srgbClr val="2A2A2A"/>
                </a:solidFill>
                <a:latin typeface="Lucida Sans Unicode"/>
                <a:cs typeface="Lucida Sans Unicode"/>
              </a:rPr>
              <a:t>threshold:</a:t>
            </a:r>
            <a:r>
              <a:rPr dirty="0" sz="3400" spc="-2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60">
                <a:solidFill>
                  <a:srgbClr val="2A2A2A"/>
                </a:solidFill>
                <a:latin typeface="Lucida Sans Unicode"/>
                <a:cs typeface="Lucida Sans Unicode"/>
              </a:rPr>
              <a:t>40</a:t>
            </a:r>
            <a:r>
              <a:rPr dirty="0" sz="3400" spc="-2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2A2A2A"/>
                </a:solidFill>
                <a:latin typeface="Lucida Sans Unicode"/>
                <a:cs typeface="Lucida Sans Unicode"/>
              </a:rPr>
              <a:t>cycles.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CRITICAL</a:t>
            </a:r>
            <a:r>
              <a:rPr dirty="0" sz="3400" spc="-2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0">
                <a:solidFill>
                  <a:srgbClr val="2A2A2A"/>
                </a:solidFill>
                <a:latin typeface="Lucida Sans Unicode"/>
                <a:cs typeface="Lucida Sans Unicode"/>
              </a:rPr>
              <a:t>threshold:</a:t>
            </a:r>
            <a:r>
              <a:rPr dirty="0" sz="3400" spc="-2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40">
                <a:solidFill>
                  <a:srgbClr val="2A2A2A"/>
                </a:solidFill>
                <a:latin typeface="Lucida Sans Unicode"/>
                <a:cs typeface="Lucida Sans Unicode"/>
              </a:rPr>
              <a:t>20</a:t>
            </a:r>
            <a:r>
              <a:rPr dirty="0" sz="3400" spc="-204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2A2A2A"/>
                </a:solidFill>
                <a:latin typeface="Lucida Sans Unicode"/>
                <a:cs typeface="Lucida Sans Unicode"/>
              </a:rPr>
              <a:t>cycles.</a:t>
            </a:r>
            <a:endParaRPr sz="3400">
              <a:latin typeface="Lucida Sans Unicode"/>
              <a:cs typeface="Lucida Sans Unicode"/>
            </a:endParaRPr>
          </a:p>
          <a:p>
            <a:pPr marL="142875">
              <a:lnSpc>
                <a:spcPct val="100000"/>
              </a:lnSpc>
              <a:spcBef>
                <a:spcPts val="2180"/>
              </a:spcBef>
            </a:pPr>
            <a:r>
              <a:rPr dirty="0" sz="4300" spc="-225">
                <a:solidFill>
                  <a:srgbClr val="2A2A2A"/>
                </a:solidFill>
                <a:latin typeface="Arial Black"/>
                <a:cs typeface="Arial Black"/>
              </a:rPr>
              <a:t>Alert</a:t>
            </a:r>
            <a:r>
              <a:rPr dirty="0" sz="4300" spc="-400">
                <a:solidFill>
                  <a:srgbClr val="2A2A2A"/>
                </a:solidFill>
                <a:latin typeface="Arial Black"/>
                <a:cs typeface="Arial Black"/>
              </a:rPr>
              <a:t> </a:t>
            </a:r>
            <a:r>
              <a:rPr dirty="0" sz="4300" spc="-335">
                <a:solidFill>
                  <a:srgbClr val="2A2A2A"/>
                </a:solidFill>
                <a:latin typeface="Arial Black"/>
                <a:cs typeface="Arial Black"/>
              </a:rPr>
              <a:t>System</a:t>
            </a:r>
            <a:r>
              <a:rPr dirty="0" sz="4300" spc="-395">
                <a:solidFill>
                  <a:srgbClr val="2A2A2A"/>
                </a:solidFill>
                <a:latin typeface="Arial Black"/>
                <a:cs typeface="Arial Black"/>
              </a:rPr>
              <a:t> </a:t>
            </a:r>
            <a:r>
              <a:rPr dirty="0" sz="4300" spc="-290">
                <a:solidFill>
                  <a:srgbClr val="2A2A2A"/>
                </a:solidFill>
                <a:latin typeface="Arial Black"/>
                <a:cs typeface="Arial Black"/>
              </a:rPr>
              <a:t>Workflow:</a:t>
            </a:r>
            <a:endParaRPr sz="4300">
              <a:latin typeface="Arial Black"/>
              <a:cs typeface="Arial Black"/>
            </a:endParaRPr>
          </a:p>
          <a:p>
            <a:pPr algn="ctr" marL="2309495">
              <a:lnSpc>
                <a:spcPct val="100000"/>
              </a:lnSpc>
              <a:spcBef>
                <a:spcPts val="3654"/>
              </a:spcBef>
            </a:pPr>
            <a:r>
              <a:rPr dirty="0" sz="2900" spc="70">
                <a:solidFill>
                  <a:srgbClr val="2A2A2A"/>
                </a:solidFill>
                <a:latin typeface="Lucida Sans Unicode"/>
                <a:cs typeface="Lucida Sans Unicode"/>
              </a:rPr>
              <a:t>Predicted</a:t>
            </a:r>
            <a:r>
              <a:rPr dirty="0" sz="2900" spc="-8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110">
                <a:solidFill>
                  <a:srgbClr val="2A2A2A"/>
                </a:solidFill>
                <a:latin typeface="Lucida Sans Unicode"/>
                <a:cs typeface="Lucida Sans Unicode"/>
              </a:rPr>
              <a:t>RUL</a:t>
            </a:r>
            <a:r>
              <a:rPr dirty="0" sz="2900" spc="-8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2A2A2A"/>
                </a:solidFill>
                <a:latin typeface="Lucida Sans Unicode"/>
                <a:cs typeface="Lucida Sans Unicode"/>
              </a:rPr>
              <a:t>values</a:t>
            </a:r>
            <a:r>
              <a:rPr dirty="0" sz="2900" spc="-8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2A2A2A"/>
                </a:solidFill>
                <a:latin typeface="Lucida Sans Unicode"/>
                <a:cs typeface="Lucida Sans Unicode"/>
              </a:rPr>
              <a:t>classified</a:t>
            </a:r>
            <a:r>
              <a:rPr dirty="0" sz="2900" spc="-8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2A2A2A"/>
                </a:solidFill>
                <a:latin typeface="Lucida Sans Unicode"/>
                <a:cs typeface="Lucida Sans Unicode"/>
              </a:rPr>
              <a:t>into</a:t>
            </a:r>
            <a:r>
              <a:rPr dirty="0" sz="2900" spc="-8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2A2A2A"/>
                </a:solidFill>
                <a:latin typeface="Lucida Sans Unicode"/>
                <a:cs typeface="Lucida Sans Unicode"/>
              </a:rPr>
              <a:t>normal,</a:t>
            </a:r>
            <a:r>
              <a:rPr dirty="0" sz="2900" spc="-8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40">
                <a:solidFill>
                  <a:srgbClr val="2A2A2A"/>
                </a:solidFill>
                <a:latin typeface="Lucida Sans Unicode"/>
                <a:cs typeface="Lucida Sans Unicode"/>
              </a:rPr>
              <a:t>warning,</a:t>
            </a:r>
            <a:r>
              <a:rPr dirty="0" sz="2900" spc="-8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2A2A2A"/>
                </a:solidFill>
                <a:latin typeface="Lucida Sans Unicode"/>
                <a:cs typeface="Lucida Sans Unicode"/>
              </a:rPr>
              <a:t>or</a:t>
            </a:r>
            <a:r>
              <a:rPr dirty="0" sz="2900" spc="-8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2A2A2A"/>
                </a:solidFill>
                <a:latin typeface="Lucida Sans Unicode"/>
                <a:cs typeface="Lucida Sans Unicode"/>
              </a:rPr>
              <a:t>critical</a:t>
            </a:r>
            <a:r>
              <a:rPr dirty="0" sz="2900" spc="-8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2A2A2A"/>
                </a:solidFill>
                <a:latin typeface="Lucida Sans Unicode"/>
                <a:cs typeface="Lucida Sans Unicode"/>
              </a:rPr>
              <a:t>alert</a:t>
            </a:r>
            <a:r>
              <a:rPr dirty="0" sz="2900" spc="-8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2A2A2A"/>
                </a:solidFill>
                <a:latin typeface="Lucida Sans Unicode"/>
                <a:cs typeface="Lucida Sans Unicode"/>
              </a:rPr>
              <a:t>levels.</a:t>
            </a:r>
            <a:endParaRPr sz="2900">
              <a:latin typeface="Lucida Sans Unicode"/>
              <a:cs typeface="Lucida Sans Unicode"/>
            </a:endParaRPr>
          </a:p>
          <a:p>
            <a:pPr algn="ctr" marL="2309495">
              <a:lnSpc>
                <a:spcPct val="100000"/>
              </a:lnSpc>
              <a:spcBef>
                <a:spcPts val="570"/>
              </a:spcBef>
            </a:pPr>
            <a:r>
              <a:rPr dirty="0" sz="2900">
                <a:solidFill>
                  <a:srgbClr val="2A2A2A"/>
                </a:solidFill>
                <a:latin typeface="Lucida Sans Unicode"/>
                <a:cs typeface="Lucida Sans Unicode"/>
              </a:rPr>
              <a:t>Monitored</a:t>
            </a:r>
            <a:r>
              <a:rPr dirty="0" sz="2900" spc="-7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2A2A2A"/>
                </a:solidFill>
                <a:latin typeface="Lucida Sans Unicode"/>
                <a:cs typeface="Lucida Sans Unicode"/>
              </a:rPr>
              <a:t>distribution</a:t>
            </a:r>
            <a:r>
              <a:rPr dirty="0" sz="2900" spc="-5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2A2A2A"/>
                </a:solidFill>
                <a:latin typeface="Lucida Sans Unicode"/>
                <a:cs typeface="Lucida Sans Unicode"/>
              </a:rPr>
              <a:t>of</a:t>
            </a:r>
            <a:r>
              <a:rPr dirty="0" sz="2900" spc="-6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2A2A2A"/>
                </a:solidFill>
                <a:latin typeface="Lucida Sans Unicode"/>
                <a:cs typeface="Lucida Sans Unicode"/>
              </a:rPr>
              <a:t>alerts</a:t>
            </a:r>
            <a:r>
              <a:rPr dirty="0" sz="2900" spc="-5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2A2A2A"/>
                </a:solidFill>
                <a:latin typeface="Lucida Sans Unicode"/>
                <a:cs typeface="Lucida Sans Unicode"/>
              </a:rPr>
              <a:t>on</a:t>
            </a:r>
            <a:r>
              <a:rPr dirty="0" sz="2900" spc="-6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60">
                <a:solidFill>
                  <a:srgbClr val="2A2A2A"/>
                </a:solidFill>
                <a:latin typeface="Lucida Sans Unicode"/>
                <a:cs typeface="Lucida Sans Unicode"/>
              </a:rPr>
              <a:t>test</a:t>
            </a:r>
            <a:r>
              <a:rPr dirty="0" sz="2900" spc="-5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2A2A2A"/>
                </a:solidFill>
                <a:latin typeface="Lucida Sans Unicode"/>
                <a:cs typeface="Lucida Sans Unicode"/>
              </a:rPr>
              <a:t>samples.</a:t>
            </a:r>
            <a:endParaRPr sz="2900">
              <a:latin typeface="Lucida Sans Unicode"/>
              <a:cs typeface="Lucida Sans Unicode"/>
            </a:endParaRPr>
          </a:p>
          <a:p>
            <a:pPr algn="ctr" marL="3849370" marR="1532255">
              <a:lnSpc>
                <a:spcPct val="116399"/>
              </a:lnSpc>
            </a:pPr>
            <a:r>
              <a:rPr dirty="0" sz="2900" spc="-35">
                <a:solidFill>
                  <a:srgbClr val="2A2A2A"/>
                </a:solidFill>
                <a:latin typeface="Lucida Sans Unicode"/>
                <a:cs typeface="Lucida Sans Unicode"/>
              </a:rPr>
              <a:t>Visualized</a:t>
            </a:r>
            <a:r>
              <a:rPr dirty="0" sz="290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2A2A2A"/>
                </a:solidFill>
                <a:latin typeface="Lucida Sans Unicode"/>
                <a:cs typeface="Lucida Sans Unicode"/>
              </a:rPr>
              <a:t>alert</a:t>
            </a:r>
            <a:r>
              <a:rPr dirty="0" sz="290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55">
                <a:solidFill>
                  <a:srgbClr val="2A2A2A"/>
                </a:solidFill>
                <a:latin typeface="Lucida Sans Unicode"/>
                <a:cs typeface="Lucida Sans Unicode"/>
              </a:rPr>
              <a:t>frequency</a:t>
            </a:r>
            <a:r>
              <a:rPr dirty="0" sz="290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2A2A2A"/>
                </a:solidFill>
                <a:latin typeface="Lucida Sans Unicode"/>
                <a:cs typeface="Lucida Sans Unicode"/>
              </a:rPr>
              <a:t>with</a:t>
            </a:r>
            <a:r>
              <a:rPr dirty="0" sz="290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2A2A2A"/>
                </a:solidFill>
                <a:latin typeface="Lucida Sans Unicode"/>
                <a:cs typeface="Lucida Sans Unicode"/>
              </a:rPr>
              <a:t>bar</a:t>
            </a:r>
            <a:r>
              <a:rPr dirty="0" sz="290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50">
                <a:solidFill>
                  <a:srgbClr val="2A2A2A"/>
                </a:solidFill>
                <a:latin typeface="Lucida Sans Unicode"/>
                <a:cs typeface="Lucida Sans Unicode"/>
              </a:rPr>
              <a:t>charts</a:t>
            </a:r>
            <a:r>
              <a:rPr dirty="0" sz="290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290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110">
                <a:solidFill>
                  <a:srgbClr val="2A2A2A"/>
                </a:solidFill>
                <a:latin typeface="Lucida Sans Unicode"/>
                <a:cs typeface="Lucida Sans Unicode"/>
              </a:rPr>
              <a:t>RUL</a:t>
            </a:r>
            <a:r>
              <a:rPr dirty="0" sz="290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2A2A2A"/>
                </a:solidFill>
                <a:latin typeface="Lucida Sans Unicode"/>
                <a:cs typeface="Lucida Sans Unicode"/>
              </a:rPr>
              <a:t>distribution</a:t>
            </a:r>
            <a:r>
              <a:rPr dirty="0" sz="290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0">
                <a:solidFill>
                  <a:srgbClr val="2A2A2A"/>
                </a:solidFill>
                <a:latin typeface="Lucida Sans Unicode"/>
                <a:cs typeface="Lucida Sans Unicode"/>
              </a:rPr>
              <a:t>with </a:t>
            </a:r>
            <a:r>
              <a:rPr dirty="0" sz="2900">
                <a:solidFill>
                  <a:srgbClr val="2A2A2A"/>
                </a:solidFill>
                <a:latin typeface="Lucida Sans Unicode"/>
                <a:cs typeface="Lucida Sans Unicode"/>
              </a:rPr>
              <a:t>threshold</a:t>
            </a:r>
            <a:r>
              <a:rPr dirty="0" sz="2900" spc="6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2A2A2A"/>
                </a:solidFill>
                <a:latin typeface="Lucida Sans Unicode"/>
                <a:cs typeface="Lucida Sans Unicode"/>
              </a:rPr>
              <a:t>markers.</a:t>
            </a:r>
            <a:endParaRPr sz="2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E3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634351" y="1241197"/>
            <a:ext cx="5095875" cy="680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300" spc="-225">
                <a:solidFill>
                  <a:srgbClr val="2A2A2A"/>
                </a:solidFill>
                <a:latin typeface="Arial Black"/>
                <a:cs typeface="Arial Black"/>
              </a:rPr>
              <a:t>Alert</a:t>
            </a:r>
            <a:r>
              <a:rPr dirty="0" sz="4300" spc="-400">
                <a:solidFill>
                  <a:srgbClr val="2A2A2A"/>
                </a:solidFill>
                <a:latin typeface="Arial Black"/>
                <a:cs typeface="Arial Black"/>
              </a:rPr>
              <a:t> </a:t>
            </a:r>
            <a:r>
              <a:rPr dirty="0" sz="4300" spc="-285">
                <a:solidFill>
                  <a:srgbClr val="2A2A2A"/>
                </a:solidFill>
                <a:latin typeface="Arial Black"/>
                <a:cs typeface="Arial Black"/>
              </a:rPr>
              <a:t>Performance:</a:t>
            </a:r>
            <a:endParaRPr sz="4300">
              <a:latin typeface="Arial Black"/>
              <a:cs typeface="Arial Black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0142" y="2658289"/>
            <a:ext cx="194085" cy="19408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31210" y="2376053"/>
            <a:ext cx="14178915" cy="69850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4400">
                <a:latin typeface="Lucida Sans Unicode"/>
                <a:cs typeface="Lucida Sans Unicode"/>
              </a:rPr>
              <a:t>Normal</a:t>
            </a:r>
            <a:r>
              <a:rPr dirty="0" sz="4400" spc="-265">
                <a:latin typeface="Lucida Sans Unicode"/>
                <a:cs typeface="Lucida Sans Unicode"/>
              </a:rPr>
              <a:t> </a:t>
            </a:r>
            <a:r>
              <a:rPr dirty="0" sz="4400">
                <a:latin typeface="Lucida Sans Unicode"/>
                <a:cs typeface="Lucida Sans Unicode"/>
              </a:rPr>
              <a:t>operation</a:t>
            </a:r>
            <a:r>
              <a:rPr dirty="0" sz="4400" spc="-260">
                <a:latin typeface="Lucida Sans Unicode"/>
                <a:cs typeface="Lucida Sans Unicode"/>
              </a:rPr>
              <a:t> </a:t>
            </a:r>
            <a:r>
              <a:rPr dirty="0" sz="4400" spc="90">
                <a:latin typeface="Lucida Sans Unicode"/>
                <a:cs typeface="Lucida Sans Unicode"/>
              </a:rPr>
              <a:t>detected</a:t>
            </a:r>
            <a:r>
              <a:rPr dirty="0" sz="4400" spc="-260">
                <a:latin typeface="Lucida Sans Unicode"/>
                <a:cs typeface="Lucida Sans Unicode"/>
              </a:rPr>
              <a:t> </a:t>
            </a:r>
            <a:r>
              <a:rPr dirty="0" sz="4400" spc="-60">
                <a:latin typeface="Lucida Sans Unicode"/>
                <a:cs typeface="Lucida Sans Unicode"/>
              </a:rPr>
              <a:t>in</a:t>
            </a:r>
            <a:r>
              <a:rPr dirty="0" sz="4400" spc="-260">
                <a:latin typeface="Lucida Sans Unicode"/>
                <a:cs typeface="Lucida Sans Unicode"/>
              </a:rPr>
              <a:t> </a:t>
            </a:r>
            <a:r>
              <a:rPr dirty="0" sz="4400" spc="-30">
                <a:latin typeface="Lucida Sans Unicode"/>
                <a:cs typeface="Lucida Sans Unicode"/>
              </a:rPr>
              <a:t>~60.5%</a:t>
            </a:r>
            <a:r>
              <a:rPr dirty="0" sz="4400" spc="-260">
                <a:latin typeface="Lucida Sans Unicode"/>
                <a:cs typeface="Lucida Sans Unicode"/>
              </a:rPr>
              <a:t> </a:t>
            </a:r>
            <a:r>
              <a:rPr dirty="0" sz="4400" spc="50">
                <a:latin typeface="Lucida Sans Unicode"/>
                <a:cs typeface="Lucida Sans Unicode"/>
              </a:rPr>
              <a:t>of</a:t>
            </a:r>
            <a:r>
              <a:rPr dirty="0" sz="4400" spc="-265">
                <a:latin typeface="Lucida Sans Unicode"/>
                <a:cs typeface="Lucida Sans Unicode"/>
              </a:rPr>
              <a:t> </a:t>
            </a:r>
            <a:r>
              <a:rPr dirty="0" sz="4400" spc="-10">
                <a:latin typeface="Lucida Sans Unicode"/>
                <a:cs typeface="Lucida Sans Unicode"/>
              </a:rPr>
              <a:t>predictions.</a:t>
            </a:r>
            <a:endParaRPr sz="4400">
              <a:latin typeface="Lucida Sans Unicode"/>
              <a:cs typeface="Lucida Sans Unicode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0142" y="3442716"/>
            <a:ext cx="194085" cy="19408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0142" y="4227143"/>
            <a:ext cx="194085" cy="19408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7045" y="6658893"/>
            <a:ext cx="187316" cy="18731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7045" y="7387345"/>
            <a:ext cx="187316" cy="18731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739019" y="3048849"/>
            <a:ext cx="17244060" cy="5466080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algn="ctr" marL="518795">
              <a:lnSpc>
                <a:spcPct val="100000"/>
              </a:lnSpc>
              <a:spcBef>
                <a:spcPts val="990"/>
              </a:spcBef>
            </a:pPr>
            <a:r>
              <a:rPr dirty="0" sz="4400" spc="55">
                <a:solidFill>
                  <a:srgbClr val="2A2A2A"/>
                </a:solidFill>
                <a:latin typeface="Lucida Sans Unicode"/>
                <a:cs typeface="Lucida Sans Unicode"/>
              </a:rPr>
              <a:t>No</a:t>
            </a:r>
            <a:r>
              <a:rPr dirty="0" sz="4400" spc="-2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4400" spc="-55">
                <a:solidFill>
                  <a:srgbClr val="2A2A2A"/>
                </a:solidFill>
                <a:latin typeface="Lucida Sans Unicode"/>
                <a:cs typeface="Lucida Sans Unicode"/>
              </a:rPr>
              <a:t>warning</a:t>
            </a:r>
            <a:r>
              <a:rPr dirty="0" sz="4400" spc="-2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4400" spc="55">
                <a:solidFill>
                  <a:srgbClr val="2A2A2A"/>
                </a:solidFill>
                <a:latin typeface="Lucida Sans Unicode"/>
                <a:cs typeface="Lucida Sans Unicode"/>
              </a:rPr>
              <a:t>alert</a:t>
            </a:r>
            <a:r>
              <a:rPr dirty="0" sz="4400" spc="-2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4400" spc="-55">
                <a:solidFill>
                  <a:srgbClr val="2A2A2A"/>
                </a:solidFill>
                <a:latin typeface="Lucida Sans Unicode"/>
                <a:cs typeface="Lucida Sans Unicode"/>
              </a:rPr>
              <a:t>triggered</a:t>
            </a:r>
            <a:r>
              <a:rPr dirty="0" sz="4400" spc="-2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4400" spc="150">
                <a:solidFill>
                  <a:srgbClr val="2A2A2A"/>
                </a:solidFill>
                <a:latin typeface="Lucida Sans Unicode"/>
                <a:cs typeface="Lucida Sans Unicode"/>
              </a:rPr>
              <a:t>(0%).</a:t>
            </a:r>
            <a:endParaRPr sz="4400">
              <a:latin typeface="Lucida Sans Unicode"/>
              <a:cs typeface="Lucida Sans Unicode"/>
            </a:endParaRPr>
          </a:p>
          <a:p>
            <a:pPr algn="ctr" marL="518795">
              <a:lnSpc>
                <a:spcPct val="100000"/>
              </a:lnSpc>
              <a:spcBef>
                <a:spcPts val="900"/>
              </a:spcBef>
            </a:pPr>
            <a:r>
              <a:rPr dirty="0" sz="4400">
                <a:solidFill>
                  <a:srgbClr val="2A2A2A"/>
                </a:solidFill>
                <a:latin typeface="Lucida Sans Unicode"/>
                <a:cs typeface="Lucida Sans Unicode"/>
              </a:rPr>
              <a:t>Critical</a:t>
            </a:r>
            <a:r>
              <a:rPr dirty="0" sz="4400" spc="-229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4400">
                <a:solidFill>
                  <a:srgbClr val="2A2A2A"/>
                </a:solidFill>
                <a:latin typeface="Lucida Sans Unicode"/>
                <a:cs typeface="Lucida Sans Unicode"/>
              </a:rPr>
              <a:t>alerts</a:t>
            </a:r>
            <a:r>
              <a:rPr dirty="0" sz="4400" spc="-2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4400" spc="-55">
                <a:solidFill>
                  <a:srgbClr val="2A2A2A"/>
                </a:solidFill>
                <a:latin typeface="Lucida Sans Unicode"/>
                <a:cs typeface="Lucida Sans Unicode"/>
              </a:rPr>
              <a:t>triggered</a:t>
            </a:r>
            <a:r>
              <a:rPr dirty="0" sz="4400" spc="-2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4400" spc="-60">
                <a:solidFill>
                  <a:srgbClr val="2A2A2A"/>
                </a:solidFill>
                <a:latin typeface="Lucida Sans Unicode"/>
                <a:cs typeface="Lucida Sans Unicode"/>
              </a:rPr>
              <a:t>in</a:t>
            </a:r>
            <a:r>
              <a:rPr dirty="0" sz="4400" spc="-2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4400" spc="-125">
                <a:solidFill>
                  <a:srgbClr val="2A2A2A"/>
                </a:solidFill>
                <a:latin typeface="Lucida Sans Unicode"/>
                <a:cs typeface="Lucida Sans Unicode"/>
              </a:rPr>
              <a:t>~39.5%</a:t>
            </a:r>
            <a:r>
              <a:rPr dirty="0" sz="4400" spc="-2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4400" spc="50">
                <a:solidFill>
                  <a:srgbClr val="2A2A2A"/>
                </a:solidFill>
                <a:latin typeface="Lucida Sans Unicode"/>
                <a:cs typeface="Lucida Sans Unicode"/>
              </a:rPr>
              <a:t>of</a:t>
            </a:r>
            <a:r>
              <a:rPr dirty="0" sz="4400" spc="-2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4400" spc="-10">
                <a:solidFill>
                  <a:srgbClr val="2A2A2A"/>
                </a:solidFill>
                <a:latin typeface="Lucida Sans Unicode"/>
                <a:cs typeface="Lucida Sans Unicode"/>
              </a:rPr>
              <a:t>predictions.</a:t>
            </a:r>
            <a:endParaRPr sz="4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870"/>
              </a:spcBef>
            </a:pPr>
            <a:r>
              <a:rPr dirty="0" sz="5200" spc="-345">
                <a:solidFill>
                  <a:srgbClr val="2A2A2A"/>
                </a:solidFill>
                <a:latin typeface="Arial Black"/>
                <a:cs typeface="Arial Black"/>
              </a:rPr>
              <a:t>Outcome:</a:t>
            </a:r>
            <a:endParaRPr sz="5200">
              <a:latin typeface="Arial Black"/>
              <a:cs typeface="Arial Black"/>
            </a:endParaRPr>
          </a:p>
          <a:p>
            <a:pPr algn="ctr" marL="1617345">
              <a:lnSpc>
                <a:spcPct val="100000"/>
              </a:lnSpc>
              <a:spcBef>
                <a:spcPts val="3925"/>
              </a:spcBef>
            </a:pPr>
            <a:r>
              <a:rPr dirty="0" sz="4150" spc="-45">
                <a:solidFill>
                  <a:srgbClr val="2A2A2A"/>
                </a:solidFill>
                <a:latin typeface="Lucida Sans Unicode"/>
                <a:cs typeface="Lucida Sans Unicode"/>
              </a:rPr>
              <a:t>Alerting</a:t>
            </a:r>
            <a:r>
              <a:rPr dirty="0" sz="4150" spc="-2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4150" spc="-20">
                <a:solidFill>
                  <a:srgbClr val="2A2A2A"/>
                </a:solidFill>
                <a:latin typeface="Lucida Sans Unicode"/>
                <a:cs typeface="Lucida Sans Unicode"/>
              </a:rPr>
              <a:t>mechanism</a:t>
            </a:r>
            <a:r>
              <a:rPr dirty="0" sz="4150" spc="-23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4150">
                <a:solidFill>
                  <a:srgbClr val="2A2A2A"/>
                </a:solidFill>
                <a:latin typeface="Lucida Sans Unicode"/>
                <a:cs typeface="Lucida Sans Unicode"/>
              </a:rPr>
              <a:t>enables</a:t>
            </a:r>
            <a:r>
              <a:rPr dirty="0" sz="4150" spc="-23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4150" spc="50">
                <a:solidFill>
                  <a:srgbClr val="2A2A2A"/>
                </a:solidFill>
                <a:latin typeface="Lucida Sans Unicode"/>
                <a:cs typeface="Lucida Sans Unicode"/>
              </a:rPr>
              <a:t>proactive</a:t>
            </a:r>
            <a:r>
              <a:rPr dirty="0" sz="4150" spc="-23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4150">
                <a:solidFill>
                  <a:srgbClr val="2A2A2A"/>
                </a:solidFill>
                <a:latin typeface="Lucida Sans Unicode"/>
                <a:cs typeface="Lucida Sans Unicode"/>
              </a:rPr>
              <a:t>maintenance</a:t>
            </a:r>
            <a:r>
              <a:rPr dirty="0" sz="4150" spc="-23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4150" spc="-10">
                <a:solidFill>
                  <a:srgbClr val="2A2A2A"/>
                </a:solidFill>
                <a:latin typeface="Lucida Sans Unicode"/>
                <a:cs typeface="Lucida Sans Unicode"/>
              </a:rPr>
              <a:t>planning.</a:t>
            </a:r>
            <a:endParaRPr sz="4150">
              <a:latin typeface="Lucida Sans Unicode"/>
              <a:cs typeface="Lucida Sans Unicode"/>
            </a:endParaRPr>
          </a:p>
          <a:p>
            <a:pPr algn="ctr" marL="2490470" marR="864869">
              <a:lnSpc>
                <a:spcPts val="5740"/>
              </a:lnSpc>
              <a:spcBef>
                <a:spcPts val="114"/>
              </a:spcBef>
            </a:pPr>
            <a:r>
              <a:rPr dirty="0" sz="4150" spc="-80">
                <a:solidFill>
                  <a:srgbClr val="2A2A2A"/>
                </a:solidFill>
                <a:latin typeface="Lucida Sans Unicode"/>
                <a:cs typeface="Lucida Sans Unicode"/>
              </a:rPr>
              <a:t>Highlights</a:t>
            </a:r>
            <a:r>
              <a:rPr dirty="0" sz="415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4150">
                <a:solidFill>
                  <a:srgbClr val="2A2A2A"/>
                </a:solidFill>
                <a:latin typeface="Lucida Sans Unicode"/>
                <a:cs typeface="Lucida Sans Unicode"/>
              </a:rPr>
              <a:t>critical</a:t>
            </a:r>
            <a:r>
              <a:rPr dirty="0" sz="4150" spc="-1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4150">
                <a:solidFill>
                  <a:srgbClr val="2A2A2A"/>
                </a:solidFill>
                <a:latin typeface="Lucida Sans Unicode"/>
                <a:cs typeface="Lucida Sans Unicode"/>
              </a:rPr>
              <a:t>machinery</a:t>
            </a:r>
            <a:r>
              <a:rPr dirty="0" sz="4150" spc="-1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4150">
                <a:solidFill>
                  <a:srgbClr val="2A2A2A"/>
                </a:solidFill>
                <a:latin typeface="Lucida Sans Unicode"/>
                <a:cs typeface="Lucida Sans Unicode"/>
              </a:rPr>
              <a:t>components</a:t>
            </a:r>
            <a:r>
              <a:rPr dirty="0" sz="4150" spc="-1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4150" spc="-10">
                <a:solidFill>
                  <a:srgbClr val="2A2A2A"/>
                </a:solidFill>
                <a:latin typeface="Lucida Sans Unicode"/>
                <a:cs typeface="Lucida Sans Unicode"/>
              </a:rPr>
              <a:t>approaching failure</a:t>
            </a:r>
            <a:r>
              <a:rPr dirty="0" sz="4150" spc="-30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4150" spc="-10">
                <a:solidFill>
                  <a:srgbClr val="2A2A2A"/>
                </a:solidFill>
                <a:latin typeface="Lucida Sans Unicode"/>
                <a:cs typeface="Lucida Sans Unicode"/>
              </a:rPr>
              <a:t>margins.</a:t>
            </a:r>
            <a:endParaRPr sz="41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260" y="742195"/>
            <a:ext cx="10845800" cy="95948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100" spc="450"/>
              <a:t>Output</a:t>
            </a:r>
            <a:r>
              <a:rPr dirty="0" sz="6100" spc="-25"/>
              <a:t> </a:t>
            </a:r>
            <a:r>
              <a:rPr dirty="0" sz="6100" spc="655"/>
              <a:t>for</a:t>
            </a:r>
            <a:r>
              <a:rPr dirty="0" sz="6100" spc="-25"/>
              <a:t> </a:t>
            </a:r>
            <a:r>
              <a:rPr dirty="0" sz="6100" spc="140"/>
              <a:t>Milestone</a:t>
            </a:r>
            <a:r>
              <a:rPr dirty="0" sz="6100" spc="-25"/>
              <a:t> </a:t>
            </a:r>
            <a:r>
              <a:rPr dirty="0" sz="6100" spc="235"/>
              <a:t>3</a:t>
            </a:r>
            <a:r>
              <a:rPr dirty="0" sz="6100" spc="-20"/>
              <a:t> </a:t>
            </a:r>
            <a:r>
              <a:rPr dirty="0" sz="6100" spc="195"/>
              <a:t>and</a:t>
            </a:r>
            <a:r>
              <a:rPr dirty="0" sz="6100" spc="-25"/>
              <a:t> 4:</a:t>
            </a:r>
            <a:endParaRPr sz="61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9711" y="0"/>
            <a:ext cx="10398288" cy="1586123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0" y="2260584"/>
            <a:ext cx="17600295" cy="8027034"/>
            <a:chOff x="0" y="2260584"/>
            <a:chExt cx="17600295" cy="8027034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8342979"/>
              <a:ext cx="9143959" cy="194402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3557" y="3195786"/>
              <a:ext cx="7124699" cy="584834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31996" y="2260584"/>
              <a:ext cx="9467849" cy="346709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8286" y="6319731"/>
              <a:ext cx="8477249" cy="32289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544" y="837633"/>
            <a:ext cx="8220074" cy="43052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9219" y="452841"/>
            <a:ext cx="8077198" cy="46862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09180" y="5468289"/>
            <a:ext cx="8810624" cy="45148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794711" cy="102869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32775" y="0"/>
              <a:ext cx="7655223" cy="479408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641909" y="5432254"/>
              <a:ext cx="4646089" cy="485474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935" rIns="0" bIns="0" rtlCol="0" vert="horz">
            <a:spAutoFit/>
          </a:bodyPr>
          <a:lstStyle/>
          <a:p>
            <a:pPr marL="1041400">
              <a:lnSpc>
                <a:spcPct val="100000"/>
              </a:lnSpc>
              <a:spcBef>
                <a:spcPts val="130"/>
              </a:spcBef>
            </a:pPr>
            <a:r>
              <a:rPr dirty="0" sz="4850" spc="110"/>
              <a:t>Milestone</a:t>
            </a:r>
            <a:r>
              <a:rPr dirty="0" sz="4850" spc="-70"/>
              <a:t> </a:t>
            </a:r>
            <a:r>
              <a:rPr dirty="0" sz="4850" spc="-60"/>
              <a:t>5:</a:t>
            </a:r>
            <a:r>
              <a:rPr dirty="0" sz="4850" spc="-65"/>
              <a:t> </a:t>
            </a:r>
            <a:r>
              <a:rPr dirty="0" sz="4850" spc="50"/>
              <a:t>Visualization</a:t>
            </a:r>
            <a:r>
              <a:rPr dirty="0" sz="4850" spc="-65"/>
              <a:t> </a:t>
            </a:r>
            <a:r>
              <a:rPr dirty="0" sz="4850" spc="180"/>
              <a:t>Dashboard</a:t>
            </a:r>
            <a:r>
              <a:rPr dirty="0" sz="4850" spc="-65"/>
              <a:t> </a:t>
            </a:r>
            <a:r>
              <a:rPr dirty="0" sz="4850" spc="130"/>
              <a:t>Development</a:t>
            </a:r>
            <a:endParaRPr sz="4850"/>
          </a:p>
        </p:txBody>
      </p:sp>
      <p:grpSp>
        <p:nvGrpSpPr>
          <p:cNvPr id="7" name="object 7" descr=""/>
          <p:cNvGrpSpPr/>
          <p:nvPr/>
        </p:nvGrpSpPr>
        <p:grpSpPr>
          <a:xfrm>
            <a:off x="323849" y="3258047"/>
            <a:ext cx="567055" cy="6169660"/>
            <a:chOff x="323849" y="3258047"/>
            <a:chExt cx="567055" cy="6169660"/>
          </a:xfrm>
        </p:grpSpPr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3849" y="3258047"/>
              <a:ext cx="133350" cy="13334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3849" y="4324847"/>
              <a:ext cx="133350" cy="13334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3544" y="6550978"/>
              <a:ext cx="116805" cy="116805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3544" y="7010901"/>
              <a:ext cx="116805" cy="116805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3544" y="7470823"/>
              <a:ext cx="116805" cy="116805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3544" y="7930746"/>
              <a:ext cx="116805" cy="116805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3544" y="8390668"/>
              <a:ext cx="116805" cy="116805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3544" y="8850590"/>
              <a:ext cx="116805" cy="116805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3544" y="9310513"/>
              <a:ext cx="116805" cy="116805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236251" y="2065091"/>
            <a:ext cx="17833975" cy="7492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300" spc="-275">
                <a:solidFill>
                  <a:srgbClr val="2A2A2A"/>
                </a:solidFill>
                <a:latin typeface="Arial Black"/>
                <a:cs typeface="Arial Black"/>
              </a:rPr>
              <a:t>Objective:</a:t>
            </a:r>
            <a:endParaRPr sz="4300">
              <a:latin typeface="Arial Black"/>
              <a:cs typeface="Arial Black"/>
            </a:endParaRPr>
          </a:p>
          <a:p>
            <a:pPr algn="ctr" marL="1708150" marR="1171575">
              <a:lnSpc>
                <a:spcPct val="116700"/>
              </a:lnSpc>
              <a:spcBef>
                <a:spcPts val="2105"/>
              </a:spcBef>
            </a:pPr>
            <a:r>
              <a:rPr dirty="0" sz="3000" spc="55">
                <a:solidFill>
                  <a:srgbClr val="2A2A2A"/>
                </a:solidFill>
                <a:latin typeface="Lucida Sans Unicode"/>
                <a:cs typeface="Lucida Sans Unicode"/>
              </a:rPr>
              <a:t>Develop</a:t>
            </a:r>
            <a:r>
              <a:rPr dirty="0" sz="3000" spc="-1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2A2A2A"/>
                </a:solidFill>
                <a:latin typeface="Lucida Sans Unicode"/>
                <a:cs typeface="Lucida Sans Unicode"/>
              </a:rPr>
              <a:t>an</a:t>
            </a:r>
            <a:r>
              <a:rPr dirty="0" sz="3000" spc="-1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45">
                <a:solidFill>
                  <a:srgbClr val="2A2A2A"/>
                </a:solidFill>
                <a:latin typeface="Lucida Sans Unicode"/>
                <a:cs typeface="Lucida Sans Unicode"/>
              </a:rPr>
              <a:t>interactive</a:t>
            </a:r>
            <a:r>
              <a:rPr dirty="0" sz="3000" spc="-1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2A2A2A"/>
                </a:solidFill>
                <a:latin typeface="Lucida Sans Unicode"/>
                <a:cs typeface="Lucida Sans Unicode"/>
              </a:rPr>
              <a:t>dashboard</a:t>
            </a:r>
            <a:r>
              <a:rPr dirty="0" sz="3000" spc="-1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60">
                <a:solidFill>
                  <a:srgbClr val="2A2A2A"/>
                </a:solidFill>
                <a:latin typeface="Lucida Sans Unicode"/>
                <a:cs typeface="Lucida Sans Unicode"/>
              </a:rPr>
              <a:t>to</a:t>
            </a:r>
            <a:r>
              <a:rPr dirty="0" sz="3000" spc="-1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30">
                <a:solidFill>
                  <a:srgbClr val="2A2A2A"/>
                </a:solidFill>
                <a:latin typeface="Lucida Sans Unicode"/>
                <a:cs typeface="Lucida Sans Unicode"/>
              </a:rPr>
              <a:t>visualize</a:t>
            </a:r>
            <a:r>
              <a:rPr dirty="0" sz="3000" spc="-14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110">
                <a:solidFill>
                  <a:srgbClr val="2A2A2A"/>
                </a:solidFill>
                <a:latin typeface="Lucida Sans Unicode"/>
                <a:cs typeface="Lucida Sans Unicode"/>
              </a:rPr>
              <a:t>RUL</a:t>
            </a:r>
            <a:r>
              <a:rPr dirty="0" sz="3000" spc="-1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2A2A2A"/>
                </a:solidFill>
                <a:latin typeface="Lucida Sans Unicode"/>
                <a:cs typeface="Lucida Sans Unicode"/>
              </a:rPr>
              <a:t>predictions,</a:t>
            </a:r>
            <a:r>
              <a:rPr dirty="0" sz="3000" spc="-1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2A2A2A"/>
                </a:solidFill>
                <a:latin typeface="Lucida Sans Unicode"/>
                <a:cs typeface="Lucida Sans Unicode"/>
              </a:rPr>
              <a:t>alerts,</a:t>
            </a:r>
            <a:r>
              <a:rPr dirty="0" sz="3000" spc="-1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3000" spc="-1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20">
                <a:solidFill>
                  <a:srgbClr val="2A2A2A"/>
                </a:solidFill>
                <a:latin typeface="Lucida Sans Unicode"/>
                <a:cs typeface="Lucida Sans Unicode"/>
              </a:rPr>
              <a:t>model </a:t>
            </a:r>
            <a:r>
              <a:rPr dirty="0" sz="3000" spc="-10">
                <a:solidFill>
                  <a:srgbClr val="2A2A2A"/>
                </a:solidFill>
                <a:latin typeface="Lucida Sans Unicode"/>
                <a:cs typeface="Lucida Sans Unicode"/>
              </a:rPr>
              <a:t>performance.</a:t>
            </a:r>
            <a:endParaRPr sz="3000">
              <a:latin typeface="Lucida Sans Unicode"/>
              <a:cs typeface="Lucida Sans Unicode"/>
            </a:endParaRPr>
          </a:p>
          <a:p>
            <a:pPr algn="ctr" marL="528320">
              <a:lnSpc>
                <a:spcPct val="100000"/>
              </a:lnSpc>
              <a:spcBef>
                <a:spcPts val="600"/>
              </a:spcBef>
            </a:pPr>
            <a:r>
              <a:rPr dirty="0" sz="3000" spc="65">
                <a:solidFill>
                  <a:srgbClr val="2A2A2A"/>
                </a:solidFill>
                <a:latin typeface="Lucida Sans Unicode"/>
                <a:cs typeface="Lucida Sans Unicode"/>
              </a:rPr>
              <a:t>Provide</a:t>
            </a:r>
            <a:r>
              <a:rPr dirty="0" sz="3000" spc="-5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2A2A2A"/>
                </a:solidFill>
                <a:latin typeface="Lucida Sans Unicode"/>
                <a:cs typeface="Lucida Sans Unicode"/>
              </a:rPr>
              <a:t>an</a:t>
            </a:r>
            <a:r>
              <a:rPr dirty="0" sz="3000" spc="-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2A2A2A"/>
                </a:solidFill>
                <a:latin typeface="Lucida Sans Unicode"/>
                <a:cs typeface="Lucida Sans Unicode"/>
              </a:rPr>
              <a:t>intuitive</a:t>
            </a:r>
            <a:r>
              <a:rPr dirty="0" sz="3000" spc="-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2A2A2A"/>
                </a:solidFill>
                <a:latin typeface="Lucida Sans Unicode"/>
                <a:cs typeface="Lucida Sans Unicode"/>
              </a:rPr>
              <a:t>user</a:t>
            </a:r>
            <a:r>
              <a:rPr dirty="0" sz="3000" spc="-5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2A2A2A"/>
                </a:solidFill>
                <a:latin typeface="Lucida Sans Unicode"/>
                <a:cs typeface="Lucida Sans Unicode"/>
              </a:rPr>
              <a:t>interface</a:t>
            </a:r>
            <a:r>
              <a:rPr dirty="0" sz="3000" spc="-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2A2A2A"/>
                </a:solidFill>
                <a:latin typeface="Lucida Sans Unicode"/>
                <a:cs typeface="Lucida Sans Unicode"/>
              </a:rPr>
              <a:t>for</a:t>
            </a:r>
            <a:r>
              <a:rPr dirty="0" sz="3000" spc="-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20">
                <a:solidFill>
                  <a:srgbClr val="2A2A2A"/>
                </a:solidFill>
                <a:latin typeface="Lucida Sans Unicode"/>
                <a:cs typeface="Lucida Sans Unicode"/>
              </a:rPr>
              <a:t>monitoring</a:t>
            </a:r>
            <a:r>
              <a:rPr dirty="0" sz="3000" spc="-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2A2A2A"/>
                </a:solidFill>
                <a:latin typeface="Lucida Sans Unicode"/>
                <a:cs typeface="Lucida Sans Unicode"/>
              </a:rPr>
              <a:t>machine</a:t>
            </a:r>
            <a:r>
              <a:rPr dirty="0" sz="3000" spc="-5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2A2A2A"/>
                </a:solidFill>
                <a:latin typeface="Lucida Sans Unicode"/>
                <a:cs typeface="Lucida Sans Unicode"/>
              </a:rPr>
              <a:t>health</a:t>
            </a:r>
            <a:r>
              <a:rPr dirty="0" sz="3000" spc="-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3000" spc="-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2A2A2A"/>
                </a:solidFill>
                <a:latin typeface="Lucida Sans Unicode"/>
                <a:cs typeface="Lucida Sans Unicode"/>
              </a:rPr>
              <a:t>maintenance</a:t>
            </a:r>
            <a:r>
              <a:rPr dirty="0" sz="3000" spc="-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10">
                <a:solidFill>
                  <a:srgbClr val="2A2A2A"/>
                </a:solidFill>
                <a:latin typeface="Lucida Sans Unicode"/>
                <a:cs typeface="Lucida Sans Unicode"/>
              </a:rPr>
              <a:t>decisions.</a:t>
            </a:r>
            <a:endParaRPr sz="30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839"/>
              </a:spcBef>
            </a:pPr>
            <a:endParaRPr sz="3000">
              <a:latin typeface="Lucida Sans Unicode"/>
              <a:cs typeface="Lucida Sans Unicode"/>
            </a:endParaRPr>
          </a:p>
          <a:p>
            <a:pPr marL="157480">
              <a:lnSpc>
                <a:spcPct val="100000"/>
              </a:lnSpc>
            </a:pPr>
            <a:r>
              <a:rPr dirty="0" sz="4500" spc="-345">
                <a:solidFill>
                  <a:srgbClr val="2A2A2A"/>
                </a:solidFill>
                <a:latin typeface="Arial Black"/>
                <a:cs typeface="Arial Black"/>
              </a:rPr>
              <a:t>Features:</a:t>
            </a:r>
            <a:endParaRPr sz="4500">
              <a:latin typeface="Arial Black"/>
              <a:cs typeface="Arial Black"/>
            </a:endParaRPr>
          </a:p>
          <a:p>
            <a:pPr algn="ctr" marL="1032510">
              <a:lnSpc>
                <a:spcPct val="100000"/>
              </a:lnSpc>
              <a:spcBef>
                <a:spcPts val="2225"/>
              </a:spcBef>
            </a:pP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Display</a:t>
            </a:r>
            <a:r>
              <a:rPr dirty="0" sz="26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80">
                <a:solidFill>
                  <a:srgbClr val="2A2A2A"/>
                </a:solidFill>
                <a:latin typeface="Lucida Sans Unicode"/>
                <a:cs typeface="Lucida Sans Unicode"/>
              </a:rPr>
              <a:t>RUL</a:t>
            </a:r>
            <a:r>
              <a:rPr dirty="0" sz="26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trends</a:t>
            </a:r>
            <a:r>
              <a:rPr dirty="0" sz="26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over</a:t>
            </a:r>
            <a:r>
              <a:rPr dirty="0" sz="26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time</a:t>
            </a:r>
            <a:r>
              <a:rPr dirty="0" sz="26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with</a:t>
            </a:r>
            <a:r>
              <a:rPr dirty="0" sz="26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interactive</a:t>
            </a:r>
            <a:r>
              <a:rPr dirty="0" sz="26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0">
                <a:solidFill>
                  <a:srgbClr val="2A2A2A"/>
                </a:solidFill>
                <a:latin typeface="Lucida Sans Unicode"/>
                <a:cs typeface="Lucida Sans Unicode"/>
              </a:rPr>
              <a:t>charts.</a:t>
            </a:r>
            <a:endParaRPr sz="2600">
              <a:latin typeface="Lucida Sans Unicode"/>
              <a:cs typeface="Lucida Sans Unicode"/>
            </a:endParaRPr>
          </a:p>
          <a:p>
            <a:pPr algn="ctr" marL="1032510">
              <a:lnSpc>
                <a:spcPct val="100000"/>
              </a:lnSpc>
              <a:spcBef>
                <a:spcPts val="505"/>
              </a:spcBef>
            </a:pP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Show</a:t>
            </a:r>
            <a:r>
              <a:rPr dirty="0" sz="2600" spc="-114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alert</a:t>
            </a:r>
            <a:r>
              <a:rPr dirty="0" sz="2600" spc="-114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65">
                <a:solidFill>
                  <a:srgbClr val="2A2A2A"/>
                </a:solidFill>
                <a:latin typeface="Lucida Sans Unicode"/>
                <a:cs typeface="Lucida Sans Unicode"/>
              </a:rPr>
              <a:t>zones</a:t>
            </a:r>
            <a:r>
              <a:rPr dirty="0" sz="260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35">
                <a:solidFill>
                  <a:srgbClr val="2A2A2A"/>
                </a:solidFill>
                <a:latin typeface="Lucida Sans Unicode"/>
                <a:cs typeface="Lucida Sans Unicode"/>
              </a:rPr>
              <a:t>categorized</a:t>
            </a:r>
            <a:r>
              <a:rPr dirty="0" sz="2600" spc="-114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55">
                <a:solidFill>
                  <a:srgbClr val="2A2A2A"/>
                </a:solidFill>
                <a:latin typeface="Lucida Sans Unicode"/>
                <a:cs typeface="Lucida Sans Unicode"/>
              </a:rPr>
              <a:t>by</a:t>
            </a:r>
            <a:r>
              <a:rPr dirty="0" sz="260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0">
                <a:solidFill>
                  <a:srgbClr val="2A2A2A"/>
                </a:solidFill>
                <a:latin typeface="Lucida Sans Unicode"/>
                <a:cs typeface="Lucida Sans Unicode"/>
              </a:rPr>
              <a:t>Normal,</a:t>
            </a:r>
            <a:r>
              <a:rPr dirty="0" sz="2600" spc="-114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40">
                <a:solidFill>
                  <a:srgbClr val="2A2A2A"/>
                </a:solidFill>
                <a:latin typeface="Lucida Sans Unicode"/>
                <a:cs typeface="Lucida Sans Unicode"/>
              </a:rPr>
              <a:t>Warning,</a:t>
            </a:r>
            <a:r>
              <a:rPr dirty="0" sz="260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2600" spc="-114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Critical</a:t>
            </a:r>
            <a:r>
              <a:rPr dirty="0" sz="260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levels</a:t>
            </a:r>
            <a:r>
              <a:rPr dirty="0" sz="2600" spc="-114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based</a:t>
            </a:r>
            <a:r>
              <a:rPr dirty="0" sz="260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on</a:t>
            </a:r>
            <a:r>
              <a:rPr dirty="0" sz="2600" spc="-114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0">
                <a:solidFill>
                  <a:srgbClr val="2A2A2A"/>
                </a:solidFill>
                <a:latin typeface="Lucida Sans Unicode"/>
                <a:cs typeface="Lucida Sans Unicode"/>
              </a:rPr>
              <a:t>thresholding.</a:t>
            </a:r>
            <a:endParaRPr sz="2600">
              <a:latin typeface="Lucida Sans Unicode"/>
              <a:cs typeface="Lucida Sans Unicode"/>
            </a:endParaRPr>
          </a:p>
          <a:p>
            <a:pPr algn="ctr" marL="1032510">
              <a:lnSpc>
                <a:spcPct val="100000"/>
              </a:lnSpc>
              <a:spcBef>
                <a:spcPts val="500"/>
              </a:spcBef>
            </a:pPr>
            <a:r>
              <a:rPr dirty="0" sz="2600" spc="-40">
                <a:solidFill>
                  <a:srgbClr val="2A2A2A"/>
                </a:solidFill>
                <a:latin typeface="Lucida Sans Unicode"/>
                <a:cs typeface="Lucida Sans Unicode"/>
              </a:rPr>
              <a:t>Visualization</a:t>
            </a:r>
            <a:r>
              <a:rPr dirty="0" sz="2600" spc="-13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of</a:t>
            </a:r>
            <a:r>
              <a:rPr dirty="0" sz="2600" spc="-13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model</a:t>
            </a:r>
            <a:r>
              <a:rPr dirty="0" sz="2600" spc="-13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evaluation</a:t>
            </a:r>
            <a:r>
              <a:rPr dirty="0" sz="2600" spc="-13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metrics</a:t>
            </a:r>
            <a:r>
              <a:rPr dirty="0" sz="2600" spc="-13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30">
                <a:solidFill>
                  <a:srgbClr val="2A2A2A"/>
                </a:solidFill>
                <a:latin typeface="Lucida Sans Unicode"/>
                <a:cs typeface="Lucida Sans Unicode"/>
              </a:rPr>
              <a:t>including</a:t>
            </a:r>
            <a:r>
              <a:rPr dirty="0" sz="2600" spc="-13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35">
                <a:solidFill>
                  <a:srgbClr val="2A2A2A"/>
                </a:solidFill>
                <a:latin typeface="Lucida Sans Unicode"/>
                <a:cs typeface="Lucida Sans Unicode"/>
              </a:rPr>
              <a:t>training</a:t>
            </a:r>
            <a:r>
              <a:rPr dirty="0" sz="2600" spc="-13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55">
                <a:solidFill>
                  <a:srgbClr val="2A2A2A"/>
                </a:solidFill>
                <a:latin typeface="Lucida Sans Unicode"/>
                <a:cs typeface="Lucida Sans Unicode"/>
              </a:rPr>
              <a:t>loss,</a:t>
            </a:r>
            <a:r>
              <a:rPr dirty="0" sz="2600" spc="-13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MAE,</a:t>
            </a:r>
            <a:r>
              <a:rPr dirty="0" sz="2600" spc="-13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26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validation</a:t>
            </a:r>
            <a:r>
              <a:rPr dirty="0" sz="2600" spc="-13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0">
                <a:solidFill>
                  <a:srgbClr val="2A2A2A"/>
                </a:solidFill>
                <a:latin typeface="Lucida Sans Unicode"/>
                <a:cs typeface="Lucida Sans Unicode"/>
              </a:rPr>
              <a:t>performance.</a:t>
            </a:r>
            <a:endParaRPr sz="2600">
              <a:latin typeface="Lucida Sans Unicode"/>
              <a:cs typeface="Lucida Sans Unicode"/>
            </a:endParaRPr>
          </a:p>
          <a:p>
            <a:pPr algn="ctr" marL="1032510">
              <a:lnSpc>
                <a:spcPct val="100000"/>
              </a:lnSpc>
              <a:spcBef>
                <a:spcPts val="500"/>
              </a:spcBef>
            </a:pP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Provide</a:t>
            </a:r>
            <a:r>
              <a:rPr dirty="0" sz="2600" spc="-114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alert</a:t>
            </a:r>
            <a:r>
              <a:rPr dirty="0" sz="260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distribution</a:t>
            </a:r>
            <a:r>
              <a:rPr dirty="0" sz="260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260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confusion</a:t>
            </a:r>
            <a:r>
              <a:rPr dirty="0" sz="260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60">
                <a:solidFill>
                  <a:srgbClr val="2A2A2A"/>
                </a:solidFill>
                <a:latin typeface="Lucida Sans Unicode"/>
                <a:cs typeface="Lucida Sans Unicode"/>
              </a:rPr>
              <a:t>matrix</a:t>
            </a:r>
            <a:r>
              <a:rPr dirty="0" sz="260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heatmap</a:t>
            </a:r>
            <a:r>
              <a:rPr dirty="0" sz="260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to</a:t>
            </a:r>
            <a:r>
              <a:rPr dirty="0" sz="260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5">
                <a:solidFill>
                  <a:srgbClr val="2A2A2A"/>
                </a:solidFill>
                <a:latin typeface="Lucida Sans Unicode"/>
                <a:cs typeface="Lucida Sans Unicode"/>
              </a:rPr>
              <a:t>assess</a:t>
            </a:r>
            <a:r>
              <a:rPr dirty="0" sz="260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alert</a:t>
            </a:r>
            <a:r>
              <a:rPr dirty="0" sz="260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system</a:t>
            </a:r>
            <a:r>
              <a:rPr dirty="0" sz="260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0">
                <a:solidFill>
                  <a:srgbClr val="2A2A2A"/>
                </a:solidFill>
                <a:latin typeface="Lucida Sans Unicode"/>
                <a:cs typeface="Lucida Sans Unicode"/>
              </a:rPr>
              <a:t>accuracy.</a:t>
            </a:r>
            <a:endParaRPr sz="2600">
              <a:latin typeface="Lucida Sans Unicode"/>
              <a:cs typeface="Lucida Sans Unicode"/>
            </a:endParaRPr>
          </a:p>
          <a:p>
            <a:pPr algn="ctr" marL="1032510">
              <a:lnSpc>
                <a:spcPct val="100000"/>
              </a:lnSpc>
              <a:spcBef>
                <a:spcPts val="500"/>
              </a:spcBef>
            </a:pP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Ability</a:t>
            </a:r>
            <a:r>
              <a:rPr dirty="0" sz="2600" spc="-1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to</a:t>
            </a:r>
            <a:r>
              <a:rPr dirty="0" sz="26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40">
                <a:solidFill>
                  <a:srgbClr val="2A2A2A"/>
                </a:solidFill>
                <a:latin typeface="Lucida Sans Unicode"/>
                <a:cs typeface="Lucida Sans Unicode"/>
              </a:rPr>
              <a:t>explore</a:t>
            </a:r>
            <a:r>
              <a:rPr dirty="0" sz="26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actual</a:t>
            </a:r>
            <a:r>
              <a:rPr dirty="0" sz="26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55">
                <a:solidFill>
                  <a:srgbClr val="2A2A2A"/>
                </a:solidFill>
                <a:latin typeface="Lucida Sans Unicode"/>
                <a:cs typeface="Lucida Sans Unicode"/>
              </a:rPr>
              <a:t>vs</a:t>
            </a:r>
            <a:r>
              <a:rPr dirty="0" sz="26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predicted</a:t>
            </a:r>
            <a:r>
              <a:rPr dirty="0" sz="26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80">
                <a:solidFill>
                  <a:srgbClr val="2A2A2A"/>
                </a:solidFill>
                <a:latin typeface="Lucida Sans Unicode"/>
                <a:cs typeface="Lucida Sans Unicode"/>
              </a:rPr>
              <a:t>RUL</a:t>
            </a:r>
            <a:r>
              <a:rPr dirty="0" sz="26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values</a:t>
            </a:r>
            <a:r>
              <a:rPr dirty="0" sz="26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with</a:t>
            </a:r>
            <a:r>
              <a:rPr dirty="0" sz="26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optional</a:t>
            </a:r>
            <a:r>
              <a:rPr dirty="0" sz="26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45">
                <a:solidFill>
                  <a:srgbClr val="2A2A2A"/>
                </a:solidFill>
                <a:latin typeface="Lucida Sans Unicode"/>
                <a:cs typeface="Lucida Sans Unicode"/>
              </a:rPr>
              <a:t>perfect</a:t>
            </a:r>
            <a:r>
              <a:rPr dirty="0" sz="26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prediction</a:t>
            </a:r>
            <a:r>
              <a:rPr dirty="0" sz="26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reference</a:t>
            </a:r>
            <a:r>
              <a:rPr dirty="0" sz="26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0">
                <a:solidFill>
                  <a:srgbClr val="2A2A2A"/>
                </a:solidFill>
                <a:latin typeface="Lucida Sans Unicode"/>
                <a:cs typeface="Lucida Sans Unicode"/>
              </a:rPr>
              <a:t>line.</a:t>
            </a:r>
            <a:endParaRPr sz="2600">
              <a:latin typeface="Lucida Sans Unicode"/>
              <a:cs typeface="Lucida Sans Unicode"/>
            </a:endParaRPr>
          </a:p>
          <a:p>
            <a:pPr algn="ctr" marL="1032510">
              <a:lnSpc>
                <a:spcPct val="100000"/>
              </a:lnSpc>
              <a:spcBef>
                <a:spcPts val="505"/>
              </a:spcBef>
            </a:pP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Sample</a:t>
            </a:r>
            <a:r>
              <a:rPr dirty="0" sz="2600" spc="-1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maintenance</a:t>
            </a:r>
            <a:r>
              <a:rPr dirty="0" sz="26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alerts</a:t>
            </a:r>
            <a:r>
              <a:rPr dirty="0" sz="26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26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full</a:t>
            </a:r>
            <a:r>
              <a:rPr dirty="0" sz="26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test</a:t>
            </a:r>
            <a:r>
              <a:rPr dirty="0" sz="26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predictions</a:t>
            </a:r>
            <a:r>
              <a:rPr dirty="0" sz="26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with</a:t>
            </a:r>
            <a:r>
              <a:rPr dirty="0" sz="26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0">
                <a:solidFill>
                  <a:srgbClr val="2A2A2A"/>
                </a:solidFill>
                <a:latin typeface="Lucida Sans Unicode"/>
                <a:cs typeface="Lucida Sans Unicode"/>
              </a:rPr>
              <a:t>filtering</a:t>
            </a:r>
            <a:r>
              <a:rPr dirty="0" sz="26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0">
                <a:solidFill>
                  <a:srgbClr val="2A2A2A"/>
                </a:solidFill>
                <a:latin typeface="Lucida Sans Unicode"/>
                <a:cs typeface="Lucida Sans Unicode"/>
              </a:rPr>
              <a:t>options.</a:t>
            </a:r>
            <a:endParaRPr sz="2600">
              <a:latin typeface="Lucida Sans Unicode"/>
              <a:cs typeface="Lucida Sans Unicode"/>
            </a:endParaRPr>
          </a:p>
          <a:p>
            <a:pPr algn="ctr" marL="1032510">
              <a:lnSpc>
                <a:spcPct val="100000"/>
              </a:lnSpc>
              <a:spcBef>
                <a:spcPts val="500"/>
              </a:spcBef>
            </a:pPr>
            <a:r>
              <a:rPr dirty="0" sz="2600" spc="-10">
                <a:solidFill>
                  <a:srgbClr val="2A2A2A"/>
                </a:solidFill>
                <a:latin typeface="Lucida Sans Unicode"/>
                <a:cs typeface="Lucida Sans Unicode"/>
              </a:rPr>
              <a:t>Additional</a:t>
            </a:r>
            <a:r>
              <a:rPr dirty="0" sz="2600" spc="-14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reports</a:t>
            </a:r>
            <a:r>
              <a:rPr dirty="0" sz="2600" spc="-1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on</a:t>
            </a:r>
            <a:r>
              <a:rPr dirty="0" sz="2600" spc="-1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system</a:t>
            </a:r>
            <a:r>
              <a:rPr dirty="0" sz="2600" spc="-1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performance,</a:t>
            </a:r>
            <a:r>
              <a:rPr dirty="0" sz="2600" spc="-1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data</a:t>
            </a:r>
            <a:r>
              <a:rPr dirty="0" sz="2600" spc="-1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30">
                <a:solidFill>
                  <a:srgbClr val="2A2A2A"/>
                </a:solidFill>
                <a:latin typeface="Lucida Sans Unicode"/>
                <a:cs typeface="Lucida Sans Unicode"/>
              </a:rPr>
              <a:t>quality,</a:t>
            </a:r>
            <a:r>
              <a:rPr dirty="0" sz="2600" spc="-1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2600" spc="-1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A2A2A"/>
                </a:solidFill>
                <a:latin typeface="Lucida Sans Unicode"/>
                <a:cs typeface="Lucida Sans Unicode"/>
              </a:rPr>
              <a:t>model</a:t>
            </a:r>
            <a:r>
              <a:rPr dirty="0" sz="2600" spc="-1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0">
                <a:solidFill>
                  <a:srgbClr val="2A2A2A"/>
                </a:solidFill>
                <a:latin typeface="Lucida Sans Unicode"/>
                <a:cs typeface="Lucida Sans Unicode"/>
              </a:rPr>
              <a:t>configuration</a:t>
            </a:r>
            <a:endParaRPr sz="2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846" y="276859"/>
            <a:ext cx="540702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350">
                <a:latin typeface="Arial Black"/>
                <a:cs typeface="Arial Black"/>
              </a:rPr>
              <a:t>Technology</a:t>
            </a:r>
            <a:r>
              <a:rPr dirty="0" sz="4800" spc="-450">
                <a:latin typeface="Arial Black"/>
                <a:cs typeface="Arial Black"/>
              </a:rPr>
              <a:t> </a:t>
            </a:r>
            <a:r>
              <a:rPr dirty="0" sz="4800" spc="-459">
                <a:latin typeface="Arial Black"/>
                <a:cs typeface="Arial Black"/>
              </a:rPr>
              <a:t>Stack:</a:t>
            </a:r>
            <a:endParaRPr sz="4800">
              <a:latin typeface="Arial Black"/>
              <a:cs typeface="Arial Black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3253" y="1568604"/>
            <a:ext cx="152400" cy="1523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3253" y="2168679"/>
            <a:ext cx="152400" cy="1523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3253" y="2768754"/>
            <a:ext cx="152400" cy="1523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4491" y="4608349"/>
            <a:ext cx="152400" cy="15239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4491" y="5208424"/>
            <a:ext cx="152400" cy="1523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4491" y="5808499"/>
            <a:ext cx="152400" cy="15239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7208" y="8036483"/>
            <a:ext cx="136334" cy="13633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7208" y="8573299"/>
            <a:ext cx="136334" cy="13633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67208" y="9110115"/>
            <a:ext cx="136334" cy="13633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315730" y="1261257"/>
            <a:ext cx="17560925" cy="8134984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algn="ctr" marL="829310">
              <a:lnSpc>
                <a:spcPct val="100000"/>
              </a:lnSpc>
              <a:spcBef>
                <a:spcPts val="745"/>
              </a:spcBef>
            </a:pPr>
            <a:r>
              <a:rPr dirty="0" sz="3400" spc="65">
                <a:solidFill>
                  <a:srgbClr val="2A2A2A"/>
                </a:solidFill>
                <a:latin typeface="Lucida Sans Unicode"/>
                <a:cs typeface="Lucida Sans Unicode"/>
              </a:rPr>
              <a:t>Built</a:t>
            </a:r>
            <a:r>
              <a:rPr dirty="0" sz="3400" spc="-1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with</a:t>
            </a:r>
            <a:r>
              <a:rPr dirty="0" sz="3400" spc="-19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Streamlit</a:t>
            </a:r>
            <a:r>
              <a:rPr dirty="0" sz="3400" spc="-19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for</a:t>
            </a:r>
            <a:r>
              <a:rPr dirty="0" sz="3400" spc="-19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rapid</a:t>
            </a:r>
            <a:r>
              <a:rPr dirty="0" sz="3400" spc="-19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3400" spc="-1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responsive</a:t>
            </a:r>
            <a:r>
              <a:rPr dirty="0" sz="3400" spc="-19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web</a:t>
            </a:r>
            <a:r>
              <a:rPr dirty="0" sz="3400" spc="-19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dashboard</a:t>
            </a:r>
            <a:r>
              <a:rPr dirty="0" sz="3400" spc="-19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2A2A2A"/>
                </a:solidFill>
                <a:latin typeface="Lucida Sans Unicode"/>
                <a:cs typeface="Lucida Sans Unicode"/>
              </a:rPr>
              <a:t>creation.</a:t>
            </a:r>
            <a:endParaRPr sz="3400">
              <a:latin typeface="Lucida Sans Unicode"/>
              <a:cs typeface="Lucida Sans Unicode"/>
            </a:endParaRPr>
          </a:p>
          <a:p>
            <a:pPr algn="ctr" marL="829310">
              <a:lnSpc>
                <a:spcPct val="100000"/>
              </a:lnSpc>
              <a:spcBef>
                <a:spcPts val="645"/>
              </a:spcBef>
            </a:pP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Used</a:t>
            </a:r>
            <a:r>
              <a:rPr dirty="0" sz="34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Matplotlib</a:t>
            </a:r>
            <a:r>
              <a:rPr dirty="0" sz="34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3400" spc="-9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Seaborn</a:t>
            </a:r>
            <a:r>
              <a:rPr dirty="0" sz="34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for</a:t>
            </a:r>
            <a:r>
              <a:rPr dirty="0" sz="34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0">
                <a:solidFill>
                  <a:srgbClr val="2A2A2A"/>
                </a:solidFill>
                <a:latin typeface="Lucida Sans Unicode"/>
                <a:cs typeface="Lucida Sans Unicode"/>
              </a:rPr>
              <a:t>plotting</a:t>
            </a:r>
            <a:r>
              <a:rPr dirty="0" sz="3400" spc="-9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data</a:t>
            </a:r>
            <a:r>
              <a:rPr dirty="0" sz="340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2A2A2A"/>
                </a:solidFill>
                <a:latin typeface="Lucida Sans Unicode"/>
                <a:cs typeface="Lucida Sans Unicode"/>
              </a:rPr>
              <a:t>visualizations.</a:t>
            </a:r>
            <a:endParaRPr sz="3400">
              <a:latin typeface="Lucida Sans Unicode"/>
              <a:cs typeface="Lucida Sans Unicode"/>
            </a:endParaRPr>
          </a:p>
          <a:p>
            <a:pPr algn="ctr" marL="829310">
              <a:lnSpc>
                <a:spcPct val="100000"/>
              </a:lnSpc>
              <a:spcBef>
                <a:spcPts val="645"/>
              </a:spcBef>
            </a:pP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Integrated</a:t>
            </a:r>
            <a:r>
              <a:rPr dirty="0" sz="3400" spc="-2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data</a:t>
            </a:r>
            <a:r>
              <a:rPr dirty="0" sz="3400" spc="-1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0">
                <a:solidFill>
                  <a:srgbClr val="2A2A2A"/>
                </a:solidFill>
                <a:latin typeface="Lucida Sans Unicode"/>
                <a:cs typeface="Lucida Sans Unicode"/>
              </a:rPr>
              <a:t>from</a:t>
            </a:r>
            <a:r>
              <a:rPr dirty="0" sz="3400" spc="-1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70">
                <a:solidFill>
                  <a:srgbClr val="2A2A2A"/>
                </a:solidFill>
                <a:latin typeface="Lucida Sans Unicode"/>
                <a:cs typeface="Lucida Sans Unicode"/>
              </a:rPr>
              <a:t>CSV</a:t>
            </a:r>
            <a:r>
              <a:rPr dirty="0" sz="3400" spc="-1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3400" spc="-1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50">
                <a:solidFill>
                  <a:srgbClr val="2A2A2A"/>
                </a:solidFill>
                <a:latin typeface="Lucida Sans Unicode"/>
                <a:cs typeface="Lucida Sans Unicode"/>
              </a:rPr>
              <a:t>text</a:t>
            </a:r>
            <a:r>
              <a:rPr dirty="0" sz="3400" spc="-1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reports</a:t>
            </a:r>
            <a:r>
              <a:rPr dirty="0" sz="3400" spc="-1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for</a:t>
            </a:r>
            <a:r>
              <a:rPr dirty="0" sz="3400" spc="-1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comprehensive</a:t>
            </a:r>
            <a:r>
              <a:rPr dirty="0" sz="3400" spc="-1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2A2A2A"/>
                </a:solidFill>
                <a:latin typeface="Lucida Sans Unicode"/>
                <a:cs typeface="Lucida Sans Unicode"/>
              </a:rPr>
              <a:t>insights.</a:t>
            </a:r>
            <a:endParaRPr sz="3400">
              <a:latin typeface="Lucida Sans Unicode"/>
              <a:cs typeface="Lucida Sans Unicode"/>
            </a:endParaRPr>
          </a:p>
          <a:p>
            <a:pPr marL="79375">
              <a:lnSpc>
                <a:spcPct val="100000"/>
              </a:lnSpc>
              <a:spcBef>
                <a:spcPts val="3550"/>
              </a:spcBef>
            </a:pPr>
            <a:r>
              <a:rPr dirty="0" sz="5200" spc="-325">
                <a:solidFill>
                  <a:srgbClr val="2A2A2A"/>
                </a:solidFill>
                <a:latin typeface="Arial Black"/>
                <a:cs typeface="Arial Black"/>
              </a:rPr>
              <a:t>Deliverables:</a:t>
            </a:r>
            <a:endParaRPr sz="5200">
              <a:latin typeface="Arial Black"/>
              <a:cs typeface="Arial Black"/>
            </a:endParaRPr>
          </a:p>
          <a:p>
            <a:pPr algn="ctr" marL="2140585">
              <a:lnSpc>
                <a:spcPct val="100000"/>
              </a:lnSpc>
              <a:spcBef>
                <a:spcPts val="615"/>
              </a:spcBef>
            </a:pP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Fully</a:t>
            </a:r>
            <a:r>
              <a:rPr dirty="0" sz="3400" spc="-17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functional</a:t>
            </a:r>
            <a:r>
              <a:rPr dirty="0" sz="3400" spc="-17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dashboard</a:t>
            </a:r>
            <a:r>
              <a:rPr dirty="0" sz="3400" spc="-17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90">
                <a:solidFill>
                  <a:srgbClr val="2A2A2A"/>
                </a:solidFill>
                <a:latin typeface="Lucida Sans Unicode"/>
                <a:cs typeface="Lucida Sans Unicode"/>
              </a:rPr>
              <a:t>Python</a:t>
            </a:r>
            <a:r>
              <a:rPr dirty="0" sz="3400" spc="-17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2A2A2A"/>
                </a:solidFill>
                <a:latin typeface="Lucida Sans Unicode"/>
                <a:cs typeface="Lucida Sans Unicode"/>
              </a:rPr>
              <a:t>application.</a:t>
            </a:r>
            <a:endParaRPr sz="3400">
              <a:latin typeface="Lucida Sans Unicode"/>
              <a:cs typeface="Lucida Sans Unicode"/>
            </a:endParaRPr>
          </a:p>
          <a:p>
            <a:pPr algn="ctr" marL="2140585">
              <a:lnSpc>
                <a:spcPct val="100000"/>
              </a:lnSpc>
              <a:spcBef>
                <a:spcPts val="645"/>
              </a:spcBef>
            </a:pPr>
            <a:r>
              <a:rPr dirty="0" sz="3400" spc="-80">
                <a:solidFill>
                  <a:srgbClr val="2A2A2A"/>
                </a:solidFill>
                <a:latin typeface="Lucida Sans Unicode"/>
                <a:cs typeface="Lucida Sans Unicode"/>
              </a:rPr>
              <a:t>Clear,</a:t>
            </a:r>
            <a:r>
              <a:rPr dirty="0" sz="34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actionable</a:t>
            </a:r>
            <a:r>
              <a:rPr dirty="0" sz="34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5">
                <a:solidFill>
                  <a:srgbClr val="2A2A2A"/>
                </a:solidFill>
                <a:latin typeface="Lucida Sans Unicode"/>
                <a:cs typeface="Lucida Sans Unicode"/>
              </a:rPr>
              <a:t>graphical</a:t>
            </a:r>
            <a:r>
              <a:rPr dirty="0" sz="34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outputs</a:t>
            </a:r>
            <a:r>
              <a:rPr dirty="0" sz="3400" spc="-1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70">
                <a:solidFill>
                  <a:srgbClr val="2A2A2A"/>
                </a:solidFill>
                <a:latin typeface="Lucida Sans Unicode"/>
                <a:cs typeface="Lucida Sans Unicode"/>
              </a:rPr>
              <a:t>aiding</a:t>
            </a:r>
            <a:r>
              <a:rPr dirty="0" sz="34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proactive</a:t>
            </a:r>
            <a:r>
              <a:rPr dirty="0" sz="34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2A2A2A"/>
                </a:solidFill>
                <a:latin typeface="Lucida Sans Unicode"/>
                <a:cs typeface="Lucida Sans Unicode"/>
              </a:rPr>
              <a:t>maintenance.</a:t>
            </a:r>
            <a:endParaRPr sz="3400">
              <a:latin typeface="Lucida Sans Unicode"/>
              <a:cs typeface="Lucida Sans Unicode"/>
            </a:endParaRPr>
          </a:p>
          <a:p>
            <a:pPr algn="ctr" marL="2140585">
              <a:lnSpc>
                <a:spcPct val="100000"/>
              </a:lnSpc>
              <a:spcBef>
                <a:spcPts val="645"/>
              </a:spcBef>
            </a:pP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Documentation</a:t>
            </a:r>
            <a:r>
              <a:rPr dirty="0" sz="3400" spc="-13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for</a:t>
            </a:r>
            <a:r>
              <a:rPr dirty="0" sz="3400" spc="-13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deployment</a:t>
            </a:r>
            <a:r>
              <a:rPr dirty="0" sz="3400" spc="-13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3400" spc="-13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2A2A2A"/>
                </a:solidFill>
                <a:latin typeface="Lucida Sans Unicode"/>
                <a:cs typeface="Lucida Sans Unicode"/>
              </a:rPr>
              <a:t>usage.</a:t>
            </a:r>
            <a:endParaRPr sz="3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660"/>
              </a:spcBef>
            </a:pPr>
            <a:r>
              <a:rPr dirty="0" sz="5200" spc="-345">
                <a:solidFill>
                  <a:srgbClr val="2A2A2A"/>
                </a:solidFill>
                <a:latin typeface="Arial Black"/>
                <a:cs typeface="Arial Black"/>
              </a:rPr>
              <a:t>Outcome:</a:t>
            </a:r>
            <a:endParaRPr sz="5200">
              <a:latin typeface="Arial Black"/>
              <a:cs typeface="Arial Black"/>
            </a:endParaRPr>
          </a:p>
          <a:p>
            <a:pPr algn="ctr" marL="2063114">
              <a:lnSpc>
                <a:spcPct val="100000"/>
              </a:lnSpc>
              <a:spcBef>
                <a:spcPts val="2730"/>
              </a:spcBef>
            </a:pPr>
            <a:r>
              <a:rPr dirty="0" sz="3050">
                <a:solidFill>
                  <a:srgbClr val="2A2A2A"/>
                </a:solidFill>
                <a:latin typeface="Lucida Sans Unicode"/>
                <a:cs typeface="Lucida Sans Unicode"/>
              </a:rPr>
              <a:t>Enhanced</a:t>
            </a:r>
            <a:r>
              <a:rPr dirty="0" sz="3050" spc="-13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-20">
                <a:solidFill>
                  <a:srgbClr val="2A2A2A"/>
                </a:solidFill>
                <a:latin typeface="Lucida Sans Unicode"/>
                <a:cs typeface="Lucida Sans Unicode"/>
              </a:rPr>
              <a:t>user</a:t>
            </a:r>
            <a:r>
              <a:rPr dirty="0" sz="3050" spc="-13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-30">
                <a:solidFill>
                  <a:srgbClr val="2A2A2A"/>
                </a:solidFill>
                <a:latin typeface="Lucida Sans Unicode"/>
                <a:cs typeface="Lucida Sans Unicode"/>
              </a:rPr>
              <a:t>experience</a:t>
            </a:r>
            <a:r>
              <a:rPr dirty="0" sz="3050" spc="-13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-55">
                <a:solidFill>
                  <a:srgbClr val="2A2A2A"/>
                </a:solidFill>
                <a:latin typeface="Lucida Sans Unicode"/>
                <a:cs typeface="Lucida Sans Unicode"/>
              </a:rPr>
              <a:t>in</a:t>
            </a:r>
            <a:r>
              <a:rPr dirty="0" sz="3050" spc="-13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-25">
                <a:solidFill>
                  <a:srgbClr val="2A2A2A"/>
                </a:solidFill>
                <a:latin typeface="Lucida Sans Unicode"/>
                <a:cs typeface="Lucida Sans Unicode"/>
              </a:rPr>
              <a:t>accessing</a:t>
            </a:r>
            <a:r>
              <a:rPr dirty="0" sz="3050" spc="-13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>
                <a:solidFill>
                  <a:srgbClr val="2A2A2A"/>
                </a:solidFill>
                <a:latin typeface="Lucida Sans Unicode"/>
                <a:cs typeface="Lucida Sans Unicode"/>
              </a:rPr>
              <a:t>critical</a:t>
            </a:r>
            <a:r>
              <a:rPr dirty="0" sz="3050" spc="-13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>
                <a:solidFill>
                  <a:srgbClr val="2A2A2A"/>
                </a:solidFill>
                <a:latin typeface="Lucida Sans Unicode"/>
                <a:cs typeface="Lucida Sans Unicode"/>
              </a:rPr>
              <a:t>asset</a:t>
            </a:r>
            <a:r>
              <a:rPr dirty="0" sz="3050" spc="-13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>
                <a:solidFill>
                  <a:srgbClr val="2A2A2A"/>
                </a:solidFill>
                <a:latin typeface="Lucida Sans Unicode"/>
                <a:cs typeface="Lucida Sans Unicode"/>
              </a:rPr>
              <a:t>health</a:t>
            </a:r>
            <a:r>
              <a:rPr dirty="0" sz="3050" spc="-13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-10">
                <a:solidFill>
                  <a:srgbClr val="2A2A2A"/>
                </a:solidFill>
                <a:latin typeface="Lucida Sans Unicode"/>
                <a:cs typeface="Lucida Sans Unicode"/>
              </a:rPr>
              <a:t>information.</a:t>
            </a:r>
            <a:endParaRPr sz="3050">
              <a:latin typeface="Lucida Sans Unicode"/>
              <a:cs typeface="Lucida Sans Unicode"/>
            </a:endParaRPr>
          </a:p>
          <a:p>
            <a:pPr algn="ctr" marL="2063114">
              <a:lnSpc>
                <a:spcPct val="100000"/>
              </a:lnSpc>
              <a:spcBef>
                <a:spcPts val="565"/>
              </a:spcBef>
            </a:pPr>
            <a:r>
              <a:rPr dirty="0" sz="3050" spc="-130">
                <a:solidFill>
                  <a:srgbClr val="2A2A2A"/>
                </a:solidFill>
                <a:latin typeface="Lucida Sans Unicode"/>
                <a:cs typeface="Lucida Sans Unicode"/>
              </a:rPr>
              <a:t>Real-</a:t>
            </a:r>
            <a:r>
              <a:rPr dirty="0" sz="3050" spc="-10">
                <a:solidFill>
                  <a:srgbClr val="2A2A2A"/>
                </a:solidFill>
                <a:latin typeface="Lucida Sans Unicode"/>
                <a:cs typeface="Lucida Sans Unicode"/>
              </a:rPr>
              <a:t>time</a:t>
            </a:r>
            <a:r>
              <a:rPr dirty="0" sz="3050" spc="-19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-40">
                <a:solidFill>
                  <a:srgbClr val="2A2A2A"/>
                </a:solidFill>
                <a:latin typeface="Lucida Sans Unicode"/>
                <a:cs typeface="Lucida Sans Unicode"/>
              </a:rPr>
              <a:t>visualization</a:t>
            </a:r>
            <a:r>
              <a:rPr dirty="0" sz="3050" spc="-18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>
                <a:solidFill>
                  <a:srgbClr val="2A2A2A"/>
                </a:solidFill>
                <a:latin typeface="Lucida Sans Unicode"/>
                <a:cs typeface="Lucida Sans Unicode"/>
              </a:rPr>
              <a:t>supports</a:t>
            </a:r>
            <a:r>
              <a:rPr dirty="0" sz="3050" spc="-18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>
                <a:solidFill>
                  <a:srgbClr val="2A2A2A"/>
                </a:solidFill>
                <a:latin typeface="Lucida Sans Unicode"/>
                <a:cs typeface="Lucida Sans Unicode"/>
              </a:rPr>
              <a:t>timely</a:t>
            </a:r>
            <a:r>
              <a:rPr dirty="0" sz="3050" spc="-18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>
                <a:solidFill>
                  <a:srgbClr val="2A2A2A"/>
                </a:solidFill>
                <a:latin typeface="Lucida Sans Unicode"/>
                <a:cs typeface="Lucida Sans Unicode"/>
              </a:rPr>
              <a:t>maintenance</a:t>
            </a:r>
            <a:r>
              <a:rPr dirty="0" sz="3050" spc="-18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-10">
                <a:solidFill>
                  <a:srgbClr val="2A2A2A"/>
                </a:solidFill>
                <a:latin typeface="Lucida Sans Unicode"/>
                <a:cs typeface="Lucida Sans Unicode"/>
              </a:rPr>
              <a:t>interventions.</a:t>
            </a:r>
            <a:endParaRPr sz="3050">
              <a:latin typeface="Lucida Sans Unicode"/>
              <a:cs typeface="Lucida Sans Unicode"/>
            </a:endParaRPr>
          </a:p>
          <a:p>
            <a:pPr algn="ctr" marL="2063114">
              <a:lnSpc>
                <a:spcPct val="100000"/>
              </a:lnSpc>
              <a:spcBef>
                <a:spcPts val="570"/>
              </a:spcBef>
            </a:pPr>
            <a:r>
              <a:rPr dirty="0" sz="3050" spc="-10">
                <a:solidFill>
                  <a:srgbClr val="2A2A2A"/>
                </a:solidFill>
                <a:latin typeface="Lucida Sans Unicode"/>
                <a:cs typeface="Lucida Sans Unicode"/>
              </a:rPr>
              <a:t>Demonstrates</a:t>
            </a:r>
            <a:r>
              <a:rPr dirty="0" sz="3050" spc="-1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-155">
                <a:solidFill>
                  <a:srgbClr val="2A2A2A"/>
                </a:solidFill>
                <a:latin typeface="Lucida Sans Unicode"/>
                <a:cs typeface="Lucida Sans Unicode"/>
              </a:rPr>
              <a:t>end-</a:t>
            </a:r>
            <a:r>
              <a:rPr dirty="0" sz="3050" spc="-170">
                <a:solidFill>
                  <a:srgbClr val="2A2A2A"/>
                </a:solidFill>
                <a:latin typeface="Lucida Sans Unicode"/>
                <a:cs typeface="Lucida Sans Unicode"/>
              </a:rPr>
              <a:t>to-</a:t>
            </a:r>
            <a:r>
              <a:rPr dirty="0" sz="3050">
                <a:solidFill>
                  <a:srgbClr val="2A2A2A"/>
                </a:solidFill>
                <a:latin typeface="Lucida Sans Unicode"/>
                <a:cs typeface="Lucida Sans Unicode"/>
              </a:rPr>
              <a:t>end</a:t>
            </a:r>
            <a:r>
              <a:rPr dirty="0" sz="3050" spc="-14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-20">
                <a:solidFill>
                  <a:srgbClr val="2A2A2A"/>
                </a:solidFill>
                <a:latin typeface="Lucida Sans Unicode"/>
                <a:cs typeface="Lucida Sans Unicode"/>
              </a:rPr>
              <a:t>AI</a:t>
            </a:r>
            <a:r>
              <a:rPr dirty="0" sz="3050" spc="-1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>
                <a:solidFill>
                  <a:srgbClr val="2A2A2A"/>
                </a:solidFill>
                <a:latin typeface="Lucida Sans Unicode"/>
                <a:cs typeface="Lucida Sans Unicode"/>
              </a:rPr>
              <a:t>predictive</a:t>
            </a:r>
            <a:r>
              <a:rPr dirty="0" sz="3050" spc="-14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>
                <a:solidFill>
                  <a:srgbClr val="2A2A2A"/>
                </a:solidFill>
                <a:latin typeface="Lucida Sans Unicode"/>
                <a:cs typeface="Lucida Sans Unicode"/>
              </a:rPr>
              <a:t>maintenance</a:t>
            </a:r>
            <a:r>
              <a:rPr dirty="0" sz="3050" spc="-14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-20">
                <a:solidFill>
                  <a:srgbClr val="2A2A2A"/>
                </a:solidFill>
                <a:latin typeface="Lucida Sans Unicode"/>
                <a:cs typeface="Lucida Sans Unicode"/>
              </a:rPr>
              <a:t>solution</a:t>
            </a:r>
            <a:r>
              <a:rPr dirty="0" sz="3050" spc="-1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-25">
                <a:solidFill>
                  <a:srgbClr val="2A2A2A"/>
                </a:solidFill>
                <a:latin typeface="Lucida Sans Unicode"/>
                <a:cs typeface="Lucida Sans Unicode"/>
              </a:rPr>
              <a:t>from</a:t>
            </a:r>
            <a:r>
              <a:rPr dirty="0" sz="3050" spc="-14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>
                <a:solidFill>
                  <a:srgbClr val="2A2A2A"/>
                </a:solidFill>
                <a:latin typeface="Lucida Sans Unicode"/>
                <a:cs typeface="Lucida Sans Unicode"/>
              </a:rPr>
              <a:t>data</a:t>
            </a:r>
            <a:r>
              <a:rPr dirty="0" sz="3050" spc="-14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>
                <a:solidFill>
                  <a:srgbClr val="2A2A2A"/>
                </a:solidFill>
                <a:latin typeface="Lucida Sans Unicode"/>
                <a:cs typeface="Lucida Sans Unicode"/>
              </a:rPr>
              <a:t>to</a:t>
            </a:r>
            <a:r>
              <a:rPr dirty="0" sz="3050" spc="-1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-10">
                <a:solidFill>
                  <a:srgbClr val="2A2A2A"/>
                </a:solidFill>
                <a:latin typeface="Lucida Sans Unicode"/>
                <a:cs typeface="Lucida Sans Unicode"/>
              </a:rPr>
              <a:t>insights.</a:t>
            </a:r>
            <a:endParaRPr sz="30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6824960" cy="10287000"/>
            <a:chOff x="0" y="0"/>
            <a:chExt cx="1682496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3594428" cy="102869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2422" y="1853397"/>
              <a:ext cx="6848474" cy="349567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66449" y="1853397"/>
              <a:ext cx="6905624" cy="349567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2422" y="6175165"/>
              <a:ext cx="7400924" cy="372427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66449" y="6175166"/>
              <a:ext cx="7258049" cy="369569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415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90"/>
              <a:t>Dashboard</a:t>
            </a:r>
            <a:r>
              <a:rPr dirty="0" spc="-15"/>
              <a:t> </a:t>
            </a:r>
            <a:r>
              <a:rPr dirty="0" spc="155"/>
              <a:t>Application</a:t>
            </a:r>
            <a:r>
              <a:rPr dirty="0" spc="-15"/>
              <a:t> </a:t>
            </a:r>
            <a:r>
              <a:rPr dirty="0" spc="120"/>
              <a:t>Screenshot: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63889" y="0"/>
            <a:ext cx="17629505" cy="4749800"/>
            <a:chOff x="363889" y="0"/>
            <a:chExt cx="17629505" cy="47498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83138" y="0"/>
              <a:ext cx="5333999" cy="2447936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3889" y="643990"/>
              <a:ext cx="8448674" cy="410527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39352" y="594802"/>
              <a:ext cx="8353424" cy="4152899"/>
            </a:xfrm>
            <a:prstGeom prst="rect">
              <a:avLst/>
            </a:prstGeom>
          </p:spPr>
        </p:pic>
      </p:grpSp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4946" y="5517126"/>
            <a:ext cx="8353424" cy="411479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39352" y="5517126"/>
            <a:ext cx="8381999" cy="41147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683" y="629077"/>
            <a:ext cx="4911090" cy="1092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0" spc="235"/>
              <a:t>References</a:t>
            </a:r>
            <a:endParaRPr sz="70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817" y="2062432"/>
            <a:ext cx="126776" cy="12677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1817" y="2589042"/>
            <a:ext cx="126776" cy="12677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817" y="4168871"/>
            <a:ext cx="126776" cy="12677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817" y="5222090"/>
            <a:ext cx="126776" cy="12677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1817" y="6275309"/>
            <a:ext cx="126776" cy="12677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1817" y="7328529"/>
            <a:ext cx="126776" cy="12677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1817" y="8381748"/>
            <a:ext cx="126776" cy="126775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809213" y="1784106"/>
            <a:ext cx="17107535" cy="7398384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dirty="0" sz="2950">
                <a:solidFill>
                  <a:srgbClr val="2A2A2A"/>
                </a:solidFill>
                <a:latin typeface="Lucida Sans Unicode"/>
                <a:cs typeface="Lucida Sans Unicode"/>
              </a:rPr>
              <a:t>NASA.</a:t>
            </a:r>
            <a:r>
              <a:rPr dirty="0" sz="2950" spc="-16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145">
                <a:solidFill>
                  <a:srgbClr val="2A2A2A"/>
                </a:solidFill>
                <a:latin typeface="Lucida Sans Unicode"/>
                <a:cs typeface="Lucida Sans Unicode"/>
              </a:rPr>
              <a:t>CMAPSS</a:t>
            </a:r>
            <a:r>
              <a:rPr dirty="0" sz="2950" spc="-16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-20">
                <a:solidFill>
                  <a:srgbClr val="2A2A2A"/>
                </a:solidFill>
                <a:latin typeface="Lucida Sans Unicode"/>
                <a:cs typeface="Lucida Sans Unicode"/>
              </a:rPr>
              <a:t>Turbofan</a:t>
            </a:r>
            <a:r>
              <a:rPr dirty="0" sz="2950" spc="-16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>
                <a:solidFill>
                  <a:srgbClr val="2A2A2A"/>
                </a:solidFill>
                <a:latin typeface="Lucida Sans Unicode"/>
                <a:cs typeface="Lucida Sans Unicode"/>
              </a:rPr>
              <a:t>Engine</a:t>
            </a:r>
            <a:r>
              <a:rPr dirty="0" sz="2950" spc="-16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-10">
                <a:solidFill>
                  <a:srgbClr val="2A2A2A"/>
                </a:solidFill>
                <a:latin typeface="Lucida Sans Unicode"/>
                <a:cs typeface="Lucida Sans Unicode"/>
              </a:rPr>
              <a:t>Dataset.</a:t>
            </a:r>
            <a:endParaRPr sz="2950">
              <a:latin typeface="Lucida Sans Unicode"/>
              <a:cs typeface="Lucida Sans Unicode"/>
            </a:endParaRPr>
          </a:p>
          <a:p>
            <a:pPr algn="ctr" marL="562610" marR="554990">
              <a:lnSpc>
                <a:spcPct val="117100"/>
              </a:lnSpc>
            </a:pPr>
            <a:r>
              <a:rPr dirty="0" sz="2950" spc="-30">
                <a:solidFill>
                  <a:srgbClr val="2A2A2A"/>
                </a:solidFill>
                <a:latin typeface="Lucida Sans Unicode"/>
                <a:cs typeface="Lucida Sans Unicode"/>
              </a:rPr>
              <a:t>GeeksforGeeks.</a:t>
            </a:r>
            <a:r>
              <a:rPr dirty="0" sz="2950" spc="-14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75">
                <a:solidFill>
                  <a:srgbClr val="2A2A2A"/>
                </a:solidFill>
                <a:latin typeface="Lucida Sans Unicode"/>
                <a:cs typeface="Lucida Sans Unicode"/>
              </a:rPr>
              <a:t>LSTM</a:t>
            </a:r>
            <a:r>
              <a:rPr dirty="0" sz="2950" spc="-1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>
                <a:solidFill>
                  <a:srgbClr val="2A2A2A"/>
                </a:solidFill>
                <a:latin typeface="Lucida Sans Unicode"/>
                <a:cs typeface="Lucida Sans Unicode"/>
              </a:rPr>
              <a:t>Neural</a:t>
            </a:r>
            <a:r>
              <a:rPr dirty="0" sz="2950" spc="-1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>
                <a:solidFill>
                  <a:srgbClr val="2A2A2A"/>
                </a:solidFill>
                <a:latin typeface="Lucida Sans Unicode"/>
                <a:cs typeface="Lucida Sans Unicode"/>
              </a:rPr>
              <a:t>Networks</a:t>
            </a:r>
            <a:r>
              <a:rPr dirty="0" sz="2950" spc="-1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-20">
                <a:solidFill>
                  <a:srgbClr val="2A2A2A"/>
                </a:solidFill>
                <a:latin typeface="Lucida Sans Unicode"/>
                <a:cs typeface="Lucida Sans Unicode"/>
              </a:rPr>
              <a:t>in</a:t>
            </a:r>
            <a:r>
              <a:rPr dirty="0" sz="2950" spc="-1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65">
                <a:solidFill>
                  <a:srgbClr val="2A2A2A"/>
                </a:solidFill>
                <a:latin typeface="Lucida Sans Unicode"/>
                <a:cs typeface="Lucida Sans Unicode"/>
              </a:rPr>
              <a:t>Python.</a:t>
            </a:r>
            <a:r>
              <a:rPr dirty="0" sz="2950" spc="-14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>
                <a:solidFill>
                  <a:srgbClr val="2A2A2A"/>
                </a:solidFill>
                <a:latin typeface="Lucida Sans Unicode"/>
                <a:cs typeface="Lucida Sans Unicode"/>
              </a:rPr>
              <a:t>Available</a:t>
            </a:r>
            <a:r>
              <a:rPr dirty="0" sz="2950" spc="-1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-25">
                <a:solidFill>
                  <a:srgbClr val="2A2A2A"/>
                </a:solidFill>
                <a:latin typeface="Lucida Sans Unicode"/>
                <a:cs typeface="Lucida Sans Unicode"/>
              </a:rPr>
              <a:t>at: </a:t>
            </a:r>
            <a:r>
              <a:rPr dirty="0" u="heavy" sz="2950" spc="-8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h</a:t>
            </a:r>
            <a:r>
              <a:rPr dirty="0" u="heavy" sz="2950" spc="-7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ttp</a:t>
            </a:r>
            <a:r>
              <a:rPr dirty="0" u="heavy" sz="2950" spc="-8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s:</a:t>
            </a:r>
            <a:r>
              <a:rPr dirty="0" u="heavy" sz="2950" spc="-484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/</a:t>
            </a:r>
            <a:r>
              <a:rPr dirty="0" u="heavy" sz="2950" spc="-25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/</a:t>
            </a:r>
            <a:r>
              <a:rPr dirty="0" u="heavy" sz="2950" spc="-7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ww</a:t>
            </a:r>
            <a:r>
              <a:rPr dirty="0" u="heavy" sz="2950" spc="-19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w</a:t>
            </a:r>
            <a:r>
              <a:rPr dirty="0" u="heavy" sz="2950" spc="-4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.</a:t>
            </a:r>
            <a:r>
              <a:rPr dirty="0" sz="2950" spc="-105">
                <a:solidFill>
                  <a:srgbClr val="2A2A2A"/>
                </a:solidFill>
                <a:latin typeface="Lucida Sans Unicode"/>
                <a:cs typeface="Lucida Sans Unicode"/>
                <a:hlinkClick r:id="rId5"/>
              </a:rPr>
              <a:t>g</a:t>
            </a:r>
            <a:r>
              <a:rPr dirty="0" u="heavy" sz="2950" spc="-7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ee</a:t>
            </a:r>
            <a:r>
              <a:rPr dirty="0" u="heavy" sz="2950" spc="-8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ks</a:t>
            </a:r>
            <a:r>
              <a:rPr dirty="0" u="heavy" sz="2950" spc="-9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f</a:t>
            </a:r>
            <a:r>
              <a:rPr dirty="0" u="heavy" sz="2950" spc="-7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o</a:t>
            </a:r>
            <a:r>
              <a:rPr dirty="0" u="heavy" sz="2950" spc="-12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r</a:t>
            </a:r>
            <a:r>
              <a:rPr dirty="0" sz="2950" spc="-105">
                <a:solidFill>
                  <a:srgbClr val="2A2A2A"/>
                </a:solidFill>
                <a:latin typeface="Lucida Sans Unicode"/>
                <a:cs typeface="Lucida Sans Unicode"/>
                <a:hlinkClick r:id="rId5"/>
              </a:rPr>
              <a:t>g</a:t>
            </a:r>
            <a:r>
              <a:rPr dirty="0" u="heavy" sz="2950" spc="-7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ee</a:t>
            </a:r>
            <a:r>
              <a:rPr dirty="0" u="heavy" sz="2950" spc="-8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k</a:t>
            </a:r>
            <a:r>
              <a:rPr dirty="0" u="heavy" sz="2950" spc="-114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s</a:t>
            </a:r>
            <a:r>
              <a:rPr dirty="0" u="heavy" sz="2950" spc="-16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.</a:t>
            </a:r>
            <a:r>
              <a:rPr dirty="0" u="heavy" sz="2950" spc="-7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o</a:t>
            </a:r>
            <a:r>
              <a:rPr dirty="0" u="heavy" sz="2950" spc="-12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r</a:t>
            </a:r>
            <a:r>
              <a:rPr dirty="0" u="heavy" sz="2950" spc="2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g</a:t>
            </a:r>
            <a:r>
              <a:rPr dirty="0" u="heavy" sz="2950" spc="-29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/</a:t>
            </a:r>
            <a:r>
              <a:rPr dirty="0" u="heavy" sz="2950" spc="-7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dee</a:t>
            </a:r>
            <a:r>
              <a:rPr dirty="0" u="heavy" sz="2950" spc="-5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p</a:t>
            </a:r>
            <a:r>
              <a:rPr dirty="0" u="heavy" sz="2950" spc="-8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-</a:t>
            </a:r>
            <a:r>
              <a:rPr dirty="0" u="heavy" sz="2950" spc="-9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learning/long-</a:t>
            </a:r>
            <a:r>
              <a:rPr dirty="0" u="heavy" sz="2950" spc="-10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short-term-</a:t>
            </a:r>
            <a:r>
              <a:rPr dirty="0" u="heavy" sz="2950" spc="-6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memory</a:t>
            </a:r>
            <a:r>
              <a:rPr dirty="0" u="heavy" sz="2950" spc="35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 </a:t>
            </a:r>
            <a:r>
              <a:rPr dirty="0" u="heavy" sz="2950" spc="-60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-</a:t>
            </a:r>
            <a:r>
              <a:rPr dirty="0" u="heavy" sz="2950" spc="-8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networks-</a:t>
            </a:r>
            <a:r>
              <a:rPr dirty="0" u="heavy" sz="2950" spc="-4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using-</a:t>
            </a:r>
            <a:r>
              <a:rPr dirty="0" sz="2950" spc="-4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u="heavy" sz="2950" spc="-17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py</a:t>
            </a:r>
            <a:r>
              <a:rPr dirty="0" u="heavy" sz="2950" spc="-14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 </a:t>
            </a:r>
            <a:r>
              <a:rPr dirty="0" u="heavy" sz="2950" spc="-1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5"/>
              </a:rPr>
              <a:t>torch/</a:t>
            </a:r>
            <a:endParaRPr sz="2950">
              <a:latin typeface="Lucida Sans Unicode"/>
              <a:cs typeface="Lucida Sans Unicode"/>
            </a:endParaRPr>
          </a:p>
          <a:p>
            <a:pPr algn="ctr" marL="3306445" marR="3298825">
              <a:lnSpc>
                <a:spcPct val="117100"/>
              </a:lnSpc>
            </a:pPr>
            <a:r>
              <a:rPr dirty="0" sz="2950" spc="-10">
                <a:solidFill>
                  <a:srgbClr val="2A2A2A"/>
                </a:solidFill>
                <a:latin typeface="Lucida Sans Unicode"/>
                <a:cs typeface="Lucida Sans Unicode"/>
              </a:rPr>
              <a:t>TensorFlow</a:t>
            </a:r>
            <a:r>
              <a:rPr dirty="0" sz="2950" spc="-14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>
                <a:solidFill>
                  <a:srgbClr val="2A2A2A"/>
                </a:solidFill>
                <a:latin typeface="Lucida Sans Unicode"/>
                <a:cs typeface="Lucida Sans Unicode"/>
              </a:rPr>
              <a:t>Documentation.</a:t>
            </a:r>
            <a:r>
              <a:rPr dirty="0" sz="2950" spc="-1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-10">
                <a:solidFill>
                  <a:srgbClr val="2A2A2A"/>
                </a:solidFill>
                <a:latin typeface="Lucida Sans Unicode"/>
                <a:cs typeface="Lucida Sans Unicode"/>
              </a:rPr>
              <a:t>Keras</a:t>
            </a:r>
            <a:r>
              <a:rPr dirty="0" sz="2950" spc="-1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100">
                <a:solidFill>
                  <a:srgbClr val="2A2A2A"/>
                </a:solidFill>
                <a:latin typeface="Lucida Sans Unicode"/>
                <a:cs typeface="Lucida Sans Unicode"/>
              </a:rPr>
              <a:t>API</a:t>
            </a:r>
            <a:r>
              <a:rPr dirty="0" sz="2950" spc="-1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-30">
                <a:solidFill>
                  <a:srgbClr val="2A2A2A"/>
                </a:solidFill>
                <a:latin typeface="Lucida Sans Unicode"/>
                <a:cs typeface="Lucida Sans Unicode"/>
              </a:rPr>
              <a:t>Guide.</a:t>
            </a:r>
            <a:r>
              <a:rPr dirty="0" sz="2950" spc="-1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>
                <a:solidFill>
                  <a:srgbClr val="2A2A2A"/>
                </a:solidFill>
                <a:latin typeface="Lucida Sans Unicode"/>
                <a:cs typeface="Lucida Sans Unicode"/>
              </a:rPr>
              <a:t>Available</a:t>
            </a:r>
            <a:r>
              <a:rPr dirty="0" sz="2950" spc="-14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-25">
                <a:solidFill>
                  <a:srgbClr val="2A2A2A"/>
                </a:solidFill>
                <a:latin typeface="Lucida Sans Unicode"/>
                <a:cs typeface="Lucida Sans Unicode"/>
              </a:rPr>
              <a:t>at: </a:t>
            </a:r>
            <a:r>
              <a:rPr dirty="0" u="heavy" sz="2950" spc="-3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6"/>
              </a:rPr>
              <a:t>h</a:t>
            </a:r>
            <a:r>
              <a:rPr dirty="0" u="heavy" sz="2950" spc="-2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6"/>
              </a:rPr>
              <a:t>ttp</a:t>
            </a:r>
            <a:r>
              <a:rPr dirty="0" u="heavy" sz="2950" spc="-2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6"/>
              </a:rPr>
              <a:t>s:</a:t>
            </a:r>
            <a:r>
              <a:rPr dirty="0" u="heavy" sz="2950" spc="-43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6"/>
              </a:rPr>
              <a:t>/</a:t>
            </a:r>
            <a:r>
              <a:rPr dirty="0" u="heavy" sz="2950" spc="-19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6"/>
              </a:rPr>
              <a:t>/</a:t>
            </a:r>
            <a:r>
              <a:rPr dirty="0" u="heavy" sz="2950" spc="-2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6"/>
              </a:rPr>
              <a:t>ww</a:t>
            </a:r>
            <a:r>
              <a:rPr dirty="0" u="heavy" sz="2950" spc="-13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6"/>
              </a:rPr>
              <a:t>w</a:t>
            </a:r>
            <a:r>
              <a:rPr dirty="0" u="heavy" sz="2950" spc="-13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6"/>
              </a:rPr>
              <a:t>.</a:t>
            </a:r>
            <a:r>
              <a:rPr dirty="0" u="heavy" sz="2950" spc="-3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6"/>
              </a:rPr>
              <a:t>t</a:t>
            </a:r>
            <a:r>
              <a:rPr dirty="0" u="heavy" sz="2950" spc="-2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6"/>
              </a:rPr>
              <a:t>en</a:t>
            </a:r>
            <a:r>
              <a:rPr dirty="0" u="heavy" sz="2950" spc="-2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6"/>
              </a:rPr>
              <a:t>s</a:t>
            </a:r>
            <a:r>
              <a:rPr dirty="0" u="heavy" sz="2950" spc="-2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6"/>
              </a:rPr>
              <a:t>orfl</a:t>
            </a:r>
            <a:r>
              <a:rPr dirty="0" u="heavy" sz="2950" spc="-3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6"/>
              </a:rPr>
              <a:t>o</a:t>
            </a:r>
            <a:r>
              <a:rPr dirty="0" u="heavy" sz="2950" spc="-13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6"/>
              </a:rPr>
              <a:t>w</a:t>
            </a:r>
            <a:r>
              <a:rPr dirty="0" u="heavy" sz="2950" spc="-11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6"/>
              </a:rPr>
              <a:t>.</a:t>
            </a:r>
            <a:r>
              <a:rPr dirty="0" u="heavy" sz="2950" spc="-2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6"/>
              </a:rPr>
              <a:t>o</a:t>
            </a:r>
            <a:r>
              <a:rPr dirty="0" u="heavy" sz="2950" spc="-6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6"/>
              </a:rPr>
              <a:t>r</a:t>
            </a:r>
            <a:r>
              <a:rPr dirty="0" u="heavy" sz="2950" spc="8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6"/>
              </a:rPr>
              <a:t>g</a:t>
            </a:r>
            <a:r>
              <a:rPr dirty="0" u="heavy" sz="2950" spc="-29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6"/>
              </a:rPr>
              <a:t>/</a:t>
            </a:r>
            <a:r>
              <a:rPr dirty="0" sz="2950" spc="-25">
                <a:solidFill>
                  <a:srgbClr val="2A2A2A"/>
                </a:solidFill>
                <a:latin typeface="Lucida Sans Unicode"/>
                <a:cs typeface="Lucida Sans Unicode"/>
                <a:hlinkClick r:id="rId6"/>
              </a:rPr>
              <a:t>g</a:t>
            </a:r>
            <a:r>
              <a:rPr dirty="0" u="heavy" sz="2950" spc="-2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6"/>
              </a:rPr>
              <a:t>ui</a:t>
            </a:r>
            <a:r>
              <a:rPr dirty="0" u="heavy" sz="2950" spc="-2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6"/>
              </a:rPr>
              <a:t>de</a:t>
            </a:r>
            <a:r>
              <a:rPr dirty="0" u="heavy" sz="2950" spc="-2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6"/>
              </a:rPr>
              <a:t>/</a:t>
            </a:r>
            <a:r>
              <a:rPr dirty="0" u="heavy" sz="2950" spc="-5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6"/>
              </a:rPr>
              <a:t>k</a:t>
            </a:r>
            <a:r>
              <a:rPr dirty="0" u="heavy" sz="2950" spc="-2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6"/>
              </a:rPr>
              <a:t>e</a:t>
            </a:r>
            <a:r>
              <a:rPr dirty="0" u="heavy" sz="2950" spc="-5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6"/>
              </a:rPr>
              <a:t>r</a:t>
            </a:r>
            <a:r>
              <a:rPr dirty="0" u="heavy" sz="2950" spc="-2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6"/>
              </a:rPr>
              <a:t>a</a:t>
            </a:r>
            <a:r>
              <a:rPr dirty="0" u="heavy" sz="2950" spc="-1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6"/>
              </a:rPr>
              <a:t>s</a:t>
            </a:r>
            <a:endParaRPr sz="2950">
              <a:latin typeface="Lucida Sans Unicode"/>
              <a:cs typeface="Lucida Sans Unicode"/>
            </a:endParaRPr>
          </a:p>
          <a:p>
            <a:pPr algn="ctr" marL="12065" marR="5080">
              <a:lnSpc>
                <a:spcPct val="117100"/>
              </a:lnSpc>
              <a:spcBef>
                <a:spcPts val="5"/>
              </a:spcBef>
            </a:pPr>
            <a:r>
              <a:rPr dirty="0" sz="2950" spc="-95">
                <a:solidFill>
                  <a:srgbClr val="2A2A2A"/>
                </a:solidFill>
                <a:latin typeface="Lucida Sans Unicode"/>
                <a:cs typeface="Lucida Sans Unicode"/>
              </a:rPr>
              <a:t>Scikit-</a:t>
            </a:r>
            <a:r>
              <a:rPr dirty="0" sz="2950">
                <a:solidFill>
                  <a:srgbClr val="2A2A2A"/>
                </a:solidFill>
                <a:latin typeface="Lucida Sans Unicode"/>
                <a:cs typeface="Lucida Sans Unicode"/>
              </a:rPr>
              <a:t>learn</a:t>
            </a:r>
            <a:r>
              <a:rPr dirty="0" sz="2950" spc="-114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>
                <a:solidFill>
                  <a:srgbClr val="2A2A2A"/>
                </a:solidFill>
                <a:latin typeface="Lucida Sans Unicode"/>
                <a:cs typeface="Lucida Sans Unicode"/>
              </a:rPr>
              <a:t>Documentation.</a:t>
            </a:r>
            <a:r>
              <a:rPr dirty="0" sz="2950" spc="-114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50">
                <a:solidFill>
                  <a:srgbClr val="2A2A2A"/>
                </a:solidFill>
                <a:latin typeface="Lucida Sans Unicode"/>
                <a:cs typeface="Lucida Sans Unicode"/>
              </a:rPr>
              <a:t>Data</a:t>
            </a:r>
            <a:r>
              <a:rPr dirty="0" sz="295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>
                <a:solidFill>
                  <a:srgbClr val="2A2A2A"/>
                </a:solidFill>
                <a:latin typeface="Lucida Sans Unicode"/>
                <a:cs typeface="Lucida Sans Unicode"/>
              </a:rPr>
              <a:t>Preprocessing</a:t>
            </a:r>
            <a:r>
              <a:rPr dirty="0" sz="2950" spc="-114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-110">
                <a:solidFill>
                  <a:srgbClr val="2A2A2A"/>
                </a:solidFill>
                <a:latin typeface="Lucida Sans Unicode"/>
                <a:cs typeface="Lucida Sans Unicode"/>
              </a:rPr>
              <a:t>&amp; </a:t>
            </a:r>
            <a:r>
              <a:rPr dirty="0" sz="2950" spc="50">
                <a:solidFill>
                  <a:srgbClr val="2A2A2A"/>
                </a:solidFill>
                <a:latin typeface="Lucida Sans Unicode"/>
                <a:cs typeface="Lucida Sans Unicode"/>
              </a:rPr>
              <a:t>Metrics</a:t>
            </a:r>
            <a:r>
              <a:rPr dirty="0" sz="2950" spc="-114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>
                <a:solidFill>
                  <a:srgbClr val="2A2A2A"/>
                </a:solidFill>
                <a:latin typeface="Lucida Sans Unicode"/>
                <a:cs typeface="Lucida Sans Unicode"/>
              </a:rPr>
              <a:t>Modules.</a:t>
            </a:r>
            <a:r>
              <a:rPr dirty="0" sz="2950" spc="-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>
                <a:solidFill>
                  <a:srgbClr val="2A2A2A"/>
                </a:solidFill>
                <a:latin typeface="Lucida Sans Unicode"/>
                <a:cs typeface="Lucida Sans Unicode"/>
              </a:rPr>
              <a:t>Available</a:t>
            </a:r>
            <a:r>
              <a:rPr dirty="0" sz="2950" spc="-114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-10">
                <a:solidFill>
                  <a:srgbClr val="2A2A2A"/>
                </a:solidFill>
                <a:latin typeface="Lucida Sans Unicode"/>
                <a:cs typeface="Lucida Sans Unicode"/>
              </a:rPr>
              <a:t>at:</a:t>
            </a:r>
            <a:r>
              <a:rPr dirty="0" sz="2950" spc="-114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u="heavy" sz="2950" spc="-8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7"/>
              </a:rPr>
              <a:t>https://scikit-</a:t>
            </a:r>
            <a:r>
              <a:rPr dirty="0" sz="2950" spc="-8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u="heavy" sz="2950" spc="-2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7"/>
              </a:rPr>
              <a:t>learn.org/stable/modules/preprocessing.html</a:t>
            </a:r>
            <a:endParaRPr sz="2950">
              <a:latin typeface="Lucida Sans Unicode"/>
              <a:cs typeface="Lucida Sans Unicode"/>
            </a:endParaRPr>
          </a:p>
          <a:p>
            <a:pPr algn="ctr" marL="238760" marR="231140">
              <a:lnSpc>
                <a:spcPct val="117100"/>
              </a:lnSpc>
            </a:pPr>
            <a:r>
              <a:rPr dirty="0" sz="2950">
                <a:solidFill>
                  <a:srgbClr val="2A2A2A"/>
                </a:solidFill>
                <a:latin typeface="Lucida Sans Unicode"/>
                <a:cs typeface="Lucida Sans Unicode"/>
              </a:rPr>
              <a:t>Matplotlib</a:t>
            </a:r>
            <a:r>
              <a:rPr dirty="0" sz="2950" spc="-10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2950" spc="-10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55">
                <a:solidFill>
                  <a:srgbClr val="2A2A2A"/>
                </a:solidFill>
                <a:latin typeface="Lucida Sans Unicode"/>
                <a:cs typeface="Lucida Sans Unicode"/>
              </a:rPr>
              <a:t>Seaborn</a:t>
            </a:r>
            <a:r>
              <a:rPr dirty="0" sz="2950" spc="-1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>
                <a:solidFill>
                  <a:srgbClr val="2A2A2A"/>
                </a:solidFill>
                <a:latin typeface="Lucida Sans Unicode"/>
                <a:cs typeface="Lucida Sans Unicode"/>
              </a:rPr>
              <a:t>Documentation.</a:t>
            </a:r>
            <a:r>
              <a:rPr dirty="0" sz="2950" spc="-10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50">
                <a:solidFill>
                  <a:srgbClr val="2A2A2A"/>
                </a:solidFill>
                <a:latin typeface="Lucida Sans Unicode"/>
                <a:cs typeface="Lucida Sans Unicode"/>
              </a:rPr>
              <a:t>Data</a:t>
            </a:r>
            <a:r>
              <a:rPr dirty="0" sz="2950" spc="-10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-30">
                <a:solidFill>
                  <a:srgbClr val="2A2A2A"/>
                </a:solidFill>
                <a:latin typeface="Lucida Sans Unicode"/>
                <a:cs typeface="Lucida Sans Unicode"/>
              </a:rPr>
              <a:t>Visualization</a:t>
            </a:r>
            <a:r>
              <a:rPr dirty="0" sz="2950" spc="-1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>
                <a:solidFill>
                  <a:srgbClr val="2A2A2A"/>
                </a:solidFill>
                <a:latin typeface="Lucida Sans Unicode"/>
                <a:cs typeface="Lucida Sans Unicode"/>
              </a:rPr>
              <a:t>Libraries</a:t>
            </a:r>
            <a:r>
              <a:rPr dirty="0" sz="2950" spc="-10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-20">
                <a:solidFill>
                  <a:srgbClr val="2A2A2A"/>
                </a:solidFill>
                <a:latin typeface="Lucida Sans Unicode"/>
                <a:cs typeface="Lucida Sans Unicode"/>
              </a:rPr>
              <a:t>in</a:t>
            </a:r>
            <a:r>
              <a:rPr dirty="0" sz="2950" spc="-10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65">
                <a:solidFill>
                  <a:srgbClr val="2A2A2A"/>
                </a:solidFill>
                <a:latin typeface="Lucida Sans Unicode"/>
                <a:cs typeface="Lucida Sans Unicode"/>
              </a:rPr>
              <a:t>Python.</a:t>
            </a:r>
            <a:r>
              <a:rPr dirty="0" sz="2950" spc="-1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>
                <a:solidFill>
                  <a:srgbClr val="2A2A2A"/>
                </a:solidFill>
                <a:latin typeface="Lucida Sans Unicode"/>
                <a:cs typeface="Lucida Sans Unicode"/>
              </a:rPr>
              <a:t>Available</a:t>
            </a:r>
            <a:r>
              <a:rPr dirty="0" sz="2950" spc="-10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-25">
                <a:solidFill>
                  <a:srgbClr val="2A2A2A"/>
                </a:solidFill>
                <a:latin typeface="Lucida Sans Unicode"/>
                <a:cs typeface="Lucida Sans Unicode"/>
              </a:rPr>
              <a:t>at: </a:t>
            </a:r>
            <a:r>
              <a:rPr dirty="0" u="heavy" sz="2950" spc="-3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8"/>
              </a:rPr>
              <a:t>h</a:t>
            </a:r>
            <a:r>
              <a:rPr dirty="0" u="heavy" sz="2950" spc="-2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8"/>
              </a:rPr>
              <a:t>ttp</a:t>
            </a:r>
            <a:r>
              <a:rPr dirty="0" u="heavy" sz="2950" spc="-3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8"/>
              </a:rPr>
              <a:t>s:</a:t>
            </a:r>
            <a:r>
              <a:rPr dirty="0" u="heavy" sz="2950" spc="-434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8"/>
              </a:rPr>
              <a:t>/</a:t>
            </a:r>
            <a:r>
              <a:rPr dirty="0" u="heavy" sz="2950" spc="-24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8"/>
              </a:rPr>
              <a:t>/</a:t>
            </a:r>
            <a:r>
              <a:rPr dirty="0" u="heavy" sz="2950" spc="-3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8"/>
              </a:rPr>
              <a:t>m</a:t>
            </a:r>
            <a:r>
              <a:rPr dirty="0" u="heavy" sz="2950" spc="-4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8"/>
              </a:rPr>
              <a:t>a</a:t>
            </a:r>
            <a:r>
              <a:rPr dirty="0" u="heavy" sz="2950" spc="-2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8"/>
              </a:rPr>
              <a:t>tplotl</a:t>
            </a:r>
            <a:r>
              <a:rPr dirty="0" u="heavy" sz="2950" spc="-3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8"/>
              </a:rPr>
              <a:t>i</a:t>
            </a:r>
            <a:r>
              <a:rPr dirty="0" u="heavy" sz="2950" spc="-9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8"/>
              </a:rPr>
              <a:t>b</a:t>
            </a:r>
            <a:r>
              <a:rPr dirty="0" u="heavy" sz="2950" spc="-114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8"/>
              </a:rPr>
              <a:t>.</a:t>
            </a:r>
            <a:r>
              <a:rPr dirty="0" u="heavy" sz="2950" spc="-2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8"/>
              </a:rPr>
              <a:t>o</a:t>
            </a:r>
            <a:r>
              <a:rPr dirty="0" u="heavy" sz="2950" spc="-7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8"/>
              </a:rPr>
              <a:t>r</a:t>
            </a:r>
            <a:r>
              <a:rPr dirty="0" u="heavy" sz="2950" spc="7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8"/>
              </a:rPr>
              <a:t>g</a:t>
            </a:r>
            <a:r>
              <a:rPr dirty="0" u="heavy" sz="2950" spc="-22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8"/>
              </a:rPr>
              <a:t>/</a:t>
            </a:r>
            <a:r>
              <a:rPr dirty="0" u="heavy" sz="2950" spc="-3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8"/>
              </a:rPr>
              <a:t>s</a:t>
            </a:r>
            <a:r>
              <a:rPr dirty="0" u="heavy" sz="2950" spc="-2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8"/>
              </a:rPr>
              <a:t>table</a:t>
            </a:r>
            <a:r>
              <a:rPr dirty="0" u="heavy" sz="2950" spc="-24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8"/>
              </a:rPr>
              <a:t>/</a:t>
            </a:r>
            <a:r>
              <a:rPr dirty="0" u="heavy" sz="2950" spc="-2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8"/>
              </a:rPr>
              <a:t>co</a:t>
            </a:r>
            <a:r>
              <a:rPr dirty="0" u="heavy" sz="2950" spc="-3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8"/>
              </a:rPr>
              <a:t>n</a:t>
            </a:r>
            <a:r>
              <a:rPr dirty="0" u="heavy" sz="2950" spc="-4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8"/>
              </a:rPr>
              <a:t>t</a:t>
            </a:r>
            <a:r>
              <a:rPr dirty="0" u="heavy" sz="2950" spc="-2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8"/>
              </a:rPr>
              <a:t>e</a:t>
            </a:r>
            <a:r>
              <a:rPr dirty="0" u="heavy" sz="2950" spc="-3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8"/>
              </a:rPr>
              <a:t>n</a:t>
            </a:r>
            <a:r>
              <a:rPr dirty="0" u="heavy" sz="2950" spc="-2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8"/>
              </a:rPr>
              <a:t>t</a:t>
            </a:r>
            <a:r>
              <a:rPr dirty="0" u="heavy" sz="2950" spc="-6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8"/>
              </a:rPr>
              <a:t>s</a:t>
            </a:r>
            <a:r>
              <a:rPr dirty="0" u="heavy" sz="2950" spc="-3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8"/>
              </a:rPr>
              <a:t>.</a:t>
            </a:r>
            <a:r>
              <a:rPr dirty="0" u="heavy" sz="2950" spc="-3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8"/>
              </a:rPr>
              <a:t>h</a:t>
            </a:r>
            <a:r>
              <a:rPr dirty="0" u="heavy" sz="2950" spc="-2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8"/>
              </a:rPr>
              <a:t>t</a:t>
            </a:r>
            <a:r>
              <a:rPr dirty="0" u="heavy" sz="2950" spc="-3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8"/>
              </a:rPr>
              <a:t>m</a:t>
            </a:r>
            <a:r>
              <a:rPr dirty="0" u="heavy" sz="2950" spc="-2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8"/>
              </a:rPr>
              <a:t>l</a:t>
            </a:r>
            <a:r>
              <a:rPr dirty="0" sz="2950" spc="-3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2950" spc="-3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u="heavy" sz="2950" spc="-9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9"/>
              </a:rPr>
              <a:t>https://seaborn.py</a:t>
            </a:r>
            <a:r>
              <a:rPr dirty="0" u="heavy" sz="2950" spc="-2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9"/>
              </a:rPr>
              <a:t> </a:t>
            </a:r>
            <a:r>
              <a:rPr dirty="0" u="heavy" sz="2950" spc="-1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9"/>
              </a:rPr>
              <a:t>data.org/</a:t>
            </a:r>
            <a:endParaRPr sz="2950">
              <a:latin typeface="Lucida Sans Unicode"/>
              <a:cs typeface="Lucida Sans Unicode"/>
            </a:endParaRPr>
          </a:p>
          <a:p>
            <a:pPr algn="ctr" marL="1319530" marR="1311910">
              <a:lnSpc>
                <a:spcPct val="117100"/>
              </a:lnSpc>
            </a:pPr>
            <a:r>
              <a:rPr dirty="0" sz="2950" spc="95">
                <a:solidFill>
                  <a:srgbClr val="2A2A2A"/>
                </a:solidFill>
                <a:latin typeface="Lucida Sans Unicode"/>
                <a:cs typeface="Lucida Sans Unicode"/>
              </a:rPr>
              <a:t>NumPy</a:t>
            </a:r>
            <a:r>
              <a:rPr dirty="0" sz="2950" spc="-7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>
                <a:solidFill>
                  <a:srgbClr val="2A2A2A"/>
                </a:solidFill>
                <a:latin typeface="Lucida Sans Unicode"/>
                <a:cs typeface="Lucida Sans Unicode"/>
              </a:rPr>
              <a:t>Documentation.</a:t>
            </a:r>
            <a:r>
              <a:rPr dirty="0" sz="2950" spc="-7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>
                <a:solidFill>
                  <a:srgbClr val="2A2A2A"/>
                </a:solidFill>
                <a:latin typeface="Lucida Sans Unicode"/>
                <a:cs typeface="Lucida Sans Unicode"/>
              </a:rPr>
              <a:t>Array</a:t>
            </a:r>
            <a:r>
              <a:rPr dirty="0" sz="2950" spc="-7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2950" spc="-7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>
                <a:solidFill>
                  <a:srgbClr val="2A2A2A"/>
                </a:solidFill>
                <a:latin typeface="Lucida Sans Unicode"/>
                <a:cs typeface="Lucida Sans Unicode"/>
              </a:rPr>
              <a:t>Numerical</a:t>
            </a:r>
            <a:r>
              <a:rPr dirty="0" sz="2950" spc="-7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>
                <a:solidFill>
                  <a:srgbClr val="2A2A2A"/>
                </a:solidFill>
                <a:latin typeface="Lucida Sans Unicode"/>
                <a:cs typeface="Lucida Sans Unicode"/>
              </a:rPr>
              <a:t>Computation</a:t>
            </a:r>
            <a:r>
              <a:rPr dirty="0" sz="2950" spc="-7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-20">
                <a:solidFill>
                  <a:srgbClr val="2A2A2A"/>
                </a:solidFill>
                <a:latin typeface="Lucida Sans Unicode"/>
                <a:cs typeface="Lucida Sans Unicode"/>
              </a:rPr>
              <a:t>Library.</a:t>
            </a:r>
            <a:r>
              <a:rPr dirty="0" sz="2950" spc="-7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>
                <a:solidFill>
                  <a:srgbClr val="2A2A2A"/>
                </a:solidFill>
                <a:latin typeface="Lucida Sans Unicode"/>
                <a:cs typeface="Lucida Sans Unicode"/>
              </a:rPr>
              <a:t>Available</a:t>
            </a:r>
            <a:r>
              <a:rPr dirty="0" sz="2950" spc="-7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-25">
                <a:solidFill>
                  <a:srgbClr val="2A2A2A"/>
                </a:solidFill>
                <a:latin typeface="Lucida Sans Unicode"/>
                <a:cs typeface="Lucida Sans Unicode"/>
              </a:rPr>
              <a:t>at: </a:t>
            </a:r>
            <a:r>
              <a:rPr dirty="0" u="heavy" sz="2950" spc="-13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10"/>
              </a:rPr>
              <a:t>https://numpy</a:t>
            </a:r>
            <a:r>
              <a:rPr dirty="0" u="heavy" sz="2950" spc="-28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10"/>
              </a:rPr>
              <a:t> </a:t>
            </a:r>
            <a:r>
              <a:rPr dirty="0" u="heavy" sz="2950" spc="-10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10"/>
              </a:rPr>
              <a:t>.org/doc/</a:t>
            </a:r>
            <a:endParaRPr sz="2950">
              <a:latin typeface="Lucida Sans Unicode"/>
              <a:cs typeface="Lucida Sans Unicode"/>
            </a:endParaRPr>
          </a:p>
          <a:p>
            <a:pPr algn="ctr" marL="1365250" marR="1357630">
              <a:lnSpc>
                <a:spcPct val="117100"/>
              </a:lnSpc>
            </a:pPr>
            <a:r>
              <a:rPr dirty="0" sz="2950" spc="45">
                <a:solidFill>
                  <a:srgbClr val="2A2A2A"/>
                </a:solidFill>
                <a:latin typeface="Lucida Sans Unicode"/>
                <a:cs typeface="Lucida Sans Unicode"/>
              </a:rPr>
              <a:t>Streamlit</a:t>
            </a:r>
            <a:r>
              <a:rPr dirty="0" sz="2950" spc="-13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>
                <a:solidFill>
                  <a:srgbClr val="2A2A2A"/>
                </a:solidFill>
                <a:latin typeface="Lucida Sans Unicode"/>
                <a:cs typeface="Lucida Sans Unicode"/>
              </a:rPr>
              <a:t>Documentation.</a:t>
            </a:r>
            <a:r>
              <a:rPr dirty="0" sz="295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50">
                <a:solidFill>
                  <a:srgbClr val="2A2A2A"/>
                </a:solidFill>
                <a:latin typeface="Lucida Sans Unicode"/>
                <a:cs typeface="Lucida Sans Unicode"/>
              </a:rPr>
              <a:t>Interactive</a:t>
            </a:r>
            <a:r>
              <a:rPr dirty="0" sz="2950" spc="-13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50">
                <a:solidFill>
                  <a:srgbClr val="2A2A2A"/>
                </a:solidFill>
                <a:latin typeface="Lucida Sans Unicode"/>
                <a:cs typeface="Lucida Sans Unicode"/>
              </a:rPr>
              <a:t>Data</a:t>
            </a:r>
            <a:r>
              <a:rPr dirty="0" sz="295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>
                <a:solidFill>
                  <a:srgbClr val="2A2A2A"/>
                </a:solidFill>
                <a:latin typeface="Lucida Sans Unicode"/>
                <a:cs typeface="Lucida Sans Unicode"/>
              </a:rPr>
              <a:t>Applications</a:t>
            </a:r>
            <a:r>
              <a:rPr dirty="0" sz="295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-20">
                <a:solidFill>
                  <a:srgbClr val="2A2A2A"/>
                </a:solidFill>
                <a:latin typeface="Lucida Sans Unicode"/>
                <a:cs typeface="Lucida Sans Unicode"/>
              </a:rPr>
              <a:t>in</a:t>
            </a:r>
            <a:r>
              <a:rPr dirty="0" sz="2950" spc="-13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65">
                <a:solidFill>
                  <a:srgbClr val="2A2A2A"/>
                </a:solidFill>
                <a:latin typeface="Lucida Sans Unicode"/>
                <a:cs typeface="Lucida Sans Unicode"/>
              </a:rPr>
              <a:t>Python.</a:t>
            </a:r>
            <a:r>
              <a:rPr dirty="0" sz="295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>
                <a:solidFill>
                  <a:srgbClr val="2A2A2A"/>
                </a:solidFill>
                <a:latin typeface="Lucida Sans Unicode"/>
                <a:cs typeface="Lucida Sans Unicode"/>
              </a:rPr>
              <a:t>Available</a:t>
            </a:r>
            <a:r>
              <a:rPr dirty="0" sz="2950" spc="-13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-25">
                <a:solidFill>
                  <a:srgbClr val="2A2A2A"/>
                </a:solidFill>
                <a:latin typeface="Lucida Sans Unicode"/>
                <a:cs typeface="Lucida Sans Unicode"/>
              </a:rPr>
              <a:t>at: </a:t>
            </a:r>
            <a:r>
              <a:rPr dirty="0" u="heavy" sz="2950" spc="-25">
                <a:solidFill>
                  <a:srgbClr val="2A2A2A"/>
                </a:solidFill>
                <a:uFill>
                  <a:solidFill>
                    <a:srgbClr val="2A2A2A"/>
                  </a:solidFill>
                </a:uFill>
                <a:latin typeface="Lucida Sans Unicode"/>
                <a:cs typeface="Lucida Sans Unicode"/>
                <a:hlinkClick r:id="rId11"/>
              </a:rPr>
              <a:t>https://docs.streamlit.io/</a:t>
            </a:r>
            <a:endParaRPr sz="29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00943" cy="771580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19451" y="4266288"/>
            <a:ext cx="4405630" cy="1092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0"/>
              <a:t>Thank</a:t>
            </a:r>
            <a:r>
              <a:rPr dirty="0" sz="7000" spc="-445"/>
              <a:t> </a:t>
            </a:r>
            <a:r>
              <a:rPr dirty="0" sz="7000" spc="-20"/>
              <a:t>you!</a:t>
            </a:r>
            <a:endParaRPr sz="7000"/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412066"/>
            <a:ext cx="18288000" cy="9875520"/>
            <a:chOff x="0" y="412066"/>
            <a:chExt cx="18288000" cy="987552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11931" y="6947323"/>
              <a:ext cx="6776067" cy="3339676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141061" y="2810705"/>
              <a:ext cx="3146937" cy="561022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12066"/>
              <a:ext cx="4689052" cy="834306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A2A2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Nandhini P</dc:creator>
  <cp:keywords>DAG3-jqoPdw,BAGT2Jggzf4,0</cp:keywords>
  <dc:title>Simple Presentation in Pink Lilac Pastel Blobs Basic Style</dc:title>
  <dcterms:created xsi:type="dcterms:W3CDTF">2025-11-09T04:17:28Z</dcterms:created>
  <dcterms:modified xsi:type="dcterms:W3CDTF">2025-11-09T04:17:28Z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2025-11-09T00:00:00Z</vt:filetime>
  </property>
  <property fmtid="{D5CDD505-2E9C-101B-9397-08002B2CF9AE}" pid="3" name="Creator">
    <vt:lpwstr>Canva</vt:lpwstr>
  </property>
  <property fmtid="{D5CDD505-2E9C-101B-9397-08002B2CF9AE}" pid="4" name="LastSaved">
    <vt:filetime>2025-11-09T00:00:00Z</vt:filetime>
  </property>
  <property fmtid="{D5CDD505-2E9C-101B-9397-08002B2CF9AE}" pid="5" name="Producer">
    <vt:lpwstr>Canva</vt:lpwstr>
  </property>
</Properties>
</file>